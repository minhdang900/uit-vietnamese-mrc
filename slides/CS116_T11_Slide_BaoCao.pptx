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0.8</c:v>
                </c:pt>
                <c:pt idx="1">
                  <c:v>27.8</c:v>
                </c:pt>
                <c:pt idx="2">
                  <c:v>40.6</c:v>
                </c:pt>
                <c:pt idx="3">
                  <c:v>50.8</c:v>
                </c:pt>
              </c:numCache>
            </c:numRef>
          </c:val>
        </c:ser>
        <c:ser>
          <c:idx val="1"/>
          <c:order val="1"/>
          <c:tx>
            <c:strRef>
              <c:f>Sheet1!$C$1</c:f>
              <c:strCache>
                <c:ptCount val="1"/>
                <c:pt idx="0">
                  <c:v>F1</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23.09</c:v>
                </c:pt>
                <c:pt idx="1">
                  <c:v>31.31</c:v>
                </c:pt>
                <c:pt idx="2">
                  <c:v>56.84</c:v>
                </c:pt>
                <c:pt idx="3">
                  <c:v>59.49</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answerable (tìm đúng span)</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1.11</c:v>
                </c:pt>
                <c:pt idx="1">
                  <c:v>6.93</c:v>
                </c:pt>
                <c:pt idx="2">
                  <c:v>45.71</c:v>
                </c:pt>
                <c:pt idx="3">
                  <c:v>54.57</c:v>
                </c:pt>
              </c:numCache>
            </c:numRef>
          </c:val>
        </c:ser>
        <c:ser>
          <c:idx val="1"/>
          <c:order val="1"/>
          <c:tx>
            <c:strRef>
              <c:f>Sheet1!$C$1</c:f>
              <c:strCache>
                <c:ptCount val="1"/>
                <c:pt idx="0">
                  <c:v>impossible (biết trả lời rỗng)</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0</c:v>
                </c:pt>
                <c:pt idx="1">
                  <c:v>82.01</c:v>
                </c:pt>
                <c:pt idx="2">
                  <c:v>27.34</c:v>
                </c:pt>
                <c:pt idx="3">
                  <c:v>41.01</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9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Chào thầy và các bạn. Nhóm em làm đề tài T11 — đọc hiểu và trả lời câu hỏi tiếng Việt. Trong 15 phút em sẽ đi qua: bài toán và dữ liệu, kiến trúc hệ thống, kết quả bốn mô hình, và ba điều mà bảng số nói ra còn con số tổng thì che mất.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[0:30–1:30] Nhấn mạnh chữ TRÍCH XUẤT. Mô hình không sinh chữ mới — nó chỉ ra vị trí đáp án nằm ở đâu trong đoạn văn. Điều đó cho ta một bất biến kiểm được bằng máy: kết quả trả về luôn phải là chuỗi con của context. Bọn em test bất biến này cho MỌI mô hình, và nó bắt được cả lỗi tokenizer lệch offset lẫn lỗi mô hình bịa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[1:30–2:45] Phát hiện đầu tiên, và nó đổi cả thiết kế đánh giá. Toàn bộ 7.301 câu trong split test có đáp án rỗng nhưng cờ is_impossible lại là False — hai điều này mâu thuẫn nhau. Nghĩa là đáp án bị lược bỏ để dùng cho leaderboard. Nếu chạy nhầm trên đó, một mô hình luôn trả rỗng sẽ đạt EM 100% và con số đó trông hoàn toàn hợp lý trong báo cáo. Bọn em chặn bằng một assertion chứ không bằng một đoạn văn hứa là đã cẩn thận. Hệ quả: mọi số cuối cùng đến từ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[2:45–3:45] Bốn hệ thống không phải bốn lần thử cho vui — mỗi cái trả lời một câu hỏi khoa học khác nhau. TF-IDF là sàn: nếu một mô hình phức tạp không vượt được nó thì mô hình đó vô nghĩa. XLM-R đo khả năng transfer từ tiếng Anh. mBERT đo phần fine-tune in-domain. ViSoBERT đo phần pretraining chuyên tiếng Việt. Quan trọng: bọn em ghi giả thuyết TRƯỚC khi chạy, và giả thuyết đó nói ViSoBERT phải thắng.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[3:45–5:15] Bốn tầng, và điều đáng nói là quy tắc phụ thuộc: một mũi tên, một chiều. src/mrc không biết demo tồn tại. src/demo không import Streamlit. app/ không chứa logic. Và tầng trình bày chỉ ĐỌC results — nó không bao giờ sinh ra con số nào. Hệ quả đo được của thiết kế này: chín trên mười hai module trong src/mrc không phụ thuộc torch, nên bộ test nhanh 423 test chạy trong khoảng một giây, không tải mô hình, không cần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[5:15–6:30] Điều làm đồ án này khác một bài tập thông thường không phải là bốn bất biến, mà là mỗi bất biến có một cơ chế thực thi BẰNG MÁY thay vì một đoạn văn trong báo cáo. Một quy trình có thể bị bỏ qua lúc gấp — đúng lúc nó cần nhất. Một raise thì không. Và bất biến thứ năm thì thậm chí do kernel bắt buộc: ba thư mục dữ liệu được mount read-only.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[6:30–7:45] Hai quyết định đáng nói. Thứ nhất: thư viện transformers phiên bản 5.17 chỉ sinh tối đa hai cửa sổ dù context dài bao nhiêu — bọn em đo được: 420, 700, 1400 token đều ra đúng 2 cửa sổ. Phần đuôi bị cắt âm thầm, nên đáp án nằm cuối đoạn văn thì không bao giờ tìm được. Bọn em tự cài lại. Thứ hai: đề tài nêu PhoBERT, nhưng PhoBERT không có fast tokenizer, nên không có offset_mapping, nên cách duy nhất lấy lại chuỗi là decode — và decode làm mất dấu tiếng Việt. Đây là ràng buộc kỹ thuật, không liên quan gì đến GPU. Nên bọn em đổi sang ViSoBERT, cũng là encoder tiếng Việt, của chính UIT NLP.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[7:45–8:45] Đây là bảng kết quả. mBERT fine-tuned thắng với EM 50,80 và F1 59,49. Baseline TF-IDF có F1 23% nhưng EM chỉ 0,8% — vì nó trả về CẢ MỘT CÂU trong khi gold là cụm vài từ: có overlap token, nhưng gần như không bao giờ trùng khít. Khoảng cách EM–F1 đó là bằng chứng trực quan rằng hai metric đo hai thứ khác nhau. Mọi con số ở đây đọc từ results, kèm commit hash và thiết bị. Nhưng bảng tổng này che mất ba điều — em sẽ bóc tách ở ba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[8:45–10:00] Đây là phát hiện em thích nhất. Nhìn bảng tổng thì mBERT thắng XLM-R 10 điểm EM, và ta dễ kết luận mBERT tìm span giỏi hơn. Sai. Bóc tách ra: trên câu CÓ đáp án, XLM-R zero-shot thực ra tốt hơn một chút — 68,20 so với 66,60 F1, dù chênh lệch đó nằm trong nhiễu. mBERT thắng vì nó biết khi nào KHÔNG nên trả lời: 41,01 so với 27,34 trên câu impossible, chênh gần 14 điểm và có ý nghĩa thống kê. Vì khoảng 30% câu là unanswerable, chính kỹ năng thứ hai quyết định bảng xếp hạng. Nếu chỉ báo cáo EM tổng thì cả kết luận này biến mất.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[10:00–11:00] ViSoBERT — mô hình THAY THẾ cho PhoBERT, vốn là mô hình mà giả thuyết ghi trước nói tới — đạt EM tổng 27,80. Con số đó bằng ĐÚNG tỉ lệ câu impossible của mẫu, 27,80%. Đó không phải trùng hợp: bóc tách ra thì impossible EM là 82 nhưng answerable EM chỉ 6,9 — nó gần như chỉ ăn điểm từ việc từ chối trả lời. Và dấu hiệu đã xuất hiện ngay từ epoch 1: val EM bằng đúng val F1. F1 cho điểm bán phần nên bình thường phải cao hơn EM vài điểm; khi hai metric trùng nhau thì mỗi câu chỉ có thể đúng hoàn toàn hoặc sai hoàn toàn. Bọn em có một hằng số trong code để tự phát hiện điều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[11:00–12:00] Khi rà lại toàn bộ bằng chứng để viết báo cáo, bọn em nhận ra bốn yếu tố dưới đây đã ĐỦ để giải thích sự suy sụp, mà không cần nói gì về chất lượng của ViSoBERT như một encoder. Yếu tố mạnh nhất: max_length để nguyên 384 và doc_stride 128 — đặt theo tokenizer của mBERT. Với tokenizer ViSoBERT thì 154 trên 557 đoạn văn vượt ngân sách, so với 16 của mBERT, gấp gần mười lần. Mỗi cửa sổ thêm vào là một cơ hội nữa để điểm rỗng thắng. Đây là chỗ dễ nói lẫn nhất, nên em nói rõ: max_answer_len thì bọn em ĐÃ bù, sửa 30 thành 64; trục chưa bù là max_length. Ba yếu tố còn lại: loss chưa hội tụ, sức chứa nhỏ hơn 45 phần trăm, và hố cực tiểu do 32 phần trăm câu impossible trong tập train. Vì vậy báo cáo KHÔNG kết luận rằng tiền huấn luyện tiếng Việt không giúp ích — câu hỏi đó vẫn để ngỏ, và phép kiểm trực tiếp là huấn luyện lại với max_length lớn hơn và learning rate thấp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[12:00–12:45] Kiến trúc tách hàm thuần trả về hai thứ cụ thể. Một: bộ test nhanh 423 test chạy trong khoảng một giây, không tải mô hình, không cần mạng — nên vòng lặp TDD thật sự dùng được. Hai: một ảnh Docker duy nhất cho cả test lẫn demo, nên không bao giờ có chuyện test xanh trên một bộ thư viện còn demo chạy trên bộ khác. Ảnh từ 10,2 GB xuống 2,48 GB sau khi phát hiện wheel aarch64 của torch cũng kéo theo 4 GB thư viện CUDA mà container này không bao giờ chạm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[12:45–13:45] Demo có sáu màn hình, mỗi màn hình một URL riêng để lúc thuyết trình mở thẳng được chỗ cần. Điều đáng nói về mặt kỹ thuật: demo không sinh ra con số nào. Mọi số trên màn hình đi qua đúng một module đọc file, kể cả thứ hạng tốt nhất và ô in đậm trong bảng so sánh — chúng được tính từ dữ liệu chứ không gõ tay. Nên nếu bọn em huấn luyện lại thì màn hình tự nói đúng, không phải sửa gì. [Nếu còn thời gian: chuyển sang demo thật, hỏi một câu answerable rồi một câu impossible, kéo thanh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[13:45–14:30] Năm giới hạn bọn em nói rõ, và em xếp hai cái quan trọng nhất lên đầu. Một: PhoBERT chưa từng được chạy, nên giả thuyết trung tâm của đề tài — encoder tiếng Việt có vượt mBERT không — vẫn CHƯA kiểm được, không phải bị bác bỏ. ViSoBERT là mô hình thay thế, không phải phép kiểm cho giả thuyết đó. Hai: ViSoBERT chưa được huấn luyện lại sau khi chẩn đoán, nên lời giải thích về max_length vẫn là giả thuyết phù hợp với bằng chứng chứ chưa phải nhân quả. Ba cái còn lại: đánh giá trên validation vì test là blind split; n=500 một seed, khoảng tin cậy khoảng ±4,3 điểm — chênh lệch F1 answerable giữa mBERT và XLM-R KHÔNG có ý nghĩa thống kê; và question_type là heuristic tự gán. Bốn mô hình đều chưa được huấn luyện đủ, mBERT rõ nhất: loss vẫn giảm ở epoch 2, nên 50,80 là cận dưới chứ không phải trần.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[14:30–15:00] Tóm lại: bốn mô hình so sánh được trên cùng một interface, mBERT fine-tuned đạt EM 50,80, bộ test 423 ca chạy trong một giây, và không con số nào trong báo cáo được gõ tay — tất cả đều truy vết được về một commit. Phát hiện chính: điểm tổng trộn hai kỹ năng, và bóc tách ra thì mBERT thắng nhờ biết từ chối chứ không nhờ tìm span giỏi hơn. Còn câu hỏi về encoder tiếng Việt thì bọn em để ngỏ một cách có chủ ý — PhoBERT chưa chạy, và lần huấn luyện ViSoBERT đã suy sụp vì một nguyên nhân cấu hình bọn em chưa bù trừ. Cảm ơn thầy và các bạn. Nhóm em sẵn sàng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B25"/>
        </a:solidFill>
      </p:bgPr>
    </p:bg>
    <p:spTree>
      <p:nvGrpSpPr>
        <p:cNvPr id="1" name=""/>
        <p:cNvGrpSpPr/>
        <p:nvPr/>
      </p:nvGrpSpPr>
      <p:grpSpPr>
        <a:xfrm>
          <a:off x="0" y="0"/>
          <a:ext cx="0" cy="0"/>
          <a:chOff x="0" y="0"/>
          <a:chExt cx="0" cy="0"/>
        </a:xfrm>
      </p:grpSpPr>
      <p:sp>
        <p:nvSpPr>
          <p:cNvPr id="2" name="Shape 0"/>
          <p:cNvSpPr/>
          <p:nvPr/>
        </p:nvSpPr>
        <p:spPr>
          <a:xfrm>
            <a:off x="8138160" y="1051560"/>
            <a:ext cx="3383280" cy="3749040"/>
          </a:xfrm>
          <a:prstGeom prst="roundRect">
            <a:avLst>
              <a:gd name="adj" fmla="val 5405"/>
            </a:avLst>
          </a:prstGeom>
          <a:solidFill>
            <a:srgbClr val="3B362E"/>
          </a:solidFill>
          <a:ln w="12700">
            <a:solidFill>
              <a:srgbClr val="3B362E"/>
            </a:solidFill>
            <a:prstDash val="solid"/>
          </a:ln>
        </p:spPr>
      </p:sp>
      <p:sp>
        <p:nvSpPr>
          <p:cNvPr id="3" name="Text 1"/>
          <p:cNvSpPr txBox="1"/>
          <p:nvPr/>
        </p:nvSpPr>
        <p:spPr>
          <a:xfrm>
            <a:off x="685800" y="1143000"/>
            <a:ext cx="6949440"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CS116 · ĐỀ TÀI T11 · UIT, ĐHQG-HCM</a:t>
            </a:r>
            <a:endParaRPr lang="en-US" sz="1200" dirty="0"/>
          </a:p>
        </p:txBody>
      </p:sp>
      <p:sp>
        <p:nvSpPr>
          <p:cNvPr id="4" name="Text 2"/>
          <p:cNvSpPr txBox="1"/>
          <p:nvPr/>
        </p:nvSpPr>
        <p:spPr>
          <a:xfrm>
            <a:off x="685800" y="1600200"/>
            <a:ext cx="7040880" cy="1828800"/>
          </a:xfrm>
          <a:prstGeom prst="rect">
            <a:avLst/>
          </a:prstGeom>
          <a:noFill/>
          <a:ln/>
        </p:spPr>
        <p:txBody>
          <a:bodyPr wrap="square" lIns="0" tIns="0" rIns="0" bIns="0" rtlCol="0" anchor="ctr"/>
          <a:lstStyle/>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Hệ thống đọc hiểu</a:t>
            </a:r>
            <a:endParaRPr lang="en-US" sz="4400" dirty="0"/>
          </a:p>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và trả lời câu hỏi tiếng Việt</a:t>
            </a:r>
            <a:endParaRPr lang="en-US" sz="4400" dirty="0"/>
          </a:p>
        </p:txBody>
      </p:sp>
      <p:sp>
        <p:nvSpPr>
          <p:cNvPr id="5" name="Text 3"/>
          <p:cNvSpPr txBox="1"/>
          <p:nvPr/>
        </p:nvSpPr>
        <p:spPr>
          <a:xfrm>
            <a:off x="685800" y="3520440"/>
            <a:ext cx="7040880" cy="822960"/>
          </a:xfrm>
          <a:prstGeom prst="rect">
            <a:avLst/>
          </a:prstGeom>
          <a:noFill/>
          <a:ln/>
        </p:spPr>
        <p:txBody>
          <a:bodyPr wrap="square" lIns="0" tIns="0" rIns="0" bIns="0" rtlCol="0" anchor="ctr"/>
          <a:lstStyle/>
          <a:p>
            <a:pPr indent="0" marL="0">
              <a:lnSpc>
                <a:spcPts val="2400"/>
              </a:lnSpc>
              <a:buNone/>
            </a:pPr>
            <a:r>
              <a:rPr lang="en-US" sz="1500" dirty="0">
                <a:solidFill>
                  <a:srgbClr val="A19786"/>
                </a:solidFill>
                <a:latin typeface="Nunito" pitchFamily="34" charset="0"/>
                <a:ea typeface="Nunito" pitchFamily="34" charset="-122"/>
                <a:cs typeface="Nunito" pitchFamily="34" charset="-120"/>
              </a:rPr>
              <a:t>Vietnamese Extractive Machine Reading Comprehension</a:t>
            </a:r>
            <a:endParaRPr lang="en-US" sz="1500" dirty="0"/>
          </a:p>
          <a:p>
            <a:pPr indent="0" marL="0">
              <a:lnSpc>
                <a:spcPts val="2400"/>
              </a:lnSpc>
              <a:buNone/>
            </a:pPr>
            <a:r>
              <a:rPr lang="en-US" sz="1500" dirty="0">
                <a:solidFill>
                  <a:srgbClr val="A19786"/>
                </a:solidFill>
                <a:latin typeface="Nunito" pitchFamily="34" charset="0"/>
                <a:ea typeface="Nunito" pitchFamily="34" charset="-122"/>
                <a:cs typeface="Nunito" pitchFamily="34" charset="-120"/>
              </a:rPr>
              <a:t>trên UIT-ViQuAD 2.0</a:t>
            </a:r>
            <a:endParaRPr lang="en-US" sz="1500" dirty="0"/>
          </a:p>
        </p:txBody>
      </p:sp>
      <p:sp>
        <p:nvSpPr>
          <p:cNvPr id="6" name="Text 4"/>
          <p:cNvSpPr txBox="1"/>
          <p:nvPr/>
        </p:nvSpPr>
        <p:spPr>
          <a:xfrm>
            <a:off x="685800" y="4434840"/>
            <a:ext cx="7040880" cy="320040"/>
          </a:xfrm>
          <a:prstGeom prst="rect">
            <a:avLst/>
          </a:prstGeom>
          <a:noFill/>
          <a:ln/>
        </p:spPr>
        <p:txBody>
          <a:bodyPr wrap="square" lIns="0" tIns="0" rIns="0" bIns="0" rtlCol="0" anchor="ctr"/>
          <a:lstStyle/>
          <a:p>
            <a:pPr indent="0" marL="0">
              <a:buNone/>
            </a:pPr>
            <a:r>
              <a:rPr lang="en-US" sz="1250" i="1" dirty="0">
                <a:solidFill>
                  <a:srgbClr val="C67139"/>
                </a:solidFill>
                <a:latin typeface="Nunito" pitchFamily="34" charset="0"/>
                <a:ea typeface="Nunito" pitchFamily="34" charset="-122"/>
                <a:cs typeface="Nunito" pitchFamily="34" charset="-120"/>
              </a:rPr>
              <a:t>Bốn mô hình · 500 câu kiểm định · mọi con số sinh từ một lần chạy thật</a:t>
            </a:r>
            <a:endParaRPr lang="en-US" sz="1250" dirty="0"/>
          </a:p>
        </p:txBody>
      </p:sp>
      <p:sp>
        <p:nvSpPr>
          <p:cNvPr id="7" name="Text 5"/>
          <p:cNvSpPr txBox="1"/>
          <p:nvPr/>
        </p:nvSpPr>
        <p:spPr>
          <a:xfrm>
            <a:off x="8458200" y="1371600"/>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7</a:t>
            </a:r>
            <a:endParaRPr lang="en-US" sz="950" dirty="0"/>
          </a:p>
        </p:txBody>
      </p:sp>
      <p:sp>
        <p:nvSpPr>
          <p:cNvPr id="8" name="Text 6"/>
          <p:cNvSpPr txBox="1"/>
          <p:nvPr/>
        </p:nvSpPr>
        <p:spPr>
          <a:xfrm>
            <a:off x="8458200" y="1755648"/>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Lê Quang Thi</a:t>
            </a:r>
            <a:endParaRPr lang="en-US" sz="1250" dirty="0"/>
          </a:p>
        </p:txBody>
      </p:sp>
      <p:sp>
        <p:nvSpPr>
          <p:cNvPr id="9" name="Text 7"/>
          <p:cNvSpPr txBox="1"/>
          <p:nvPr/>
        </p:nvSpPr>
        <p:spPr>
          <a:xfrm>
            <a:off x="8458200" y="1956816"/>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25210337</a:t>
            </a:r>
            <a:endParaRPr lang="en-US" sz="1050" dirty="0"/>
          </a:p>
        </p:txBody>
      </p:sp>
      <p:sp>
        <p:nvSpPr>
          <p:cNvPr id="10" name="Text 8"/>
          <p:cNvSpPr txBox="1"/>
          <p:nvPr/>
        </p:nvSpPr>
        <p:spPr>
          <a:xfrm>
            <a:off x="8458200" y="2231136"/>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Trần Trọng Tấn</a:t>
            </a:r>
            <a:endParaRPr lang="en-US" sz="1250" dirty="0"/>
          </a:p>
        </p:txBody>
      </p:sp>
      <p:sp>
        <p:nvSpPr>
          <p:cNvPr id="11" name="Text 9"/>
          <p:cNvSpPr txBox="1"/>
          <p:nvPr/>
        </p:nvSpPr>
        <p:spPr>
          <a:xfrm>
            <a:off x="8458200" y="2432304"/>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25210334</a:t>
            </a:r>
            <a:endParaRPr lang="en-US" sz="1050" dirty="0"/>
          </a:p>
        </p:txBody>
      </p:sp>
      <p:sp>
        <p:nvSpPr>
          <p:cNvPr id="12" name="Text 10"/>
          <p:cNvSpPr txBox="1"/>
          <p:nvPr/>
        </p:nvSpPr>
        <p:spPr>
          <a:xfrm>
            <a:off x="8458200" y="2706624"/>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Nguyễn Quang Lâm</a:t>
            </a:r>
            <a:endParaRPr lang="en-US" sz="1250" dirty="0"/>
          </a:p>
        </p:txBody>
      </p:sp>
      <p:sp>
        <p:nvSpPr>
          <p:cNvPr id="13" name="Text 11"/>
          <p:cNvSpPr txBox="1"/>
          <p:nvPr/>
        </p:nvSpPr>
        <p:spPr>
          <a:xfrm>
            <a:off x="8458200" y="2907792"/>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25210289</a:t>
            </a:r>
            <a:endParaRPr lang="en-US" sz="1050" dirty="0"/>
          </a:p>
        </p:txBody>
      </p:sp>
      <p:sp>
        <p:nvSpPr>
          <p:cNvPr id="14" name="Text 12"/>
          <p:cNvSpPr txBox="1"/>
          <p:nvPr/>
        </p:nvSpPr>
        <p:spPr>
          <a:xfrm>
            <a:off x="8458200" y="3182112"/>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Vỏ Cẩm Thu</a:t>
            </a:r>
            <a:endParaRPr lang="en-US" sz="1250" dirty="0"/>
          </a:p>
        </p:txBody>
      </p:sp>
      <p:sp>
        <p:nvSpPr>
          <p:cNvPr id="15" name="Text 13"/>
          <p:cNvSpPr txBox="1"/>
          <p:nvPr/>
        </p:nvSpPr>
        <p:spPr>
          <a:xfrm>
            <a:off x="8458200" y="3383280"/>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25210342</a:t>
            </a:r>
            <a:endParaRPr lang="en-US" sz="1050" dirty="0"/>
          </a:p>
        </p:txBody>
      </p:sp>
      <p:sp>
        <p:nvSpPr>
          <p:cNvPr id="16" name="Shape 14"/>
          <p:cNvSpPr/>
          <p:nvPr/>
        </p:nvSpPr>
        <p:spPr>
          <a:xfrm>
            <a:off x="8458200" y="3794760"/>
            <a:ext cx="2743200" cy="0"/>
          </a:xfrm>
          <a:prstGeom prst="line">
            <a:avLst/>
          </a:prstGeom>
          <a:noFill/>
          <a:ln w="12700">
            <a:solidFill>
              <a:srgbClr val="554E44"/>
            </a:solidFill>
            <a:prstDash val="solid"/>
          </a:ln>
        </p:spPr>
      </p:sp>
      <p:sp>
        <p:nvSpPr>
          <p:cNvPr id="17" name="Text 15"/>
          <p:cNvSpPr txBox="1"/>
          <p:nvPr/>
        </p:nvSpPr>
        <p:spPr>
          <a:xfrm>
            <a:off x="8458200" y="3950208"/>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GVHD</a:t>
            </a:r>
            <a:endParaRPr lang="en-US" sz="950" dirty="0"/>
          </a:p>
        </p:txBody>
      </p:sp>
      <p:sp>
        <p:nvSpPr>
          <p:cNvPr id="18" name="Text 16"/>
          <p:cNvSpPr txBox="1"/>
          <p:nvPr/>
        </p:nvSpPr>
        <p:spPr>
          <a:xfrm>
            <a:off x="8458200" y="4206240"/>
            <a:ext cx="2743200" cy="274320"/>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ThS. Nguyễn Hữu Quyền</a:t>
            </a:r>
            <a:endParaRPr lang="en-US" sz="1250" dirty="0"/>
          </a:p>
        </p:txBody>
      </p:sp>
      <p:sp>
        <p:nvSpPr>
          <p:cNvPr id="19" name="Text 17"/>
          <p:cNvSpPr txBox="1"/>
          <p:nvPr/>
        </p:nvSpPr>
        <p:spPr>
          <a:xfrm>
            <a:off x="685800" y="5029200"/>
            <a:ext cx="36576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LỘ TRÌNH 15 PHÚT</a:t>
            </a:r>
            <a:endParaRPr lang="en-US" sz="950" dirty="0"/>
          </a:p>
        </p:txBody>
      </p:sp>
      <p:sp>
        <p:nvSpPr>
          <p:cNvPr id="20" name="Shape 18"/>
          <p:cNvSpPr/>
          <p:nvPr/>
        </p:nvSpPr>
        <p:spPr>
          <a:xfrm>
            <a:off x="685800" y="5321808"/>
            <a:ext cx="1691640" cy="420624"/>
          </a:xfrm>
          <a:prstGeom prst="roundRect">
            <a:avLst>
              <a:gd name="adj" fmla="val 47826"/>
            </a:avLst>
          </a:prstGeom>
          <a:solidFill>
            <a:srgbClr val="3B362E"/>
          </a:solidFill>
          <a:ln w="12700">
            <a:solidFill>
              <a:srgbClr val="3B362E"/>
            </a:solidFill>
            <a:prstDash val="solid"/>
          </a:ln>
        </p:spPr>
      </p:sp>
      <p:sp>
        <p:nvSpPr>
          <p:cNvPr id="21" name="Text 19"/>
          <p:cNvSpPr txBox="1"/>
          <p:nvPr/>
        </p:nvSpPr>
        <p:spPr>
          <a:xfrm>
            <a:off x="685800" y="5321808"/>
            <a:ext cx="1691640" cy="420624"/>
          </a:xfrm>
          <a:prstGeom prst="rect">
            <a:avLst/>
          </a:prstGeom>
          <a:noFill/>
          <a:ln/>
        </p:spPr>
        <p:txBody>
          <a:bodyPr wrap="square" lIns="0" tIns="0" rIns="0" bIns="0" rtlCol="0" anchor="ctr"/>
          <a:lstStyle/>
          <a:p>
            <a:pPr algn="ctr" indent="0" marL="0">
              <a:buNone/>
            </a:pPr>
            <a:r>
              <a:rPr lang="en-US" sz="1200" b="1" dirty="0">
                <a:solidFill>
                  <a:srgbClr val="A19786"/>
                </a:solidFill>
                <a:latin typeface="Nunito" pitchFamily="34" charset="0"/>
                <a:ea typeface="Nunito" pitchFamily="34" charset="-122"/>
                <a:cs typeface="Nunito" pitchFamily="34" charset="-120"/>
              </a:rPr>
              <a:t>Bài toán</a:t>
            </a:r>
            <a:endParaRPr lang="en-US" sz="1200" dirty="0"/>
          </a:p>
        </p:txBody>
      </p:sp>
      <p:sp>
        <p:nvSpPr>
          <p:cNvPr id="22" name="Shape 20"/>
          <p:cNvSpPr/>
          <p:nvPr/>
        </p:nvSpPr>
        <p:spPr>
          <a:xfrm>
            <a:off x="2505456" y="5321808"/>
            <a:ext cx="1691640" cy="420624"/>
          </a:xfrm>
          <a:prstGeom prst="roundRect">
            <a:avLst>
              <a:gd name="adj" fmla="val 47826"/>
            </a:avLst>
          </a:prstGeom>
          <a:solidFill>
            <a:srgbClr val="3B362E"/>
          </a:solidFill>
          <a:ln w="12700">
            <a:solidFill>
              <a:srgbClr val="3B362E"/>
            </a:solidFill>
            <a:prstDash val="solid"/>
          </a:ln>
        </p:spPr>
      </p:sp>
      <p:sp>
        <p:nvSpPr>
          <p:cNvPr id="23" name="Text 21"/>
          <p:cNvSpPr txBox="1"/>
          <p:nvPr/>
        </p:nvSpPr>
        <p:spPr>
          <a:xfrm>
            <a:off x="2505456" y="5321808"/>
            <a:ext cx="1691640" cy="420624"/>
          </a:xfrm>
          <a:prstGeom prst="rect">
            <a:avLst/>
          </a:prstGeom>
          <a:noFill/>
          <a:ln/>
        </p:spPr>
        <p:txBody>
          <a:bodyPr wrap="square" lIns="0" tIns="0" rIns="0" bIns="0" rtlCol="0" anchor="ctr"/>
          <a:lstStyle/>
          <a:p>
            <a:pPr algn="ctr" indent="0" marL="0">
              <a:buNone/>
            </a:pPr>
            <a:r>
              <a:rPr lang="en-US" sz="1200" b="1" dirty="0">
                <a:solidFill>
                  <a:srgbClr val="A19786"/>
                </a:solidFill>
                <a:latin typeface="Nunito" pitchFamily="34" charset="0"/>
                <a:ea typeface="Nunito" pitchFamily="34" charset="-122"/>
                <a:cs typeface="Nunito" pitchFamily="34" charset="-120"/>
              </a:rPr>
              <a:t>Dữ liệu</a:t>
            </a:r>
            <a:endParaRPr lang="en-US" sz="1200" dirty="0"/>
          </a:p>
        </p:txBody>
      </p:sp>
      <p:sp>
        <p:nvSpPr>
          <p:cNvPr id="24" name="Shape 22"/>
          <p:cNvSpPr/>
          <p:nvPr/>
        </p:nvSpPr>
        <p:spPr>
          <a:xfrm>
            <a:off x="4325112" y="5321808"/>
            <a:ext cx="1691640" cy="420624"/>
          </a:xfrm>
          <a:prstGeom prst="roundRect">
            <a:avLst>
              <a:gd name="adj" fmla="val 47826"/>
            </a:avLst>
          </a:prstGeom>
          <a:solidFill>
            <a:srgbClr val="3B362E"/>
          </a:solidFill>
          <a:ln w="12700">
            <a:solidFill>
              <a:srgbClr val="3B362E"/>
            </a:solidFill>
            <a:prstDash val="solid"/>
          </a:ln>
        </p:spPr>
      </p:sp>
      <p:sp>
        <p:nvSpPr>
          <p:cNvPr id="25" name="Text 23"/>
          <p:cNvSpPr txBox="1"/>
          <p:nvPr/>
        </p:nvSpPr>
        <p:spPr>
          <a:xfrm>
            <a:off x="4325112" y="5321808"/>
            <a:ext cx="1691640" cy="420624"/>
          </a:xfrm>
          <a:prstGeom prst="rect">
            <a:avLst/>
          </a:prstGeom>
          <a:noFill/>
          <a:ln/>
        </p:spPr>
        <p:txBody>
          <a:bodyPr wrap="square" lIns="0" tIns="0" rIns="0" bIns="0" rtlCol="0" anchor="ctr"/>
          <a:lstStyle/>
          <a:p>
            <a:pPr algn="ctr" indent="0" marL="0">
              <a:buNone/>
            </a:pPr>
            <a:r>
              <a:rPr lang="en-US" sz="1200" b="1" dirty="0">
                <a:solidFill>
                  <a:srgbClr val="A19786"/>
                </a:solidFill>
                <a:latin typeface="Nunito" pitchFamily="34" charset="0"/>
                <a:ea typeface="Nunito" pitchFamily="34" charset="-122"/>
                <a:cs typeface="Nunito" pitchFamily="34" charset="-120"/>
              </a:rPr>
              <a:t>Kiến trúc</a:t>
            </a:r>
            <a:endParaRPr lang="en-US" sz="1200" dirty="0"/>
          </a:p>
        </p:txBody>
      </p:sp>
      <p:sp>
        <p:nvSpPr>
          <p:cNvPr id="26" name="Shape 24"/>
          <p:cNvSpPr/>
          <p:nvPr/>
        </p:nvSpPr>
        <p:spPr>
          <a:xfrm>
            <a:off x="6144768" y="5321808"/>
            <a:ext cx="1691640" cy="420624"/>
          </a:xfrm>
          <a:prstGeom prst="roundRect">
            <a:avLst>
              <a:gd name="adj" fmla="val 47826"/>
            </a:avLst>
          </a:prstGeom>
          <a:solidFill>
            <a:srgbClr val="3B362E"/>
          </a:solidFill>
          <a:ln w="12700">
            <a:solidFill>
              <a:srgbClr val="3B362E"/>
            </a:solidFill>
            <a:prstDash val="solid"/>
          </a:ln>
        </p:spPr>
      </p:sp>
      <p:sp>
        <p:nvSpPr>
          <p:cNvPr id="27" name="Text 25"/>
          <p:cNvSpPr txBox="1"/>
          <p:nvPr/>
        </p:nvSpPr>
        <p:spPr>
          <a:xfrm>
            <a:off x="6144768" y="5321808"/>
            <a:ext cx="1691640" cy="420624"/>
          </a:xfrm>
          <a:prstGeom prst="rect">
            <a:avLst/>
          </a:prstGeom>
          <a:noFill/>
          <a:ln/>
        </p:spPr>
        <p:txBody>
          <a:bodyPr wrap="square" lIns="0" tIns="0" rIns="0" bIns="0" rtlCol="0" anchor="ctr"/>
          <a:lstStyle/>
          <a:p>
            <a:pPr algn="ctr" indent="0" marL="0">
              <a:buNone/>
            </a:pPr>
            <a:r>
              <a:rPr lang="en-US" sz="1200" b="1" dirty="0">
                <a:solidFill>
                  <a:srgbClr val="A19786"/>
                </a:solidFill>
                <a:latin typeface="Nunito" pitchFamily="34" charset="0"/>
                <a:ea typeface="Nunito" pitchFamily="34" charset="-122"/>
                <a:cs typeface="Nunito" pitchFamily="34" charset="-120"/>
              </a:rPr>
              <a:t>Kết quả</a:t>
            </a:r>
            <a:endParaRPr lang="en-US" sz="1200" dirty="0"/>
          </a:p>
        </p:txBody>
      </p:sp>
      <p:sp>
        <p:nvSpPr>
          <p:cNvPr id="28" name="Shape 26"/>
          <p:cNvSpPr/>
          <p:nvPr/>
        </p:nvSpPr>
        <p:spPr>
          <a:xfrm>
            <a:off x="7964424" y="5321808"/>
            <a:ext cx="1691640" cy="420624"/>
          </a:xfrm>
          <a:prstGeom prst="roundRect">
            <a:avLst>
              <a:gd name="adj" fmla="val 47826"/>
            </a:avLst>
          </a:prstGeom>
          <a:solidFill>
            <a:srgbClr val="3B362E"/>
          </a:solidFill>
          <a:ln w="12700">
            <a:solidFill>
              <a:srgbClr val="3B362E"/>
            </a:solidFill>
            <a:prstDash val="solid"/>
          </a:ln>
        </p:spPr>
      </p:sp>
      <p:sp>
        <p:nvSpPr>
          <p:cNvPr id="29" name="Text 27"/>
          <p:cNvSpPr txBox="1"/>
          <p:nvPr/>
        </p:nvSpPr>
        <p:spPr>
          <a:xfrm>
            <a:off x="7964424" y="5321808"/>
            <a:ext cx="1691640" cy="420624"/>
          </a:xfrm>
          <a:prstGeom prst="rect">
            <a:avLst/>
          </a:prstGeom>
          <a:noFill/>
          <a:ln/>
        </p:spPr>
        <p:txBody>
          <a:bodyPr wrap="square" lIns="0" tIns="0" rIns="0" bIns="0" rtlCol="0" anchor="ctr"/>
          <a:lstStyle/>
          <a:p>
            <a:pPr algn="ctr" indent="0" marL="0">
              <a:buNone/>
            </a:pPr>
            <a:r>
              <a:rPr lang="en-US" sz="1200" b="1" dirty="0">
                <a:solidFill>
                  <a:srgbClr val="A19786"/>
                </a:solidFill>
                <a:latin typeface="Nunito" pitchFamily="34" charset="0"/>
                <a:ea typeface="Nunito" pitchFamily="34" charset="-122"/>
                <a:cs typeface="Nunito" pitchFamily="34" charset="-120"/>
              </a:rPr>
              <a:t>Ba phát hiện</a:t>
            </a:r>
            <a:endParaRPr lang="en-US" sz="1200" dirty="0"/>
          </a:p>
        </p:txBody>
      </p:sp>
      <p:sp>
        <p:nvSpPr>
          <p:cNvPr id="30" name="Shape 28"/>
          <p:cNvSpPr/>
          <p:nvPr/>
        </p:nvSpPr>
        <p:spPr>
          <a:xfrm>
            <a:off x="9784080" y="5321808"/>
            <a:ext cx="1691640" cy="420624"/>
          </a:xfrm>
          <a:prstGeom prst="roundRect">
            <a:avLst>
              <a:gd name="adj" fmla="val 47826"/>
            </a:avLst>
          </a:prstGeom>
          <a:solidFill>
            <a:srgbClr val="3B362E"/>
          </a:solidFill>
          <a:ln w="12700">
            <a:solidFill>
              <a:srgbClr val="3B362E"/>
            </a:solidFill>
            <a:prstDash val="solid"/>
          </a:ln>
        </p:spPr>
      </p:sp>
      <p:sp>
        <p:nvSpPr>
          <p:cNvPr id="31" name="Text 29"/>
          <p:cNvSpPr txBox="1"/>
          <p:nvPr/>
        </p:nvSpPr>
        <p:spPr>
          <a:xfrm>
            <a:off x="9784080" y="5321808"/>
            <a:ext cx="1691640" cy="420624"/>
          </a:xfrm>
          <a:prstGeom prst="rect">
            <a:avLst/>
          </a:prstGeom>
          <a:noFill/>
          <a:ln/>
        </p:spPr>
        <p:txBody>
          <a:bodyPr wrap="square" lIns="0" tIns="0" rIns="0" bIns="0" rtlCol="0" anchor="ctr"/>
          <a:lstStyle/>
          <a:p>
            <a:pPr algn="ctr" indent="0" marL="0">
              <a:buNone/>
            </a:pPr>
            <a:r>
              <a:rPr lang="en-US" sz="1200" b="1" dirty="0">
                <a:solidFill>
                  <a:srgbClr val="A19786"/>
                </a:solidFill>
                <a:latin typeface="Nunito" pitchFamily="34" charset="0"/>
                <a:ea typeface="Nunito" pitchFamily="34" charset="-122"/>
                <a:cs typeface="Nunito" pitchFamily="34" charset="-120"/>
              </a:rPr>
              <a:t>Demo</a:t>
            </a:r>
            <a:endParaRPr lang="en-US" sz="1200" dirty="0"/>
          </a:p>
        </p:txBody>
      </p:sp>
      <p:sp>
        <p:nvSpPr>
          <p:cNvPr id="32" name="Text 3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TP. Hồ Chí Minh · tháng 9 năm 2026</a:t>
            </a:r>
            <a:endParaRPr lang="en-US" sz="1000" dirty="0"/>
          </a:p>
        </p:txBody>
      </p:sp>
      <p:sp>
        <p:nvSpPr>
          <p:cNvPr id="33" name="Text 3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BÀI TOÁN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Trích xuất, không phải sinh</a:t>
            </a:r>
            <a:endParaRPr lang="en-US" sz="3400" dirty="0"/>
          </a:p>
        </p:txBody>
      </p:sp>
      <p:sp>
        <p:nvSpPr>
          <p:cNvPr id="4" name="Shape 2"/>
          <p:cNvSpPr/>
          <p:nvPr/>
        </p:nvSpPr>
        <p:spPr>
          <a:xfrm>
            <a:off x="685800" y="1691640"/>
            <a:ext cx="5943600" cy="2926080"/>
          </a:xfrm>
          <a:prstGeom prst="roundRect">
            <a:avLst>
              <a:gd name="adj" fmla="val 5000"/>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920240"/>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ĐOẠN VĂN (CONTEXT)</a:t>
            </a:r>
            <a:endParaRPr lang="en-US" sz="950" dirty="0"/>
          </a:p>
        </p:txBody>
      </p:sp>
      <p:sp>
        <p:nvSpPr>
          <p:cNvPr id="6" name="Text 4"/>
          <p:cNvSpPr txBox="1"/>
          <p:nvPr/>
        </p:nvSpPr>
        <p:spPr>
          <a:xfrm>
            <a:off x="960120" y="2212848"/>
            <a:ext cx="5394960" cy="914400"/>
          </a:xfrm>
          <a:prstGeom prst="rect">
            <a:avLst/>
          </a:prstGeom>
          <a:noFill/>
          <a:ln/>
        </p:spPr>
        <p:txBody>
          <a:bodyPr wrap="square" lIns="0" tIns="0" rIns="0" bIns="0" rtlCol="0" anchor="ctr"/>
          <a:lstStyle/>
          <a:p>
            <a:pPr indent="0" marL="0">
              <a:lnSpc>
                <a:spcPts val="2000"/>
              </a:lnSpc>
              <a:buNone/>
            </a:pPr>
            <a:r>
              <a:rPr lang="en-US" sz="1350" dirty="0">
                <a:solidFill>
                  <a:srgbClr val="201E1D"/>
                </a:solidFill>
                <a:latin typeface="Nunito" pitchFamily="34" charset="0"/>
                <a:ea typeface="Nunito" pitchFamily="34" charset="-122"/>
                <a:cs typeface="Nunito" pitchFamily="34" charset="-120"/>
              </a:rPr>
              <a:t>Hà Nội là thủ đô của nước Cộng hoà Xã hội chủ nghĩa Việt Nam. Hà Nội được UNESCO công nhận là Thành phố vì hoà bình vào </a:t>
            </a:r>
            <a:pPr indent="0" marL="0">
              <a:lnSpc>
                <a:spcPts val="2000"/>
              </a:lnSpc>
              <a:buNone/>
            </a:pPr>
            <a:r>
              <a:rPr lang="en-US" sz="1350" b="1" dirty="0">
                <a:solidFill>
                  <a:srgbClr val="8C491A"/>
                </a:solidFill>
                <a:highlight>
                  <a:srgbClr val="FFF2EB"/>
                </a:highlight>
                <a:latin typeface="Nunito" pitchFamily="34" charset="0"/>
                <a:ea typeface="Nunito" pitchFamily="34" charset="-122"/>
                <a:cs typeface="Nunito" pitchFamily="34" charset="-120"/>
              </a:rPr>
              <a:t>năm 1999</a:t>
            </a:r>
            <a:pPr indent="0" marL="0">
              <a:lnSpc>
                <a:spcPts val="2000"/>
              </a:lnSpc>
              <a:buNone/>
            </a:pPr>
            <a:r>
              <a:rPr lang="en-US" sz="1350" dirty="0">
                <a:solidFill>
                  <a:srgbClr val="201E1D"/>
                </a:solidFill>
                <a:latin typeface="Nunito" pitchFamily="34" charset="0"/>
                <a:ea typeface="Nunito" pitchFamily="34" charset="-122"/>
                <a:cs typeface="Nunito" pitchFamily="34" charset="-120"/>
              </a:rPr>
              <a:t>.</a:t>
            </a:r>
            <a:endParaRPr lang="en-US" sz="1350" dirty="0"/>
          </a:p>
        </p:txBody>
      </p:sp>
      <p:sp>
        <p:nvSpPr>
          <p:cNvPr id="7" name="Text 5"/>
          <p:cNvSpPr txBox="1"/>
          <p:nvPr/>
        </p:nvSpPr>
        <p:spPr>
          <a:xfrm>
            <a:off x="960120" y="3246120"/>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CÂU HỎI</a:t>
            </a:r>
            <a:endParaRPr lang="en-US" sz="950" dirty="0"/>
          </a:p>
        </p:txBody>
      </p:sp>
      <p:sp>
        <p:nvSpPr>
          <p:cNvPr id="8" name="Text 6"/>
          <p:cNvSpPr txBox="1"/>
          <p:nvPr/>
        </p:nvSpPr>
        <p:spPr>
          <a:xfrm>
            <a:off x="960120" y="3502152"/>
            <a:ext cx="5394960" cy="274320"/>
          </a:xfrm>
          <a:prstGeom prst="rect">
            <a:avLst/>
          </a:prstGeom>
          <a:noFill/>
          <a:ln/>
        </p:spPr>
        <p:txBody>
          <a:bodyPr wrap="square" lIns="0" tIns="0" rIns="0" bIns="0" rtlCol="0" anchor="ctr"/>
          <a:lstStyle/>
          <a:p>
            <a:pPr indent="0" marL="0">
              <a:buNone/>
            </a:pPr>
            <a:r>
              <a:rPr lang="en-US" sz="1350" dirty="0">
                <a:solidFill>
                  <a:srgbClr val="201E1D"/>
                </a:solidFill>
                <a:latin typeface="Nunito" pitchFamily="34" charset="0"/>
                <a:ea typeface="Nunito" pitchFamily="34" charset="-122"/>
                <a:cs typeface="Nunito" pitchFamily="34" charset="-120"/>
              </a:rPr>
              <a:t>Hà Nội được UNESCO công nhận vào năm nào?</a:t>
            </a:r>
            <a:endParaRPr lang="en-US" sz="1350" dirty="0"/>
          </a:p>
        </p:txBody>
      </p:sp>
      <p:sp>
        <p:nvSpPr>
          <p:cNvPr id="9" name="Shape 7"/>
          <p:cNvSpPr/>
          <p:nvPr/>
        </p:nvSpPr>
        <p:spPr>
          <a:xfrm>
            <a:off x="960120" y="3886200"/>
            <a:ext cx="2286000" cy="457200"/>
          </a:xfrm>
          <a:prstGeom prst="roundRect">
            <a:avLst>
              <a:gd name="adj" fmla="val 48000"/>
            </a:avLst>
          </a:prstGeom>
          <a:solidFill>
            <a:srgbClr val="F0FAE1"/>
          </a:solidFill>
          <a:ln w="12700">
            <a:solidFill>
              <a:srgbClr val="F0FAE1"/>
            </a:solidFill>
            <a:prstDash val="solid"/>
          </a:ln>
        </p:spPr>
      </p:sp>
      <p:sp>
        <p:nvSpPr>
          <p:cNvPr id="10" name="Text 8"/>
          <p:cNvSpPr txBox="1"/>
          <p:nvPr/>
        </p:nvSpPr>
        <p:spPr>
          <a:xfrm>
            <a:off x="1097280" y="3886200"/>
            <a:ext cx="2103120" cy="457200"/>
          </a:xfrm>
          <a:prstGeom prst="rect">
            <a:avLst/>
          </a:prstGeom>
          <a:noFill/>
          <a:ln/>
        </p:spPr>
        <p:txBody>
          <a:bodyPr wrap="square" lIns="0" tIns="0" rIns="0" bIns="0" rtlCol="0" anchor="ctr"/>
          <a:lstStyle/>
          <a:p>
            <a:pPr indent="0" marL="0">
              <a:buNone/>
            </a:pPr>
            <a:r>
              <a:rPr lang="en-US" sz="1350" b="1" dirty="0">
                <a:solidFill>
                  <a:srgbClr val="3D472B"/>
                </a:solidFill>
                <a:latin typeface="Nunito" pitchFamily="34" charset="0"/>
                <a:ea typeface="Nunito" pitchFamily="34" charset="-122"/>
                <a:cs typeface="Nunito" pitchFamily="34" charset="-120"/>
              </a:rPr>
              <a:t>Đáp án:  </a:t>
            </a:r>
            <a:pPr indent="0" marL="0">
              <a:buNone/>
            </a:pPr>
            <a:r>
              <a:rPr lang="en-US" sz="1350" dirty="0">
                <a:solidFill>
                  <a:srgbClr val="3D472B"/>
                </a:solidFill>
                <a:latin typeface="Nunito" pitchFamily="34" charset="0"/>
                <a:ea typeface="Nunito" pitchFamily="34" charset="-122"/>
                <a:cs typeface="Nunito" pitchFamily="34" charset="-120"/>
              </a:rPr>
              <a:t>năm 1999</a:t>
            </a:r>
            <a:endParaRPr lang="en-US" sz="1350" dirty="0"/>
          </a:p>
        </p:txBody>
      </p:sp>
      <p:sp>
        <p:nvSpPr>
          <p:cNvPr id="11" name="Shape 9"/>
          <p:cNvSpPr/>
          <p:nvPr/>
        </p:nvSpPr>
        <p:spPr>
          <a:xfrm>
            <a:off x="6949440" y="1691640"/>
            <a:ext cx="4553712" cy="2926080"/>
          </a:xfrm>
          <a:prstGeom prst="roundRect">
            <a:avLst>
              <a:gd name="adj" fmla="val 500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12" name="Text 10"/>
          <p:cNvSpPr txBox="1"/>
          <p:nvPr/>
        </p:nvSpPr>
        <p:spPr>
          <a:xfrm>
            <a:off x="7223760" y="1965960"/>
            <a:ext cx="4023360" cy="1005840"/>
          </a:xfrm>
          <a:prstGeom prst="rect">
            <a:avLst/>
          </a:prstGeom>
          <a:noFill/>
          <a:ln/>
        </p:spPr>
        <p:txBody>
          <a:bodyPr wrap="square" lIns="0" tIns="0" rIns="0" bIns="0" rtlCol="0" anchor="t"/>
          <a:lstStyle/>
          <a:p>
            <a:pPr algn="l" indent="0" marL="0">
              <a:lnSpc>
                <a:spcPts val="3190"/>
              </a:lnSpc>
              <a:buNone/>
            </a:pPr>
            <a:r>
              <a:rPr lang="en-US" sz="2200" b="1" dirty="0">
                <a:solidFill>
                  <a:srgbClr val="8C491A"/>
                </a:solidFill>
                <a:latin typeface="Nunito" pitchFamily="34" charset="0"/>
                <a:ea typeface="Nunito" pitchFamily="34" charset="-122"/>
                <a:cs typeface="Nunito" pitchFamily="34" charset="-120"/>
              </a:rPr>
              <a:t>Mô hình không sinh chữ mới.</a:t>
            </a:r>
            <a:endParaRPr lang="en-US" sz="2200" dirty="0"/>
          </a:p>
          <a:p>
            <a:pPr algn="l" indent="0" marL="0">
              <a:lnSpc>
                <a:spcPts val="3190"/>
              </a:lnSpc>
              <a:buNone/>
            </a:pPr>
            <a:r>
              <a:rPr lang="en-US" sz="2200" b="1" dirty="0">
                <a:solidFill>
                  <a:srgbClr val="8C491A"/>
                </a:solidFill>
                <a:latin typeface="Nunito" pitchFamily="34" charset="0"/>
                <a:ea typeface="Nunito" pitchFamily="34" charset="-122"/>
                <a:cs typeface="Nunito" pitchFamily="34" charset="-120"/>
              </a:rPr>
              <a:t>Nó chỉ ra vị trí.</a:t>
            </a:r>
            <a:endParaRPr lang="en-US" sz="2200" dirty="0"/>
          </a:p>
        </p:txBody>
      </p:sp>
      <p:sp>
        <p:nvSpPr>
          <p:cNvPr id="13" name="Text 11"/>
          <p:cNvSpPr txBox="1"/>
          <p:nvPr/>
        </p:nvSpPr>
        <p:spPr>
          <a:xfrm>
            <a:off x="7223760" y="3017520"/>
            <a:ext cx="4023360" cy="548640"/>
          </a:xfrm>
          <a:prstGeom prst="rect">
            <a:avLst/>
          </a:prstGeom>
          <a:noFill/>
          <a:ln/>
        </p:spPr>
        <p:txBody>
          <a:bodyPr wrap="square" lIns="0" tIns="0" rIns="0" bIns="0" rtlCol="0" anchor="t"/>
          <a:lstStyle/>
          <a:p>
            <a:pPr algn="l" indent="0" marL="0">
              <a:lnSpc>
                <a:spcPts val="1885"/>
              </a:lnSpc>
              <a:buNone/>
            </a:pPr>
            <a:r>
              <a:rPr lang="en-US" sz="1300" dirty="0">
                <a:solidFill>
                  <a:srgbClr val="8C491A"/>
                </a:solidFill>
                <a:latin typeface="Nunito" pitchFamily="34" charset="0"/>
                <a:ea typeface="Nunito" pitchFamily="34" charset="-122"/>
                <a:cs typeface="Nunito" pitchFamily="34" charset="-120"/>
              </a:rPr>
              <a:t>Vì đáp án luôn nằm trong context, ta có một bất biến kiểm được bằng máy:</a:t>
            </a:r>
            <a:endParaRPr lang="en-US" sz="1300" dirty="0"/>
          </a:p>
        </p:txBody>
      </p:sp>
      <p:sp>
        <p:nvSpPr>
          <p:cNvPr id="14" name="Text 12"/>
          <p:cNvSpPr txBox="1"/>
          <p:nvPr/>
        </p:nvSpPr>
        <p:spPr>
          <a:xfrm>
            <a:off x="7223760" y="3703320"/>
            <a:ext cx="4023360" cy="411480"/>
          </a:xfrm>
          <a:prstGeom prst="rect">
            <a:avLst/>
          </a:prstGeom>
          <a:noFill/>
          <a:ln/>
        </p:spPr>
        <p:txBody>
          <a:bodyPr wrap="square" lIns="0" tIns="0" rIns="0" bIns="0" rtlCol="0" anchor="ctr"/>
          <a:lstStyle/>
          <a:p>
            <a:pPr indent="0" marL="0">
              <a:buNone/>
            </a:pPr>
            <a:r>
              <a:rPr lang="en-US" sz="1500" b="1" dirty="0">
                <a:solidFill>
                  <a:srgbClr val="8C491A"/>
                </a:solidFill>
                <a:latin typeface="Courier New" pitchFamily="34" charset="0"/>
                <a:ea typeface="Courier New" pitchFamily="34" charset="-122"/>
                <a:cs typeface="Courier New" pitchFamily="34" charset="-120"/>
              </a:rPr>
              <a:t>predict(ctx, q)  ⊂  ctx</a:t>
            </a:r>
            <a:endParaRPr lang="en-US" sz="1500" dirty="0"/>
          </a:p>
        </p:txBody>
      </p:sp>
      <p:sp>
        <p:nvSpPr>
          <p:cNvPr id="15" name="Text 13"/>
          <p:cNvSpPr txBox="1"/>
          <p:nvPr/>
        </p:nvSpPr>
        <p:spPr>
          <a:xfrm>
            <a:off x="7223760" y="4114800"/>
            <a:ext cx="4023360" cy="274320"/>
          </a:xfrm>
          <a:prstGeom prst="rect">
            <a:avLst/>
          </a:prstGeom>
          <a:noFill/>
          <a:ln/>
        </p:spPr>
        <p:txBody>
          <a:bodyPr wrap="square" lIns="0" tIns="0" rIns="0" bIns="0" rtlCol="0" anchor="t"/>
          <a:lstStyle/>
          <a:p>
            <a:pPr algn="l" indent="0" marL="0">
              <a:lnSpc>
                <a:spcPts val="1740"/>
              </a:lnSpc>
              <a:buNone/>
            </a:pPr>
            <a:r>
              <a:rPr lang="en-US" sz="1200" i="1" dirty="0">
                <a:solidFill>
                  <a:srgbClr val="8C491A"/>
                </a:solidFill>
                <a:latin typeface="Nunito" pitchFamily="34" charset="0"/>
                <a:ea typeface="Nunito" pitchFamily="34" charset="-122"/>
                <a:cs typeface="Nunito" pitchFamily="34" charset="-120"/>
              </a:rPr>
              <a:t>và nó được kiểm thử cho mọi mô hình.</a:t>
            </a:r>
            <a:endParaRPr lang="en-US" sz="1200" dirty="0"/>
          </a:p>
        </p:txBody>
      </p:sp>
      <p:sp>
        <p:nvSpPr>
          <p:cNvPr id="16" name="Text 14"/>
          <p:cNvSpPr txBox="1"/>
          <p:nvPr/>
        </p:nvSpPr>
        <p:spPr>
          <a:xfrm>
            <a:off x="685800" y="4937760"/>
            <a:ext cx="26517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DATASET</a:t>
            </a:r>
            <a:endParaRPr lang="en-US" sz="950" dirty="0"/>
          </a:p>
        </p:txBody>
      </p:sp>
      <p:sp>
        <p:nvSpPr>
          <p:cNvPr id="17" name="Text 15"/>
          <p:cNvSpPr txBox="1"/>
          <p:nvPr/>
        </p:nvSpPr>
        <p:spPr>
          <a:xfrm>
            <a:off x="685800" y="5193792"/>
            <a:ext cx="2651760" cy="320040"/>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UIT-ViQuAD 2.0</a:t>
            </a:r>
            <a:endParaRPr lang="en-US" sz="1500" dirty="0"/>
          </a:p>
        </p:txBody>
      </p:sp>
      <p:sp>
        <p:nvSpPr>
          <p:cNvPr id="18" name="Text 16"/>
          <p:cNvSpPr txBox="1"/>
          <p:nvPr/>
        </p:nvSpPr>
        <p:spPr>
          <a:xfrm>
            <a:off x="3447288" y="4937760"/>
            <a:ext cx="26517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ĐỊNH DẠNG</a:t>
            </a:r>
            <a:endParaRPr lang="en-US" sz="950" dirty="0"/>
          </a:p>
        </p:txBody>
      </p:sp>
      <p:sp>
        <p:nvSpPr>
          <p:cNvPr id="19" name="Text 17"/>
          <p:cNvSpPr txBox="1"/>
          <p:nvPr/>
        </p:nvSpPr>
        <p:spPr>
          <a:xfrm>
            <a:off x="3447288" y="5193792"/>
            <a:ext cx="2651760" cy="320040"/>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SQuAD-2.0</a:t>
            </a:r>
            <a:endParaRPr lang="en-US" sz="1500" dirty="0"/>
          </a:p>
        </p:txBody>
      </p:sp>
      <p:sp>
        <p:nvSpPr>
          <p:cNvPr id="20" name="Text 18"/>
          <p:cNvSpPr txBox="1"/>
          <p:nvPr/>
        </p:nvSpPr>
        <p:spPr>
          <a:xfrm>
            <a:off x="6208776" y="4937760"/>
            <a:ext cx="26517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METRIC</a:t>
            </a:r>
            <a:endParaRPr lang="en-US" sz="950" dirty="0"/>
          </a:p>
        </p:txBody>
      </p:sp>
      <p:sp>
        <p:nvSpPr>
          <p:cNvPr id="21" name="Text 19"/>
          <p:cNvSpPr txBox="1"/>
          <p:nvPr/>
        </p:nvSpPr>
        <p:spPr>
          <a:xfrm>
            <a:off x="6208776" y="5193792"/>
            <a:ext cx="2651760" cy="320040"/>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Exact Match + token-F1</a:t>
            </a:r>
            <a:endParaRPr lang="en-US" sz="1500" dirty="0"/>
          </a:p>
        </p:txBody>
      </p:sp>
      <p:sp>
        <p:nvSpPr>
          <p:cNvPr id="22" name="Text 20"/>
          <p:cNvSpPr txBox="1"/>
          <p:nvPr/>
        </p:nvSpPr>
        <p:spPr>
          <a:xfrm>
            <a:off x="8970264" y="4937760"/>
            <a:ext cx="26517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ĐẦU RA</a:t>
            </a:r>
            <a:endParaRPr lang="en-US" sz="950" dirty="0"/>
          </a:p>
        </p:txBody>
      </p:sp>
      <p:sp>
        <p:nvSpPr>
          <p:cNvPr id="23" name="Text 21"/>
          <p:cNvSpPr txBox="1"/>
          <p:nvPr/>
        </p:nvSpPr>
        <p:spPr>
          <a:xfrm>
            <a:off x="8970264" y="5193792"/>
            <a:ext cx="2651760" cy="320040"/>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(start_char, end_char)</a:t>
            </a:r>
            <a:endParaRPr lang="en-US" sz="1500" dirty="0"/>
          </a:p>
        </p:txBody>
      </p:sp>
      <p:sp>
        <p:nvSpPr>
          <p:cNvPr id="24" name="Text 2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Bài toán · Extractive MRC</a:t>
            </a:r>
            <a:endParaRPr lang="en-US" sz="1000" dirty="0"/>
          </a:p>
        </p:txBody>
      </p:sp>
      <p:sp>
        <p:nvSpPr>
          <p:cNvPr id="25" name="Text 2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DỮ LIỆU · PHÁT HIỆN 1</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Tập test là blind set — không chấm được</a:t>
            </a:r>
            <a:endParaRPr lang="en-US" sz="3400" dirty="0"/>
          </a:p>
        </p:txBody>
      </p:sp>
      <p:sp>
        <p:nvSpPr>
          <p:cNvPr id="4" name="Shape 2"/>
          <p:cNvSpPr/>
          <p:nvPr/>
        </p:nvSpPr>
        <p:spPr>
          <a:xfrm>
            <a:off x="685800" y="1691640"/>
            <a:ext cx="6309360" cy="2514600"/>
          </a:xfrm>
          <a:prstGeom prst="roundRect">
            <a:avLst>
              <a:gd name="adj" fmla="val 581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901952"/>
            <a:ext cx="576072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ĐO TRỰC TIẾP TỪ FILE TẢI VỀ</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960120" y="2212848"/>
          <a:ext cx="5760720" cy="914400"/>
        </p:xfrm>
        <a:graphic>
          <a:graphicData uri="http://schemas.openxmlformats.org/drawingml/2006/table">
            <a:tbl>
              <a:tblPr/>
              <a:tblGrid>
                <a:gridCol w="1298448"/>
                <a:gridCol w="841248"/>
                <a:gridCol w="804672"/>
                <a:gridCol w="758952"/>
                <a:gridCol w="960120"/>
                <a:gridCol w="1097280"/>
              </a:tblGrid>
              <a:tr h="365760">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SPLIT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CÂU HỎI</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ARTICLE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IMPOSSIBLE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CHẤM ĐƯỢC</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65760">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train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4.101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138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9.216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65760">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validation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557</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19</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1.161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65760">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test</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7.301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1.241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Shape 4"/>
          <p:cNvSpPr/>
          <p:nvPr/>
        </p:nvSpPr>
        <p:spPr>
          <a:xfrm>
            <a:off x="7223760" y="1691640"/>
            <a:ext cx="4279392" cy="2514600"/>
          </a:xfrm>
          <a:prstGeom prst="roundRect">
            <a:avLst>
              <a:gd name="adj" fmla="val 5818"/>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8" name="Text 5"/>
          <p:cNvSpPr txBox="1"/>
          <p:nvPr/>
        </p:nvSpPr>
        <p:spPr>
          <a:xfrm>
            <a:off x="7498080" y="1920240"/>
            <a:ext cx="3749040" cy="73152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7.301 câu test đều có gold rỗng, đồng thời is_impossible = False.</a:t>
            </a:r>
            <a:endParaRPr lang="en-US" sz="1400" dirty="0"/>
          </a:p>
        </p:txBody>
      </p:sp>
      <p:sp>
        <p:nvSpPr>
          <p:cNvPr id="9" name="Text 6"/>
          <p:cNvSpPr txBox="1"/>
          <p:nvPr/>
        </p:nvSpPr>
        <p:spPr>
          <a:xfrm>
            <a:off x="7498080" y="2697480"/>
            <a:ext cx="3749040" cy="822960"/>
          </a:xfrm>
          <a:prstGeom prst="rect">
            <a:avLst/>
          </a:prstGeom>
          <a:noFill/>
          <a:ln/>
        </p:spPr>
        <p:txBody>
          <a:bodyPr wrap="square" lIns="0" tIns="0" rIns="0" bIns="0" rtlCol="0" anchor="t"/>
          <a:lstStyle/>
          <a:p>
            <a:pPr algn="l" indent="0" marL="0">
              <a:lnSpc>
                <a:spcPts val="1813"/>
              </a:lnSpc>
              <a:buNone/>
            </a:pPr>
            <a:r>
              <a:rPr lang="en-US" sz="1250" dirty="0">
                <a:solidFill>
                  <a:srgbClr val="8C491A"/>
                </a:solidFill>
                <a:latin typeface="Nunito" pitchFamily="34" charset="0"/>
                <a:ea typeface="Nunito" pitchFamily="34" charset="-122"/>
                <a:cs typeface="Nunito" pitchFamily="34" charset="-120"/>
              </a:rPr>
              <a:t>Hai điều đó mâu thuẫn nhau nếu coi là nhãn thật ⇒ đáp án đã bị lược bỏ để dùng cho leaderboard.</a:t>
            </a:r>
            <a:endParaRPr lang="en-US" sz="1250" dirty="0"/>
          </a:p>
        </p:txBody>
      </p:sp>
      <p:sp>
        <p:nvSpPr>
          <p:cNvPr id="10" name="Text 7"/>
          <p:cNvSpPr txBox="1"/>
          <p:nvPr/>
        </p:nvSpPr>
        <p:spPr>
          <a:xfrm>
            <a:off x="7498080" y="3611880"/>
            <a:ext cx="3749040" cy="320040"/>
          </a:xfrm>
          <a:prstGeom prst="rect">
            <a:avLst/>
          </a:prstGeom>
          <a:noFill/>
          <a:ln/>
        </p:spPr>
        <p:txBody>
          <a:bodyPr wrap="square" lIns="0" tIns="0" rIns="0" bIns="0" rtlCol="0" anchor="t"/>
          <a:lstStyle/>
          <a:p>
            <a:pPr algn="l" indent="0" marL="0">
              <a:lnSpc>
                <a:spcPts val="1958"/>
              </a:lnSpc>
              <a:buNone/>
            </a:pPr>
            <a:r>
              <a:rPr lang="en-US" sz="1350" b="1" dirty="0">
                <a:solidFill>
                  <a:srgbClr val="8C491A"/>
                </a:solidFill>
                <a:latin typeface="Nunito" pitchFamily="34" charset="0"/>
                <a:ea typeface="Nunito" pitchFamily="34" charset="-122"/>
                <a:cs typeface="Nunito" pitchFamily="34" charset="-120"/>
              </a:rPr>
              <a:t>Chấm nhầm trên tập này → EM 100%.</a:t>
            </a:r>
            <a:endParaRPr lang="en-US" sz="1350" dirty="0"/>
          </a:p>
        </p:txBody>
      </p:sp>
      <p:sp>
        <p:nvSpPr>
          <p:cNvPr id="11" name="Shape 8"/>
          <p:cNvSpPr/>
          <p:nvPr/>
        </p:nvSpPr>
        <p:spPr>
          <a:xfrm>
            <a:off x="685800" y="4434840"/>
            <a:ext cx="10817352" cy="1554480"/>
          </a:xfrm>
          <a:prstGeom prst="roundRect">
            <a:avLst>
              <a:gd name="adj" fmla="val 9412"/>
            </a:avLst>
          </a:prstGeom>
          <a:solidFill>
            <a:srgbClr val="EBDDC5"/>
          </a:solidFill>
          <a:ln w="12700">
            <a:solidFill>
              <a:srgbClr val="EBDDC5"/>
            </a:solidFill>
            <a:prstDash val="solid"/>
          </a:ln>
        </p:spPr>
      </p:sp>
      <p:sp>
        <p:nvSpPr>
          <p:cNvPr id="12" name="Text 9"/>
          <p:cNvSpPr txBox="1"/>
          <p:nvPr/>
        </p:nvSpPr>
        <p:spPr>
          <a:xfrm>
            <a:off x="1005840" y="4645152"/>
            <a:ext cx="4572000" cy="320040"/>
          </a:xfrm>
          <a:prstGeom prst="rect">
            <a:avLst/>
          </a:prstGeom>
          <a:noFill/>
          <a:ln/>
        </p:spPr>
        <p:txBody>
          <a:bodyPr wrap="square" lIns="0" tIns="0" rIns="0" bIns="0" rtlCol="0" anchor="t"/>
          <a:lstStyle/>
          <a:p>
            <a:pPr algn="l" indent="0" marL="0">
              <a:lnSpc>
                <a:spcPts val="2175"/>
              </a:lnSpc>
              <a:buNone/>
            </a:pPr>
            <a:r>
              <a:rPr lang="en-US" sz="1500" b="1" dirty="0">
                <a:solidFill>
                  <a:srgbClr val="201E1D"/>
                </a:solidFill>
                <a:latin typeface="Nunito" pitchFamily="34" charset="0"/>
                <a:ea typeface="Nunito" pitchFamily="34" charset="-122"/>
                <a:cs typeface="Nunito" pitchFamily="34" charset="-120"/>
              </a:rPr>
              <a:t>Bọn em chặn bằng code, không bằng lời hứa</a:t>
            </a:r>
            <a:endParaRPr lang="en-US" sz="1500" dirty="0"/>
          </a:p>
        </p:txBody>
      </p:sp>
      <p:sp>
        <p:nvSpPr>
          <p:cNvPr id="13" name="Text 10"/>
          <p:cNvSpPr txBox="1"/>
          <p:nvPr/>
        </p:nvSpPr>
        <p:spPr>
          <a:xfrm>
            <a:off x="1005840" y="5029200"/>
            <a:ext cx="4572000" cy="320040"/>
          </a:xfrm>
          <a:prstGeom prst="rect">
            <a:avLst/>
          </a:prstGeom>
          <a:noFill/>
          <a:ln/>
        </p:spPr>
        <p:txBody>
          <a:bodyPr wrap="square" lIns="0" tIns="0" rIns="0" bIns="0" rtlCol="0" anchor="ctr"/>
          <a:lstStyle/>
          <a:p>
            <a:pPr indent="0" marL="0">
              <a:buNone/>
            </a:pPr>
            <a:r>
              <a:rPr lang="en-US" sz="1400" b="1" dirty="0">
                <a:solidFill>
                  <a:srgbClr val="8C491A"/>
                </a:solidFill>
                <a:latin typeface="Courier New" pitchFamily="34" charset="0"/>
                <a:ea typeface="Courier New" pitchFamily="34" charset="-122"/>
                <a:cs typeface="Courier New" pitchFamily="34" charset="-120"/>
              </a:rPr>
              <a:t>assert_gradeable(examples)</a:t>
            </a:r>
            <a:endParaRPr lang="en-US" sz="1400" dirty="0"/>
          </a:p>
        </p:txBody>
      </p:sp>
      <p:sp>
        <p:nvSpPr>
          <p:cNvPr id="14" name="Text 11"/>
          <p:cNvSpPr txBox="1"/>
          <p:nvPr/>
        </p:nvSpPr>
        <p:spPr>
          <a:xfrm>
            <a:off x="1005840" y="5376672"/>
            <a:ext cx="457200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ném ValueError trước MỌI lần chấm điểm, thay vì để một mô hình luôn trả rỗng đạt EM 100%.</a:t>
            </a:r>
            <a:endParaRPr lang="en-US" sz="1150" dirty="0"/>
          </a:p>
        </p:txBody>
      </p:sp>
      <p:sp>
        <p:nvSpPr>
          <p:cNvPr id="15" name="Text 12"/>
          <p:cNvSpPr txBox="1"/>
          <p:nvPr/>
        </p:nvSpPr>
        <p:spPr>
          <a:xfrm>
            <a:off x="6035040" y="4645152"/>
            <a:ext cx="256032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30,4%</a:t>
            </a:r>
            <a:endParaRPr lang="en-US" sz="2000" dirty="0"/>
          </a:p>
        </p:txBody>
      </p:sp>
      <p:sp>
        <p:nvSpPr>
          <p:cNvPr id="16" name="Text 13"/>
          <p:cNvSpPr txBox="1"/>
          <p:nvPr/>
        </p:nvSpPr>
        <p:spPr>
          <a:xfrm>
            <a:off x="6035040" y="5047488"/>
            <a:ext cx="2560320" cy="73152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câu validation là impossible — metric tổng trộn hai kỹ năng</a:t>
            </a:r>
            <a:endParaRPr lang="en-US" sz="1150" dirty="0"/>
          </a:p>
        </p:txBody>
      </p:sp>
      <p:sp>
        <p:nvSpPr>
          <p:cNvPr id="17" name="Text 14"/>
          <p:cNvSpPr txBox="1"/>
          <p:nvPr/>
        </p:nvSpPr>
        <p:spPr>
          <a:xfrm>
            <a:off x="8778240" y="4645152"/>
            <a:ext cx="256032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4.101 ≠ 138</a:t>
            </a:r>
            <a:endParaRPr lang="en-US" sz="2000" dirty="0"/>
          </a:p>
        </p:txBody>
      </p:sp>
      <p:sp>
        <p:nvSpPr>
          <p:cNvPr id="18" name="Text 15"/>
          <p:cNvSpPr txBox="1"/>
          <p:nvPr/>
        </p:nvSpPr>
        <p:spPr>
          <a:xfrm>
            <a:off x="8778240" y="5047488"/>
            <a:ext cx="2560320" cy="73152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context không phải article: nhầm hai đơn vị làm hỏng chống leakage</a:t>
            </a:r>
            <a:endParaRPr lang="en-US" sz="1150" dirty="0"/>
          </a:p>
        </p:txBody>
      </p:sp>
      <p:sp>
        <p:nvSpPr>
          <p:cNvPr id="19" name="Text 1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Dữ liệu · UIT-ViQuAD 2.0</a:t>
            </a:r>
            <a:endParaRPr lang="en-US" sz="1000" dirty="0"/>
          </a:p>
        </p:txBody>
      </p:sp>
      <p:sp>
        <p:nvSpPr>
          <p:cNvPr id="20" name="Text 1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PHƯƠNG PHÁP</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hệ thống — mỗi cái trả lời một câu hỏi khác nhau</a:t>
            </a:r>
            <a:endParaRPr lang="en-US" sz="3400" dirty="0"/>
          </a:p>
        </p:txBody>
      </p:sp>
      <p:sp>
        <p:nvSpPr>
          <p:cNvPr id="4" name="Shape 2"/>
          <p:cNvSpPr/>
          <p:nvPr/>
        </p:nvSpPr>
        <p:spPr>
          <a:xfrm>
            <a:off x="685800" y="1691640"/>
            <a:ext cx="5285232" cy="1645920"/>
          </a:xfrm>
          <a:prstGeom prst="roundRect">
            <a:avLst>
              <a:gd name="adj" fmla="val 8889"/>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78408" y="2020824"/>
            <a:ext cx="310896" cy="310896"/>
          </a:xfrm>
          <a:prstGeom prst="ellipse">
            <a:avLst/>
          </a:prstGeom>
          <a:solidFill>
            <a:srgbClr val="645C50"/>
          </a:solidFill>
          <a:ln w="12700">
            <a:solidFill>
              <a:srgbClr val="645C50"/>
            </a:solidFill>
            <a:prstDash val="solid"/>
          </a:ln>
        </p:spPr>
      </p:sp>
      <p:sp>
        <p:nvSpPr>
          <p:cNvPr id="6" name="Text 4"/>
          <p:cNvSpPr txBox="1"/>
          <p:nvPr/>
        </p:nvSpPr>
        <p:spPr>
          <a:xfrm>
            <a:off x="978408" y="20208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1</a:t>
            </a:r>
            <a:endParaRPr lang="en-US" sz="1300" dirty="0"/>
          </a:p>
        </p:txBody>
      </p:sp>
      <p:sp>
        <p:nvSpPr>
          <p:cNvPr id="7" name="Text 5"/>
          <p:cNvSpPr txBox="1"/>
          <p:nvPr/>
        </p:nvSpPr>
        <p:spPr>
          <a:xfrm>
            <a:off x="1435608" y="1965960"/>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TF-IDF Baseline</a:t>
            </a:r>
            <a:endParaRPr lang="en-US" sz="1900" dirty="0"/>
          </a:p>
        </p:txBody>
      </p:sp>
      <p:sp>
        <p:nvSpPr>
          <p:cNvPr id="8" name="Shape 6"/>
          <p:cNvSpPr/>
          <p:nvPr/>
        </p:nvSpPr>
        <p:spPr>
          <a:xfrm>
            <a:off x="4297680" y="2020824"/>
            <a:ext cx="1417320" cy="310896"/>
          </a:xfrm>
          <a:prstGeom prst="roundRect">
            <a:avLst>
              <a:gd name="adj" fmla="val 50000"/>
            </a:avLst>
          </a:prstGeom>
          <a:solidFill>
            <a:srgbClr val="EBDDC5"/>
          </a:solidFill>
          <a:ln w="12700">
            <a:solidFill>
              <a:srgbClr val="EBDDC5"/>
            </a:solidFill>
            <a:prstDash val="solid"/>
          </a:ln>
        </p:spPr>
      </p:sp>
      <p:sp>
        <p:nvSpPr>
          <p:cNvPr id="9" name="Text 7"/>
          <p:cNvSpPr txBox="1"/>
          <p:nvPr/>
        </p:nvSpPr>
        <p:spPr>
          <a:xfrm>
            <a:off x="4297680" y="2020824"/>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không huấn luyện</a:t>
            </a:r>
            <a:endParaRPr lang="en-US" sz="950" dirty="0"/>
          </a:p>
        </p:txBody>
      </p:sp>
      <p:sp>
        <p:nvSpPr>
          <p:cNvPr id="10" name="Text 8"/>
          <p:cNvSpPr txBox="1"/>
          <p:nvPr/>
        </p:nvSpPr>
        <p:spPr>
          <a:xfrm>
            <a:off x="978408" y="2532888"/>
            <a:ext cx="4709160" cy="68580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Bài toán này giải được bằng so khớp từ khoá thuần không?</a:t>
            </a:r>
            <a:endParaRPr lang="en-US" sz="1300" dirty="0"/>
          </a:p>
        </p:txBody>
      </p:sp>
      <p:sp>
        <p:nvSpPr>
          <p:cNvPr id="11" name="Shape 9"/>
          <p:cNvSpPr/>
          <p:nvPr/>
        </p:nvSpPr>
        <p:spPr>
          <a:xfrm>
            <a:off x="6217920" y="1691640"/>
            <a:ext cx="5285232" cy="1645920"/>
          </a:xfrm>
          <a:prstGeom prst="roundRect">
            <a:avLst>
              <a:gd name="adj" fmla="val 8889"/>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6510528" y="2020824"/>
            <a:ext cx="310896" cy="310896"/>
          </a:xfrm>
          <a:prstGeom prst="ellipse">
            <a:avLst/>
          </a:prstGeom>
          <a:solidFill>
            <a:srgbClr val="645C50"/>
          </a:solidFill>
          <a:ln w="12700">
            <a:solidFill>
              <a:srgbClr val="645C50"/>
            </a:solidFill>
            <a:prstDash val="solid"/>
          </a:ln>
        </p:spPr>
      </p:sp>
      <p:sp>
        <p:nvSpPr>
          <p:cNvPr id="13" name="Text 11"/>
          <p:cNvSpPr txBox="1"/>
          <p:nvPr/>
        </p:nvSpPr>
        <p:spPr>
          <a:xfrm>
            <a:off x="6510528" y="20208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2</a:t>
            </a:r>
            <a:endParaRPr lang="en-US" sz="1300" dirty="0"/>
          </a:p>
        </p:txBody>
      </p:sp>
      <p:sp>
        <p:nvSpPr>
          <p:cNvPr id="14" name="Text 12"/>
          <p:cNvSpPr txBox="1"/>
          <p:nvPr/>
        </p:nvSpPr>
        <p:spPr>
          <a:xfrm>
            <a:off x="6967728" y="1965960"/>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XLM-R squad2</a:t>
            </a:r>
            <a:endParaRPr lang="en-US" sz="1900" dirty="0"/>
          </a:p>
        </p:txBody>
      </p:sp>
      <p:sp>
        <p:nvSpPr>
          <p:cNvPr id="15" name="Shape 13"/>
          <p:cNvSpPr/>
          <p:nvPr/>
        </p:nvSpPr>
        <p:spPr>
          <a:xfrm>
            <a:off x="9829800" y="2020824"/>
            <a:ext cx="1417320" cy="310896"/>
          </a:xfrm>
          <a:prstGeom prst="roundRect">
            <a:avLst>
              <a:gd name="adj" fmla="val 50000"/>
            </a:avLst>
          </a:prstGeom>
          <a:solidFill>
            <a:srgbClr val="EBDDC5"/>
          </a:solidFill>
          <a:ln w="12700">
            <a:solidFill>
              <a:srgbClr val="EBDDC5"/>
            </a:solidFill>
            <a:prstDash val="solid"/>
          </a:ln>
        </p:spPr>
      </p:sp>
      <p:sp>
        <p:nvSpPr>
          <p:cNvPr id="16" name="Text 14"/>
          <p:cNvSpPr txBox="1"/>
          <p:nvPr/>
        </p:nvSpPr>
        <p:spPr>
          <a:xfrm>
            <a:off x="9829800" y="2020824"/>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zero-shot</a:t>
            </a:r>
            <a:endParaRPr lang="en-US" sz="950" dirty="0"/>
          </a:p>
        </p:txBody>
      </p:sp>
      <p:sp>
        <p:nvSpPr>
          <p:cNvPr id="17" name="Text 15"/>
          <p:cNvSpPr txBox="1"/>
          <p:nvPr/>
        </p:nvSpPr>
        <p:spPr>
          <a:xfrm>
            <a:off x="6510528" y="2532888"/>
            <a:ext cx="4709160" cy="68580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Transfer từ SQuAD-2.0 tiếng Anh sang tiếng Việt được bao nhiêu?</a:t>
            </a:r>
            <a:endParaRPr lang="en-US" sz="1300" dirty="0"/>
          </a:p>
        </p:txBody>
      </p:sp>
      <p:sp>
        <p:nvSpPr>
          <p:cNvPr id="18" name="Shape 16"/>
          <p:cNvSpPr/>
          <p:nvPr/>
        </p:nvSpPr>
        <p:spPr>
          <a:xfrm>
            <a:off x="685800" y="3566160"/>
            <a:ext cx="5285232" cy="1645920"/>
          </a:xfrm>
          <a:prstGeom prst="roundRect">
            <a:avLst>
              <a:gd name="adj" fmla="val 8889"/>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78408" y="3895344"/>
            <a:ext cx="310896" cy="310896"/>
          </a:xfrm>
          <a:prstGeom prst="ellipse">
            <a:avLst/>
          </a:prstGeom>
          <a:solidFill>
            <a:srgbClr val="C67139"/>
          </a:solidFill>
          <a:ln w="12700">
            <a:solidFill>
              <a:srgbClr val="C67139"/>
            </a:solidFill>
            <a:prstDash val="solid"/>
          </a:ln>
        </p:spPr>
      </p:sp>
      <p:sp>
        <p:nvSpPr>
          <p:cNvPr id="20" name="Text 18"/>
          <p:cNvSpPr txBox="1"/>
          <p:nvPr/>
        </p:nvSpPr>
        <p:spPr>
          <a:xfrm>
            <a:off x="978408" y="3895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3</a:t>
            </a:r>
            <a:endParaRPr lang="en-US" sz="1300" dirty="0"/>
          </a:p>
        </p:txBody>
      </p:sp>
      <p:sp>
        <p:nvSpPr>
          <p:cNvPr id="21" name="Text 19"/>
          <p:cNvSpPr txBox="1"/>
          <p:nvPr/>
        </p:nvSpPr>
        <p:spPr>
          <a:xfrm>
            <a:off x="1435608" y="3840480"/>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mBERT + QA</a:t>
            </a:r>
            <a:endParaRPr lang="en-US" sz="1900" dirty="0"/>
          </a:p>
        </p:txBody>
      </p:sp>
      <p:sp>
        <p:nvSpPr>
          <p:cNvPr id="22" name="Shape 20"/>
          <p:cNvSpPr/>
          <p:nvPr/>
        </p:nvSpPr>
        <p:spPr>
          <a:xfrm>
            <a:off x="4297680" y="3895344"/>
            <a:ext cx="1417320" cy="310896"/>
          </a:xfrm>
          <a:prstGeom prst="roundRect">
            <a:avLst>
              <a:gd name="adj" fmla="val 50000"/>
            </a:avLst>
          </a:prstGeom>
          <a:solidFill>
            <a:srgbClr val="EBDDC5"/>
          </a:solidFill>
          <a:ln w="12700">
            <a:solidFill>
              <a:srgbClr val="EBDDC5"/>
            </a:solidFill>
            <a:prstDash val="solid"/>
          </a:ln>
        </p:spPr>
      </p:sp>
      <p:sp>
        <p:nvSpPr>
          <p:cNvPr id="23" name="Text 21"/>
          <p:cNvSpPr txBox="1"/>
          <p:nvPr/>
        </p:nvSpPr>
        <p:spPr>
          <a:xfrm>
            <a:off x="4297680" y="3895344"/>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24" name="Text 22"/>
          <p:cNvSpPr txBox="1"/>
          <p:nvPr/>
        </p:nvSpPr>
        <p:spPr>
          <a:xfrm>
            <a:off x="978408" y="4407408"/>
            <a:ext cx="4709160" cy="68580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Fine-tune in-domain thêm được bao nhiêu, với encoder đa ngữ?</a:t>
            </a:r>
            <a:endParaRPr lang="en-US" sz="1300" dirty="0"/>
          </a:p>
        </p:txBody>
      </p:sp>
      <p:sp>
        <p:nvSpPr>
          <p:cNvPr id="25" name="Shape 23"/>
          <p:cNvSpPr/>
          <p:nvPr/>
        </p:nvSpPr>
        <p:spPr>
          <a:xfrm>
            <a:off x="6217920" y="3566160"/>
            <a:ext cx="5285232" cy="1645920"/>
          </a:xfrm>
          <a:prstGeom prst="roundRect">
            <a:avLst>
              <a:gd name="adj" fmla="val 8889"/>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6510528" y="3895344"/>
            <a:ext cx="310896" cy="310896"/>
          </a:xfrm>
          <a:prstGeom prst="ellipse">
            <a:avLst/>
          </a:prstGeom>
          <a:solidFill>
            <a:srgbClr val="7A8A5E"/>
          </a:solidFill>
          <a:ln w="12700">
            <a:solidFill>
              <a:srgbClr val="7A8A5E"/>
            </a:solidFill>
            <a:prstDash val="solid"/>
          </a:ln>
        </p:spPr>
      </p:sp>
      <p:sp>
        <p:nvSpPr>
          <p:cNvPr id="27" name="Text 25"/>
          <p:cNvSpPr txBox="1"/>
          <p:nvPr/>
        </p:nvSpPr>
        <p:spPr>
          <a:xfrm>
            <a:off x="6510528" y="3895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4</a:t>
            </a:r>
            <a:endParaRPr lang="en-US" sz="1300" dirty="0"/>
          </a:p>
        </p:txBody>
      </p:sp>
      <p:sp>
        <p:nvSpPr>
          <p:cNvPr id="28" name="Text 26"/>
          <p:cNvSpPr txBox="1"/>
          <p:nvPr/>
        </p:nvSpPr>
        <p:spPr>
          <a:xfrm>
            <a:off x="6967728" y="3840480"/>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ViSoBERT + QA</a:t>
            </a:r>
            <a:endParaRPr lang="en-US" sz="1900" dirty="0"/>
          </a:p>
        </p:txBody>
      </p:sp>
      <p:sp>
        <p:nvSpPr>
          <p:cNvPr id="29" name="Shape 27"/>
          <p:cNvSpPr/>
          <p:nvPr/>
        </p:nvSpPr>
        <p:spPr>
          <a:xfrm>
            <a:off x="9829800" y="3895344"/>
            <a:ext cx="1417320" cy="310896"/>
          </a:xfrm>
          <a:prstGeom prst="roundRect">
            <a:avLst>
              <a:gd name="adj" fmla="val 50000"/>
            </a:avLst>
          </a:prstGeom>
          <a:solidFill>
            <a:srgbClr val="EBDDC5"/>
          </a:solidFill>
          <a:ln w="12700">
            <a:solidFill>
              <a:srgbClr val="EBDDC5"/>
            </a:solidFill>
            <a:prstDash val="solid"/>
          </a:ln>
        </p:spPr>
      </p:sp>
      <p:sp>
        <p:nvSpPr>
          <p:cNvPr id="30" name="Text 28"/>
          <p:cNvSpPr txBox="1"/>
          <p:nvPr/>
        </p:nvSpPr>
        <p:spPr>
          <a:xfrm>
            <a:off x="9829800" y="3895344"/>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31" name="Text 29"/>
          <p:cNvSpPr txBox="1"/>
          <p:nvPr/>
        </p:nvSpPr>
        <p:spPr>
          <a:xfrm>
            <a:off x="6510528" y="4407408"/>
            <a:ext cx="4709160" cy="68580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Pretraining chuyên tiếng Việt đóng góp bao nhiêu?</a:t>
            </a:r>
            <a:endParaRPr lang="en-US" sz="1300" dirty="0"/>
          </a:p>
        </p:txBody>
      </p:sp>
      <p:sp>
        <p:nvSpPr>
          <p:cNvPr id="32" name="Text 30"/>
          <p:cNvSpPr txBox="1"/>
          <p:nvPr/>
        </p:nvSpPr>
        <p:spPr>
          <a:xfrm>
            <a:off x="685800" y="5623560"/>
            <a:ext cx="10817352" cy="457200"/>
          </a:xfrm>
          <a:prstGeom prst="rect">
            <a:avLst/>
          </a:prstGeom>
          <a:noFill/>
          <a:ln/>
        </p:spPr>
        <p:txBody>
          <a:bodyPr wrap="square" lIns="0" tIns="0" rIns="0" bIns="0" rtlCol="0" anchor="t"/>
          <a:lstStyle/>
          <a:p>
            <a:pPr algn="l" indent="0" marL="0">
              <a:lnSpc>
                <a:spcPts val="1885"/>
              </a:lnSpc>
              <a:buNone/>
            </a:pPr>
            <a:r>
              <a:rPr lang="en-US" sz="1300" i="1" dirty="0">
                <a:solidFill>
                  <a:srgbClr val="8C491A"/>
                </a:solidFill>
                <a:latin typeface="Nunito" pitchFamily="34" charset="0"/>
                <a:ea typeface="Nunito" pitchFamily="34" charset="-122"/>
                <a:cs typeface="Nunito" pitchFamily="34" charset="-120"/>
              </a:rPr>
              <a:t>Giả thuyết đăng ký TRƯỚC khi chạy (results/hypotheses.md) dự đoán encoder tiếng Việt sẽ thắng. Kết quả ngược lại — và được báo cáo nguyên vẹn.</a:t>
            </a:r>
            <a:endParaRPr lang="en-US" sz="130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Phương pháp · Bốn mô hình</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KIẾN TRÚC</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tầng, một chiều phụ thuộc</a:t>
            </a:r>
            <a:endParaRPr lang="en-US" sz="3400" dirty="0"/>
          </a:p>
        </p:txBody>
      </p:sp>
      <p:sp>
        <p:nvSpPr>
          <p:cNvPr id="4" name="Shape 2"/>
          <p:cNvSpPr/>
          <p:nvPr/>
        </p:nvSpPr>
        <p:spPr>
          <a:xfrm>
            <a:off x="685800" y="1627632"/>
            <a:ext cx="10817352" cy="896112"/>
          </a:xfrm>
          <a:prstGeom prst="roundRect">
            <a:avLst>
              <a:gd name="adj" fmla="val 16327"/>
            </a:avLst>
          </a:prstGeom>
          <a:solidFill>
            <a:srgbClr val="F0FAE1"/>
          </a:solidFill>
          <a:ln w="12700">
            <a:solidFill>
              <a:srgbClr val="F0FAE1"/>
            </a:solidFill>
            <a:prstDash val="solid"/>
          </a:ln>
        </p:spPr>
      </p:sp>
      <p:sp>
        <p:nvSpPr>
          <p:cNvPr id="5" name="Shape 3"/>
          <p:cNvSpPr/>
          <p:nvPr/>
        </p:nvSpPr>
        <p:spPr>
          <a:xfrm>
            <a:off x="978408" y="1993392"/>
            <a:ext cx="182880" cy="182880"/>
          </a:xfrm>
          <a:prstGeom prst="ellipse">
            <a:avLst/>
          </a:prstGeom>
          <a:solidFill>
            <a:srgbClr val="7A8A5E"/>
          </a:solidFill>
          <a:ln w="12700">
            <a:solidFill>
              <a:srgbClr val="7A8A5E"/>
            </a:solidFill>
            <a:prstDash val="solid"/>
          </a:ln>
        </p:spPr>
      </p:sp>
      <p:sp>
        <p:nvSpPr>
          <p:cNvPr id="6" name="Text 4"/>
          <p:cNvSpPr txBox="1"/>
          <p:nvPr/>
        </p:nvSpPr>
        <p:spPr>
          <a:xfrm>
            <a:off x="1289304" y="1755648"/>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dữ liệu</a:t>
            </a:r>
            <a:endParaRPr lang="en-US" sz="1600" dirty="0"/>
          </a:p>
        </p:txBody>
      </p:sp>
      <p:sp>
        <p:nvSpPr>
          <p:cNvPr id="7" name="Text 5"/>
          <p:cNvSpPr txBox="1"/>
          <p:nvPr/>
        </p:nvSpPr>
        <p:spPr>
          <a:xfrm>
            <a:off x="1289304" y="2048256"/>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data.py · tagging.py</a:t>
            </a:r>
            <a:endParaRPr lang="en-US" sz="900" dirty="0"/>
          </a:p>
        </p:txBody>
      </p:sp>
      <p:sp>
        <p:nvSpPr>
          <p:cNvPr id="8" name="Text 6"/>
          <p:cNvSpPr txBox="1"/>
          <p:nvPr/>
        </p:nvSpPr>
        <p:spPr>
          <a:xfrm>
            <a:off x="5806440" y="1810512"/>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parse SQuAD-2.0 → Example · dedup &amp; split theo CONTEXT · assert_no_leakage · assert_gradeable</a:t>
            </a:r>
            <a:endParaRPr lang="en-US" sz="1200" dirty="0"/>
          </a:p>
        </p:txBody>
      </p:sp>
      <p:sp>
        <p:nvSpPr>
          <p:cNvPr id="9" name="Text 7"/>
          <p:cNvSpPr txBox="1"/>
          <p:nvPr/>
        </p:nvSpPr>
        <p:spPr>
          <a:xfrm>
            <a:off x="5943600" y="2532888"/>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0" name="Shape 8"/>
          <p:cNvSpPr/>
          <p:nvPr/>
        </p:nvSpPr>
        <p:spPr>
          <a:xfrm>
            <a:off x="685800" y="2670048"/>
            <a:ext cx="10817352" cy="896112"/>
          </a:xfrm>
          <a:prstGeom prst="roundRect">
            <a:avLst>
              <a:gd name="adj" fmla="val 16327"/>
            </a:avLst>
          </a:prstGeom>
          <a:solidFill>
            <a:srgbClr val="FFF2EB"/>
          </a:solidFill>
          <a:ln w="12700">
            <a:solidFill>
              <a:srgbClr val="FFF2EB"/>
            </a:solidFill>
            <a:prstDash val="solid"/>
          </a:ln>
        </p:spPr>
      </p:sp>
      <p:sp>
        <p:nvSpPr>
          <p:cNvPr id="11" name="Shape 9"/>
          <p:cNvSpPr/>
          <p:nvPr/>
        </p:nvSpPr>
        <p:spPr>
          <a:xfrm>
            <a:off x="978408" y="3035808"/>
            <a:ext cx="182880" cy="182880"/>
          </a:xfrm>
          <a:prstGeom prst="ellipse">
            <a:avLst/>
          </a:prstGeom>
          <a:solidFill>
            <a:srgbClr val="C67139"/>
          </a:solidFill>
          <a:ln w="12700">
            <a:solidFill>
              <a:srgbClr val="C67139"/>
            </a:solidFill>
            <a:prstDash val="solid"/>
          </a:ln>
        </p:spPr>
      </p:sp>
      <p:sp>
        <p:nvSpPr>
          <p:cNvPr id="12" name="Text 10"/>
          <p:cNvSpPr txBox="1"/>
          <p:nvPr/>
        </p:nvSpPr>
        <p:spPr>
          <a:xfrm>
            <a:off x="1289304" y="2798064"/>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mô hình</a:t>
            </a:r>
            <a:endParaRPr lang="en-US" sz="1600" dirty="0"/>
          </a:p>
        </p:txBody>
      </p:sp>
      <p:sp>
        <p:nvSpPr>
          <p:cNvPr id="13" name="Text 11"/>
          <p:cNvSpPr txBox="1"/>
          <p:nvPr/>
        </p:nvSpPr>
        <p:spPr>
          <a:xfrm>
            <a:off x="1289304" y="3090672"/>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predictor.py · baseline_tfidf.py · transformer_qa.py · windowing.py · features.py · training.py</a:t>
            </a:r>
            <a:endParaRPr lang="en-US" sz="900" dirty="0"/>
          </a:p>
        </p:txBody>
      </p:sp>
      <p:sp>
        <p:nvSpPr>
          <p:cNvPr id="14" name="Text 12"/>
          <p:cNvSpPr txBox="1"/>
          <p:nvPr/>
        </p:nvSpPr>
        <p:spPr>
          <a:xfrm>
            <a:off x="5806440" y="2852928"/>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một interface duy nhất: Predictor.predict(ctx, q) -&gt; str</a:t>
            </a:r>
            <a:endParaRPr lang="en-US" sz="1200" dirty="0"/>
          </a:p>
        </p:txBody>
      </p:sp>
      <p:sp>
        <p:nvSpPr>
          <p:cNvPr id="15" name="Text 13"/>
          <p:cNvSpPr txBox="1"/>
          <p:nvPr/>
        </p:nvSpPr>
        <p:spPr>
          <a:xfrm>
            <a:off x="5943600" y="3575304"/>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6" name="Shape 14"/>
          <p:cNvSpPr/>
          <p:nvPr/>
        </p:nvSpPr>
        <p:spPr>
          <a:xfrm>
            <a:off x="685800" y="3712464"/>
            <a:ext cx="10817352" cy="896112"/>
          </a:xfrm>
          <a:prstGeom prst="roundRect">
            <a:avLst>
              <a:gd name="adj" fmla="val 16327"/>
            </a:avLst>
          </a:prstGeom>
          <a:solidFill>
            <a:srgbClr val="F0FAE1"/>
          </a:solidFill>
          <a:ln w="12700">
            <a:solidFill>
              <a:srgbClr val="F0FAE1"/>
            </a:solidFill>
            <a:prstDash val="solid"/>
          </a:ln>
        </p:spPr>
      </p:sp>
      <p:sp>
        <p:nvSpPr>
          <p:cNvPr id="17" name="Shape 15"/>
          <p:cNvSpPr/>
          <p:nvPr/>
        </p:nvSpPr>
        <p:spPr>
          <a:xfrm>
            <a:off x="978408" y="4078224"/>
            <a:ext cx="182880" cy="182880"/>
          </a:xfrm>
          <a:prstGeom prst="ellipse">
            <a:avLst/>
          </a:prstGeom>
          <a:solidFill>
            <a:srgbClr val="7A8A5E"/>
          </a:solidFill>
          <a:ln w="12700">
            <a:solidFill>
              <a:srgbClr val="7A8A5E"/>
            </a:solidFill>
            <a:prstDash val="solid"/>
          </a:ln>
        </p:spPr>
      </p:sp>
      <p:sp>
        <p:nvSpPr>
          <p:cNvPr id="18" name="Text 16"/>
          <p:cNvSpPr txBox="1"/>
          <p:nvPr/>
        </p:nvSpPr>
        <p:spPr>
          <a:xfrm>
            <a:off x="1289304" y="3840480"/>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đánh giá</a:t>
            </a:r>
            <a:endParaRPr lang="en-US" sz="1600" dirty="0"/>
          </a:p>
        </p:txBody>
      </p:sp>
      <p:sp>
        <p:nvSpPr>
          <p:cNvPr id="19" name="Text 17"/>
          <p:cNvSpPr txBox="1"/>
          <p:nvPr/>
        </p:nvSpPr>
        <p:spPr>
          <a:xfrm>
            <a:off x="1289304" y="4133088"/>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normalize.py · metrics.py · evaluate.py</a:t>
            </a:r>
            <a:endParaRPr lang="en-US" sz="900" dirty="0"/>
          </a:p>
        </p:txBody>
      </p:sp>
      <p:sp>
        <p:nvSpPr>
          <p:cNvPr id="20" name="Text 18"/>
          <p:cNvSpPr txBox="1"/>
          <p:nvPr/>
        </p:nvSpPr>
        <p:spPr>
          <a:xfrm>
            <a:off x="5806440" y="3895344"/>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EM + token-F1 · tách answerable / impossible · provenance · cờ unreliable khi n &lt; 30</a:t>
            </a:r>
            <a:endParaRPr lang="en-US" sz="1200" dirty="0"/>
          </a:p>
        </p:txBody>
      </p:sp>
      <p:sp>
        <p:nvSpPr>
          <p:cNvPr id="21" name="Text 19"/>
          <p:cNvSpPr txBox="1"/>
          <p:nvPr/>
        </p:nvSpPr>
        <p:spPr>
          <a:xfrm>
            <a:off x="5943600" y="4617720"/>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22" name="Shape 20"/>
          <p:cNvSpPr/>
          <p:nvPr/>
        </p:nvSpPr>
        <p:spPr>
          <a:xfrm>
            <a:off x="685800" y="4754880"/>
            <a:ext cx="10817352" cy="896112"/>
          </a:xfrm>
          <a:prstGeom prst="roundRect">
            <a:avLst>
              <a:gd name="adj" fmla="val 16327"/>
            </a:avLst>
          </a:prstGeom>
          <a:solidFill>
            <a:srgbClr val="FFF2EB"/>
          </a:solidFill>
          <a:ln w="12700">
            <a:solidFill>
              <a:srgbClr val="FFF2EB"/>
            </a:solidFill>
            <a:prstDash val="solid"/>
          </a:ln>
        </p:spPr>
      </p:sp>
      <p:sp>
        <p:nvSpPr>
          <p:cNvPr id="23" name="Shape 21"/>
          <p:cNvSpPr/>
          <p:nvPr/>
        </p:nvSpPr>
        <p:spPr>
          <a:xfrm>
            <a:off x="978408" y="5120640"/>
            <a:ext cx="182880" cy="182880"/>
          </a:xfrm>
          <a:prstGeom prst="ellipse">
            <a:avLst/>
          </a:prstGeom>
          <a:solidFill>
            <a:srgbClr val="C67139"/>
          </a:solidFill>
          <a:ln w="12700">
            <a:solidFill>
              <a:srgbClr val="C67139"/>
            </a:solidFill>
            <a:prstDash val="solid"/>
          </a:ln>
        </p:spPr>
      </p:sp>
      <p:sp>
        <p:nvSpPr>
          <p:cNvPr id="24" name="Text 22"/>
          <p:cNvSpPr txBox="1"/>
          <p:nvPr/>
        </p:nvSpPr>
        <p:spPr>
          <a:xfrm>
            <a:off x="1289304" y="4882896"/>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trình bày</a:t>
            </a:r>
            <a:endParaRPr lang="en-US" sz="1600" dirty="0"/>
          </a:p>
        </p:txBody>
      </p:sp>
      <p:sp>
        <p:nvSpPr>
          <p:cNvPr id="25" name="Text 23"/>
          <p:cNvSpPr txBox="1"/>
          <p:nvPr/>
        </p:nvSpPr>
        <p:spPr>
          <a:xfrm>
            <a:off x="1289304" y="5175504"/>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src/demo/ (hàm thuần) → app/ (chỉ gọi widget) · make_figures.py · make_report.py</a:t>
            </a:r>
            <a:endParaRPr lang="en-US" sz="900" dirty="0"/>
          </a:p>
        </p:txBody>
      </p:sp>
      <p:sp>
        <p:nvSpPr>
          <p:cNvPr id="26" name="Text 24"/>
          <p:cNvSpPr txBox="1"/>
          <p:nvPr/>
        </p:nvSpPr>
        <p:spPr>
          <a:xfrm>
            <a:off x="5806440" y="4937760"/>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CHỈ ĐỌC results/ — không bao giờ sinh ra con số</a:t>
            </a:r>
            <a:endParaRPr lang="en-US" sz="1200" dirty="0"/>
          </a:p>
        </p:txBody>
      </p:sp>
      <p:sp>
        <p:nvSpPr>
          <p:cNvPr id="27" name="Text 25"/>
          <p:cNvSpPr txBox="1"/>
          <p:nvPr/>
        </p:nvSpPr>
        <p:spPr>
          <a:xfrm>
            <a:off x="685800" y="5797296"/>
            <a:ext cx="10817352" cy="292608"/>
          </a:xfrm>
          <a:prstGeom prst="rect">
            <a:avLst/>
          </a:prstGeom>
          <a:noFill/>
          <a:ln/>
        </p:spPr>
        <p:txBody>
          <a:bodyPr wrap="square" lIns="0" tIns="0" rIns="0" bIns="0" rtlCol="0" anchor="ctr"/>
          <a:lstStyle/>
          <a:p>
            <a:pPr algn="ctr" indent="0" marL="0">
              <a:buNone/>
            </a:pPr>
            <a:r>
              <a:rPr lang="en-US" sz="1200" b="1" dirty="0">
                <a:solidFill>
                  <a:srgbClr val="8C491A"/>
                </a:solidFill>
                <a:latin typeface="Courier New" pitchFamily="34" charset="0"/>
                <a:ea typeface="Courier New" pitchFamily="34" charset="-122"/>
                <a:cs typeface="Courier New" pitchFamily="34" charset="-120"/>
              </a:rPr>
              <a:t>app/  →  src/demo/  →  src/mrc/  →  results/, data/raw/     ·     một mũi tên, một chiều, không ngoại lệ</a:t>
            </a:r>
            <a:endParaRPr lang="en-US" sz="120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Kiến trúc · docs/ARCHITECTURE.md</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KIẾN TRÚC · BẤT BIẾN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bất biến — và cơ chế thực thi bằng máy</a:t>
            </a:r>
            <a:endParaRPr lang="en-US" sz="3400" dirty="0"/>
          </a:p>
        </p:txBody>
      </p:sp>
      <p:sp>
        <p:nvSpPr>
          <p:cNvPr id="4" name="Shape 2"/>
          <p:cNvSpPr/>
          <p:nvPr/>
        </p:nvSpPr>
        <p:spPr>
          <a:xfrm>
            <a:off x="685800" y="1627632"/>
            <a:ext cx="10817352"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41832" y="1901952"/>
            <a:ext cx="365760" cy="365760"/>
          </a:xfrm>
          <a:prstGeom prst="roundRect">
            <a:avLst>
              <a:gd name="adj" fmla="val 25000"/>
            </a:avLst>
          </a:prstGeom>
          <a:solidFill>
            <a:srgbClr val="C67139"/>
          </a:solidFill>
          <a:ln w="12700">
            <a:solidFill>
              <a:srgbClr val="C67139"/>
            </a:solidFill>
            <a:prstDash val="solid"/>
          </a:ln>
        </p:spPr>
      </p:sp>
      <p:sp>
        <p:nvSpPr>
          <p:cNvPr id="6" name="Text 4"/>
          <p:cNvSpPr txBox="1"/>
          <p:nvPr/>
        </p:nvSpPr>
        <p:spPr>
          <a:xfrm>
            <a:off x="941832" y="190195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1</a:t>
            </a:r>
            <a:endParaRPr lang="en-US" sz="1500" dirty="0"/>
          </a:p>
        </p:txBody>
      </p:sp>
      <p:sp>
        <p:nvSpPr>
          <p:cNvPr id="7" name="Text 5"/>
          <p:cNvSpPr txBox="1"/>
          <p:nvPr/>
        </p:nvSpPr>
        <p:spPr>
          <a:xfrm>
            <a:off x="1463040" y="1764792"/>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Extractive</a:t>
            </a:r>
            <a:endParaRPr lang="en-US" sz="1500" dirty="0"/>
          </a:p>
        </p:txBody>
      </p:sp>
      <p:sp>
        <p:nvSpPr>
          <p:cNvPr id="8" name="Text 6"/>
          <p:cNvSpPr txBox="1"/>
          <p:nvPr/>
        </p:nvSpPr>
        <p:spPr>
          <a:xfrm>
            <a:off x="1463040" y="2112264"/>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predict() trả về chuỗi con của context</a:t>
            </a:r>
            <a:endParaRPr lang="en-US" sz="1150" dirty="0"/>
          </a:p>
        </p:txBody>
      </p:sp>
      <p:sp>
        <p:nvSpPr>
          <p:cNvPr id="9" name="Text 7"/>
          <p:cNvSpPr txBox="1"/>
          <p:nvPr/>
        </p:nvSpPr>
        <p:spPr>
          <a:xfrm>
            <a:off x="5806440" y="1783080"/>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0" name="Text 8"/>
          <p:cNvSpPr txBox="1"/>
          <p:nvPr/>
        </p:nvSpPr>
        <p:spPr>
          <a:xfrm>
            <a:off x="5806440" y="2029968"/>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Test cho mọi Predictor; decode_span() ném ValueError nếu khoảng không hợp lệ</a:t>
            </a:r>
            <a:endParaRPr lang="en-US" sz="1150" dirty="0"/>
          </a:p>
        </p:txBody>
      </p:sp>
      <p:sp>
        <p:nvSpPr>
          <p:cNvPr id="11" name="Shape 9"/>
          <p:cNvSpPr/>
          <p:nvPr/>
        </p:nvSpPr>
        <p:spPr>
          <a:xfrm>
            <a:off x="685800" y="2688336"/>
            <a:ext cx="10817352"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941832" y="2962656"/>
            <a:ext cx="365760" cy="365760"/>
          </a:xfrm>
          <a:prstGeom prst="roundRect">
            <a:avLst>
              <a:gd name="adj" fmla="val 25000"/>
            </a:avLst>
          </a:prstGeom>
          <a:solidFill>
            <a:srgbClr val="C67139"/>
          </a:solidFill>
          <a:ln w="12700">
            <a:solidFill>
              <a:srgbClr val="C67139"/>
            </a:solidFill>
            <a:prstDash val="solid"/>
          </a:ln>
        </p:spPr>
      </p:sp>
      <p:sp>
        <p:nvSpPr>
          <p:cNvPr id="13" name="Text 11"/>
          <p:cNvSpPr txBox="1"/>
          <p:nvPr/>
        </p:nvSpPr>
        <p:spPr>
          <a:xfrm>
            <a:off x="941832" y="29626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2</a:t>
            </a:r>
            <a:endParaRPr lang="en-US" sz="1500" dirty="0"/>
          </a:p>
        </p:txBody>
      </p:sp>
      <p:sp>
        <p:nvSpPr>
          <p:cNvPr id="14" name="Text 12"/>
          <p:cNvSpPr txBox="1"/>
          <p:nvPr/>
        </p:nvSpPr>
        <p:spPr>
          <a:xfrm>
            <a:off x="1463040" y="2825496"/>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Không leakage</a:t>
            </a:r>
            <a:endParaRPr lang="en-US" sz="1500" dirty="0"/>
          </a:p>
        </p:txBody>
      </p:sp>
      <p:sp>
        <p:nvSpPr>
          <p:cNvPr id="15" name="Text 13"/>
          <p:cNvSpPr txBox="1"/>
          <p:nvPr/>
        </p:nvSpPr>
        <p:spPr>
          <a:xfrm>
            <a:off x="1463040" y="3172968"/>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Một context chỉ thuộc một split</a:t>
            </a:r>
            <a:endParaRPr lang="en-US" sz="1150" dirty="0"/>
          </a:p>
        </p:txBody>
      </p:sp>
      <p:sp>
        <p:nvSpPr>
          <p:cNvPr id="16" name="Text 14"/>
          <p:cNvSpPr txBox="1"/>
          <p:nvPr/>
        </p:nvSpPr>
        <p:spPr>
          <a:xfrm>
            <a:off x="5806440" y="2843784"/>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7" name="Text 15"/>
          <p:cNvSpPr txBox="1"/>
          <p:nvPr/>
        </p:nvSpPr>
        <p:spPr>
          <a:xfrm>
            <a:off x="5806440" y="3090672"/>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assert_no_leakage() chạy trong mọi đường split và làm FAIL cả run</a:t>
            </a:r>
            <a:endParaRPr lang="en-US" sz="1150" dirty="0"/>
          </a:p>
        </p:txBody>
      </p:sp>
      <p:sp>
        <p:nvSpPr>
          <p:cNvPr id="18" name="Shape 16"/>
          <p:cNvSpPr/>
          <p:nvPr/>
        </p:nvSpPr>
        <p:spPr>
          <a:xfrm>
            <a:off x="685800" y="3749040"/>
            <a:ext cx="10817352"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41832" y="4023360"/>
            <a:ext cx="365760" cy="365760"/>
          </a:xfrm>
          <a:prstGeom prst="roundRect">
            <a:avLst>
              <a:gd name="adj" fmla="val 25000"/>
            </a:avLst>
          </a:prstGeom>
          <a:solidFill>
            <a:srgbClr val="C67139"/>
          </a:solidFill>
          <a:ln w="12700">
            <a:solidFill>
              <a:srgbClr val="C67139"/>
            </a:solidFill>
            <a:prstDash val="solid"/>
          </a:ln>
        </p:spPr>
      </p:sp>
      <p:sp>
        <p:nvSpPr>
          <p:cNvPr id="20" name="Text 18"/>
          <p:cNvSpPr txBox="1"/>
          <p:nvPr/>
        </p:nvSpPr>
        <p:spPr>
          <a:xfrm>
            <a:off x="941832" y="402336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3</a:t>
            </a:r>
            <a:endParaRPr lang="en-US" sz="1500" dirty="0"/>
          </a:p>
        </p:txBody>
      </p:sp>
      <p:sp>
        <p:nvSpPr>
          <p:cNvPr id="21" name="Text 19"/>
          <p:cNvSpPr txBox="1"/>
          <p:nvPr/>
        </p:nvSpPr>
        <p:spPr>
          <a:xfrm>
            <a:off x="1463040" y="3886200"/>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Truy vết được</a:t>
            </a:r>
            <a:endParaRPr lang="en-US" sz="1500" dirty="0"/>
          </a:p>
        </p:txBody>
      </p:sp>
      <p:sp>
        <p:nvSpPr>
          <p:cNvPr id="22" name="Text 20"/>
          <p:cNvSpPr txBox="1"/>
          <p:nvPr/>
        </p:nvSpPr>
        <p:spPr>
          <a:xfrm>
            <a:off x="1463040" y="4233672"/>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kết quả mang commit, timestamp, device, split, n</a:t>
            </a:r>
            <a:endParaRPr lang="en-US" sz="1150" dirty="0"/>
          </a:p>
        </p:txBody>
      </p:sp>
      <p:sp>
        <p:nvSpPr>
          <p:cNvPr id="23" name="Text 21"/>
          <p:cNvSpPr txBox="1"/>
          <p:nvPr/>
        </p:nvSpPr>
        <p:spPr>
          <a:xfrm>
            <a:off x="5806440" y="3904488"/>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24" name="Text 22"/>
          <p:cNvSpPr txBox="1"/>
          <p:nvPr/>
        </p:nvSpPr>
        <p:spPr>
          <a:xfrm>
            <a:off x="5806440" y="4151376"/>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run_evaluation() sinh các trường này — không đường nào tạo ra kết quả thiếu chúng</a:t>
            </a:r>
            <a:endParaRPr lang="en-US" sz="1150" dirty="0"/>
          </a:p>
        </p:txBody>
      </p:sp>
      <p:sp>
        <p:nvSpPr>
          <p:cNvPr id="25" name="Shape 23"/>
          <p:cNvSpPr/>
          <p:nvPr/>
        </p:nvSpPr>
        <p:spPr>
          <a:xfrm>
            <a:off x="685800" y="4809744"/>
            <a:ext cx="10817352"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941832" y="5084064"/>
            <a:ext cx="365760" cy="365760"/>
          </a:xfrm>
          <a:prstGeom prst="roundRect">
            <a:avLst>
              <a:gd name="adj" fmla="val 25000"/>
            </a:avLst>
          </a:prstGeom>
          <a:solidFill>
            <a:srgbClr val="C67139"/>
          </a:solidFill>
          <a:ln w="12700">
            <a:solidFill>
              <a:srgbClr val="C67139"/>
            </a:solidFill>
            <a:prstDash val="solid"/>
          </a:ln>
        </p:spPr>
      </p:sp>
      <p:sp>
        <p:nvSpPr>
          <p:cNvPr id="27" name="Text 25"/>
          <p:cNvSpPr txBox="1"/>
          <p:nvPr/>
        </p:nvSpPr>
        <p:spPr>
          <a:xfrm>
            <a:off x="941832" y="50840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4</a:t>
            </a:r>
            <a:endParaRPr lang="en-US" sz="1500" dirty="0"/>
          </a:p>
        </p:txBody>
      </p:sp>
      <p:sp>
        <p:nvSpPr>
          <p:cNvPr id="28" name="Text 26"/>
          <p:cNvSpPr txBox="1"/>
          <p:nvPr/>
        </p:nvSpPr>
        <p:spPr>
          <a:xfrm>
            <a:off x="1463040" y="4946904"/>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Có n kèm số</a:t>
            </a:r>
            <a:endParaRPr lang="en-US" sz="1500" dirty="0"/>
          </a:p>
        </p:txBody>
      </p:sp>
      <p:sp>
        <p:nvSpPr>
          <p:cNvPr id="29" name="Text 27"/>
          <p:cNvSpPr txBox="1"/>
          <p:nvPr/>
        </p:nvSpPr>
        <p:spPr>
          <a:xfrm>
            <a:off x="1463040" y="5294376"/>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Nhóm count &lt; 30 tự gắn unreliable: true</a:t>
            </a:r>
            <a:endParaRPr lang="en-US" sz="1150" dirty="0"/>
          </a:p>
        </p:txBody>
      </p:sp>
      <p:sp>
        <p:nvSpPr>
          <p:cNvPr id="30" name="Text 28"/>
          <p:cNvSpPr txBox="1"/>
          <p:nvPr/>
        </p:nvSpPr>
        <p:spPr>
          <a:xfrm>
            <a:off x="5806440" y="4965192"/>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31" name="Text 29"/>
          <p:cNvSpPr txBox="1"/>
          <p:nvPr/>
        </p:nvSpPr>
        <p:spPr>
          <a:xfrm>
            <a:off x="5806440" y="5212080"/>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breakdown() gắn cờ; không bảng nào trong báo cáo có số thiếu n</a:t>
            </a:r>
            <a:endParaRPr lang="en-US" sz="1150" dirty="0"/>
          </a:p>
        </p:txBody>
      </p:sp>
      <p:sp>
        <p:nvSpPr>
          <p:cNvPr id="32" name="Text 30"/>
          <p:cNvSpPr txBox="1"/>
          <p:nvPr/>
        </p:nvSpPr>
        <p:spPr>
          <a:xfrm>
            <a:off x="685800" y="5907024"/>
            <a:ext cx="10817352" cy="292608"/>
          </a:xfrm>
          <a:prstGeom prst="rect">
            <a:avLst/>
          </a:prstGeom>
          <a:noFill/>
          <a:ln/>
        </p:spPr>
        <p:txBody>
          <a:bodyPr wrap="square" lIns="0" tIns="0" rIns="0" bIns="0" rtlCol="0" anchor="t"/>
          <a:lstStyle/>
          <a:p>
            <a:pPr algn="ctr" indent="0" marL="0">
              <a:lnSpc>
                <a:spcPts val="1740"/>
              </a:lnSpc>
              <a:buNone/>
            </a:pPr>
            <a:r>
              <a:rPr lang="en-US" sz="1200" i="1" dirty="0">
                <a:solidFill>
                  <a:srgbClr val="8C491A"/>
                </a:solidFill>
                <a:latin typeface="Nunito" pitchFamily="34" charset="0"/>
                <a:ea typeface="Nunito" pitchFamily="34" charset="-122"/>
                <a:cs typeface="Nunito" pitchFamily="34" charset="-120"/>
              </a:rPr>
              <a:t>Bất biến thứ năm: demo không sinh ra con số nào — và điều đó do kernel bắt buộc, vì models/, data/, results/ được mount read-only.</a:t>
            </a:r>
            <a:endParaRPr lang="en-US" sz="120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Kiến trúc · Bất biến</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KIẾN TRÚC · QUYẾT ĐỊNH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Hai quyết định kỹ thuật đã đổi cả hệ thống</a:t>
            </a:r>
            <a:endParaRPr lang="en-US" sz="3400" dirty="0"/>
          </a:p>
        </p:txBody>
      </p:sp>
      <p:sp>
        <p:nvSpPr>
          <p:cNvPr id="4" name="Shape 2"/>
          <p:cNvSpPr/>
          <p:nvPr/>
        </p:nvSpPr>
        <p:spPr>
          <a:xfrm>
            <a:off x="685800" y="1691640"/>
            <a:ext cx="52852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920240"/>
            <a:ext cx="1828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ADR-003</a:t>
            </a:r>
            <a:endParaRPr lang="en-US" sz="950" dirty="0"/>
          </a:p>
        </p:txBody>
      </p:sp>
      <p:sp>
        <p:nvSpPr>
          <p:cNvPr id="6" name="Text 4"/>
          <p:cNvSpPr txBox="1"/>
          <p:nvPr/>
        </p:nvSpPr>
        <p:spPr>
          <a:xfrm>
            <a:off x="978408" y="2157984"/>
            <a:ext cx="466344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Tự cài cửa sổ trượt</a:t>
            </a:r>
            <a:endParaRPr lang="en-US" sz="1900" dirty="0"/>
          </a:p>
        </p:txBody>
      </p:sp>
      <p:sp>
        <p:nvSpPr>
          <p:cNvPr id="7" name="Text 5"/>
          <p:cNvSpPr txBox="1"/>
          <p:nvPr/>
        </p:nvSpPr>
        <p:spPr>
          <a:xfrm>
            <a:off x="978408" y="2578608"/>
            <a:ext cx="4663440" cy="54864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return_overflowing_tokens của transformers 5.17.0 sinh tối đa 2 cửa sổ, bất kể context dài bao nhiêu:</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978408" y="3200400"/>
          <a:ext cx="4663440" cy="914400"/>
        </p:xfrm>
        <a:graphic>
          <a:graphicData uri="http://schemas.openxmlformats.org/drawingml/2006/table">
            <a:tbl>
              <a:tblPr/>
              <a:tblGrid>
                <a:gridCol w="2286000"/>
                <a:gridCol w="1188720"/>
                <a:gridCol w="1188720"/>
              </a:tblGrid>
              <a:tr h="301752">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ĐỘ DÀI 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THỰC TẾ</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ĐÚNG RA</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210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420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700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1400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9" name="Text 6"/>
          <p:cNvSpPr txBox="1"/>
          <p:nvPr/>
        </p:nvSpPr>
        <p:spPr>
          <a:xfrm>
            <a:off x="978408" y="5029200"/>
            <a:ext cx="4663440" cy="548640"/>
          </a:xfrm>
          <a:prstGeom prst="rect">
            <a:avLst/>
          </a:prstGeom>
          <a:noFill/>
          <a:ln/>
        </p:spPr>
        <p:txBody>
          <a:bodyPr wrap="square" lIns="0" tIns="0" rIns="0" bIns="0" rtlCol="0" anchor="t"/>
          <a:lstStyle/>
          <a:p>
            <a:pPr algn="l" indent="0" marL="0">
              <a:lnSpc>
                <a:spcPts val="1740"/>
              </a:lnSpc>
              <a:buNone/>
            </a:pPr>
            <a:r>
              <a:rPr lang="en-US" sz="1200" b="1" dirty="0">
                <a:solidFill>
                  <a:srgbClr val="8C491A"/>
                </a:solidFill>
                <a:latin typeface="Nunito" pitchFamily="34" charset="0"/>
                <a:ea typeface="Nunito" pitchFamily="34" charset="-122"/>
                <a:cs typeface="Nunito" pitchFamily="34" charset="-120"/>
              </a:rPr>
              <a:t>Đuôi context bị cắt ÂM THẦM: không exception, không cảnh báo.</a:t>
            </a:r>
            <a:endParaRPr lang="en-US" sz="1200" dirty="0"/>
          </a:p>
        </p:txBody>
      </p:sp>
      <p:sp>
        <p:nvSpPr>
          <p:cNvPr id="10" name="Shape 7"/>
          <p:cNvSpPr/>
          <p:nvPr/>
        </p:nvSpPr>
        <p:spPr>
          <a:xfrm>
            <a:off x="6903720" y="1691640"/>
            <a:ext cx="45994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1" name="Text 8"/>
          <p:cNvSpPr txBox="1"/>
          <p:nvPr/>
        </p:nvSpPr>
        <p:spPr>
          <a:xfrm>
            <a:off x="7196328" y="1920240"/>
            <a:ext cx="2377440" cy="219456"/>
          </a:xfrm>
          <a:prstGeom prst="rect">
            <a:avLst/>
          </a:prstGeom>
          <a:noFill/>
          <a:ln/>
        </p:spPr>
        <p:txBody>
          <a:bodyPr wrap="square" lIns="0" tIns="0" rIns="0" bIns="0" rtlCol="0" anchor="ctr"/>
          <a:lstStyle/>
          <a:p>
            <a:pPr indent="0" marL="0">
              <a:buNone/>
            </a:pPr>
            <a:r>
              <a:rPr lang="en-US" sz="950" b="1" spc="160" kern="0" dirty="0">
                <a:solidFill>
                  <a:srgbClr val="7A8A5E"/>
                </a:solidFill>
                <a:latin typeface="Nunito" pitchFamily="34" charset="0"/>
                <a:ea typeface="Nunito" pitchFamily="34" charset="-122"/>
                <a:cs typeface="Nunito" pitchFamily="34" charset="-120"/>
              </a:rPr>
              <a:t>ADR-004 · ADR-005</a:t>
            </a:r>
            <a:endParaRPr lang="en-US" sz="950" dirty="0"/>
          </a:p>
        </p:txBody>
      </p:sp>
      <p:sp>
        <p:nvSpPr>
          <p:cNvPr id="12" name="Text 9"/>
          <p:cNvSpPr txBox="1"/>
          <p:nvPr/>
        </p:nvSpPr>
        <p:spPr>
          <a:xfrm>
            <a:off x="7196328" y="2157984"/>
            <a:ext cx="4023360" cy="685800"/>
          </a:xfrm>
          <a:prstGeom prst="rect">
            <a:avLst/>
          </a:prstGeom>
          <a:noFill/>
          <a:ln/>
        </p:spPr>
        <p:txBody>
          <a:bodyPr wrap="square" lIns="0" tIns="0" rIns="0" bIns="0" rtlCol="0" anchor="ctr"/>
          <a:lstStyle/>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Dấu tiếng Việt là</a:t>
            </a:r>
            <a:endParaRPr lang="en-US" sz="1900" dirty="0"/>
          </a:p>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ràng buộc cứng</a:t>
            </a:r>
            <a:endParaRPr lang="en-US" sz="1900" dirty="0"/>
          </a:p>
        </p:txBody>
      </p:sp>
      <p:sp>
        <p:nvSpPr>
          <p:cNvPr id="13" name="Text 10"/>
          <p:cNvSpPr txBox="1"/>
          <p:nvPr/>
        </p:nvSpPr>
        <p:spPr>
          <a:xfrm>
            <a:off x="7196328" y="2926080"/>
            <a:ext cx="40233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PhoBERT không có fast tokenizer ⇒ không có offset_mapping ⇒ cách duy nhất lấy lại chuỗi là tokenizer.decode().</a:t>
            </a:r>
            <a:endParaRPr lang="en-US" sz="1200" dirty="0"/>
          </a:p>
        </p:txBody>
      </p:sp>
      <p:sp>
        <p:nvSpPr>
          <p:cNvPr id="14" name="Shape 11"/>
          <p:cNvSpPr/>
          <p:nvPr/>
        </p:nvSpPr>
        <p:spPr>
          <a:xfrm>
            <a:off x="7196328" y="3703320"/>
            <a:ext cx="4023360" cy="548640"/>
          </a:xfrm>
          <a:prstGeom prst="roundRect">
            <a:avLst>
              <a:gd name="adj" fmla="val 23333"/>
            </a:avLst>
          </a:prstGeom>
          <a:solidFill>
            <a:srgbClr val="F0FAE1"/>
          </a:solidFill>
          <a:ln w="12700">
            <a:solidFill>
              <a:srgbClr val="F0FAE1"/>
            </a:solidFill>
            <a:prstDash val="solid"/>
          </a:ln>
        </p:spPr>
      </p:sp>
      <p:sp>
        <p:nvSpPr>
          <p:cNvPr id="15" name="Text 12"/>
          <p:cNvSpPr txBox="1"/>
          <p:nvPr/>
        </p:nvSpPr>
        <p:spPr>
          <a:xfrm>
            <a:off x="7360920" y="3703320"/>
            <a:ext cx="3749040" cy="548640"/>
          </a:xfrm>
          <a:prstGeom prst="rect">
            <a:avLst/>
          </a:prstGeom>
          <a:noFill/>
          <a:ln/>
        </p:spPr>
        <p:txBody>
          <a:bodyPr wrap="square" lIns="0" tIns="0" rIns="0" bIns="0" rtlCol="0" anchor="ctr"/>
          <a:lstStyle/>
          <a:p>
            <a:pPr indent="0" marL="0">
              <a:buNone/>
            </a:pPr>
            <a:r>
              <a:rPr lang="en-US" sz="1200" b="1" dirty="0">
                <a:solidFill>
                  <a:srgbClr val="3D472B"/>
                </a:solidFill>
                <a:latin typeface="Courier New" pitchFamily="34" charset="0"/>
                <a:ea typeface="Courier New" pitchFamily="34" charset="-122"/>
                <a:cs typeface="Courier New" pitchFamily="34" charset="-120"/>
              </a:rPr>
              <a:t>decode()  làm mất dấu:   "hoà" → "hoa"</a:t>
            </a:r>
            <a:endParaRPr lang="en-US" sz="1200" dirty="0"/>
          </a:p>
        </p:txBody>
      </p:sp>
      <p:sp>
        <p:nvSpPr>
          <p:cNvPr id="16" name="Text 13"/>
          <p:cNvSpPr txBox="1"/>
          <p:nvPr/>
        </p:nvSpPr>
        <p:spPr>
          <a:xfrm>
            <a:off x="7196328" y="4389120"/>
            <a:ext cx="4023360" cy="91440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Sai một dấu là sai cả EM lẫn bất biến substring. Nên hệ thống cắt thẳng chuỗi gốc theo offset ký tự — và TransformerQA TỪ CHỐI khởi tạo mô hình không có fast tokenizer.</a:t>
            </a:r>
            <a:endParaRPr lang="en-US" sz="1200" dirty="0"/>
          </a:p>
        </p:txBody>
      </p:sp>
      <p:sp>
        <p:nvSpPr>
          <p:cNvPr id="17" name="Text 14"/>
          <p:cNvSpPr txBox="1"/>
          <p:nvPr/>
        </p:nvSpPr>
        <p:spPr>
          <a:xfrm>
            <a:off x="7196328" y="5349240"/>
            <a:ext cx="4023360" cy="320040"/>
          </a:xfrm>
          <a:prstGeom prst="rect">
            <a:avLst/>
          </a:prstGeom>
          <a:noFill/>
          <a:ln/>
        </p:spPr>
        <p:txBody>
          <a:bodyPr wrap="square" lIns="0" tIns="0" rIns="0" bIns="0" rtlCol="0" anchor="t"/>
          <a:lstStyle/>
          <a:p>
            <a:pPr algn="l" indent="0" marL="0">
              <a:lnSpc>
                <a:spcPts val="1813"/>
              </a:lnSpc>
              <a:buNone/>
            </a:pPr>
            <a:r>
              <a:rPr lang="en-US" sz="1250" b="1" dirty="0">
                <a:solidFill>
                  <a:srgbClr val="3D472B"/>
                </a:solidFill>
                <a:latin typeface="Nunito" pitchFamily="34" charset="0"/>
                <a:ea typeface="Nunito" pitchFamily="34" charset="-122"/>
                <a:cs typeface="Nunito" pitchFamily="34" charset="-120"/>
              </a:rPr>
              <a:t>⇒ Thay PhoBERT bằng uitnlp/visobert</a:t>
            </a:r>
            <a:endParaRPr lang="en-US" sz="1250" dirty="0"/>
          </a:p>
        </p:txBody>
      </p:sp>
      <p:sp>
        <p:nvSpPr>
          <p:cNvPr id="18" name="Text 1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Kiến trúc · Quyết định kỹ thuật</a:t>
            </a:r>
            <a:endParaRPr lang="en-US" sz="1000" dirty="0"/>
          </a:p>
        </p:txBody>
      </p:sp>
      <p:sp>
        <p:nvSpPr>
          <p:cNvPr id="19" name="Text 1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KẾT QUẢ</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UIT-ViQuAD 2.0 · validation · n = 500 · thiết bị MPS</a:t>
            </a:r>
            <a:endParaRPr lang="en-US" sz="3400" dirty="0"/>
          </a:p>
        </p:txBody>
      </p:sp>
      <p:sp>
        <p:nvSpPr>
          <p:cNvPr id="4" name="Shape 2"/>
          <p:cNvSpPr/>
          <p:nvPr/>
        </p:nvSpPr>
        <p:spPr>
          <a:xfrm>
            <a:off x="685800" y="1645920"/>
            <a:ext cx="5989320" cy="3200400"/>
          </a:xfrm>
          <a:prstGeom prst="roundRect">
            <a:avLst>
              <a:gd name="adj" fmla="val 457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78408" y="1920240"/>
          <a:ext cx="5394960" cy="914400"/>
        </p:xfrm>
        <a:graphic>
          <a:graphicData uri="http://schemas.openxmlformats.org/drawingml/2006/table">
            <a:tbl>
              <a:tblPr/>
              <a:tblGrid>
                <a:gridCol w="2606040"/>
                <a:gridCol w="914400"/>
                <a:gridCol w="914400"/>
                <a:gridCol w="960120"/>
              </a:tblGrid>
              <a:tr h="493776">
                <a:tc>
                  <a:txBody>
                    <a:bodyPr/>
                    <a:lstStyle/>
                    <a:p>
                      <a:pPr algn="l" indent="0" marL="0">
                        <a:buNone/>
                      </a:pPr>
                      <a:r>
                        <a:rPr lang="en-US" sz="1000" b="1" spc="120" kern="0" dirty="0">
                          <a:solidFill>
                            <a:srgbClr val="645C50"/>
                          </a:solidFill>
                          <a:latin typeface="Nunito" pitchFamily="34" charset="0"/>
                          <a:ea typeface="Nunito" pitchFamily="34" charset="-122"/>
                          <a:cs typeface="Nunito" pitchFamily="34" charset="-120"/>
                        </a:rPr>
                        <a:t>MODEL</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EM</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F1</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LATENCY</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TF-IDF Baseline</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0,80</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23,09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0,54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ViSoBERT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27,80</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31,31</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22,73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XLM-R squad2 (zero-shot)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40,60</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56,84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14,35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b="1" dirty="0">
                          <a:solidFill>
                            <a:srgbClr val="201E1D"/>
                          </a:solidFill>
                          <a:latin typeface="Nunito" pitchFamily="34" charset="0"/>
                          <a:ea typeface="Nunito" pitchFamily="34" charset="-122"/>
                          <a:cs typeface="Nunito" pitchFamily="34" charset="-120"/>
                        </a:rPr>
                        <a:t>mBERT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50,80</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59,49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201E1D"/>
                          </a:solidFill>
                          <a:latin typeface="Nunito" pitchFamily="34" charset="0"/>
                          <a:ea typeface="Nunito" pitchFamily="34" charset="-122"/>
                          <a:cs typeface="Nunito" pitchFamily="34" charset="-120"/>
                        </a:rPr>
                        <a:t>12,26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graphicFrame>
        <p:nvGraphicFramePr>
          <p:cNvPr id="6" name="Chart 0" descr=""/>
          <p:cNvGraphicFramePr/>
          <p:nvPr/>
        </p:nvGraphicFramePr>
        <p:xfrm>
          <a:off x="6537960" y="1554480"/>
          <a:ext cx="5074920" cy="338328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685800" y="5166360"/>
            <a:ext cx="2560320" cy="426720"/>
          </a:xfrm>
          <a:prstGeom prst="rect">
            <a:avLst/>
          </a:prstGeom>
          <a:noFill/>
          <a:ln/>
        </p:spPr>
        <p:txBody>
          <a:bodyPr wrap="square" lIns="0" tIns="0" rIns="0" bIns="0" rtlCol="0" anchor="b"/>
          <a:lstStyle/>
          <a:p>
            <a:pPr indent="0" marL="0">
              <a:buNone/>
            </a:pPr>
            <a:r>
              <a:rPr lang="en-US" sz="2800" b="1" dirty="0">
                <a:solidFill>
                  <a:srgbClr val="C67139"/>
                </a:solidFill>
                <a:latin typeface="Baloo 2" pitchFamily="34" charset="0"/>
                <a:ea typeface="Baloo 2" pitchFamily="34" charset="-122"/>
                <a:cs typeface="Baloo 2" pitchFamily="34" charset="-120"/>
              </a:rPr>
              <a:t>50,80</a:t>
            </a:r>
            <a:pPr indent="0" marL="0">
              <a:buNone/>
            </a:pPr>
            <a:endParaRPr lang="en-US" sz="2800" dirty="0"/>
          </a:p>
        </p:txBody>
      </p:sp>
      <p:sp>
        <p:nvSpPr>
          <p:cNvPr id="8" name="Text 4"/>
          <p:cNvSpPr txBox="1"/>
          <p:nvPr/>
        </p:nvSpPr>
        <p:spPr>
          <a:xfrm>
            <a:off x="6858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EM cao nhất — mBERT fine-tuned</a:t>
            </a:r>
            <a:endParaRPr lang="en-US" sz="1150" dirty="0"/>
          </a:p>
        </p:txBody>
      </p:sp>
      <p:sp>
        <p:nvSpPr>
          <p:cNvPr id="9" name="Text 5"/>
          <p:cNvSpPr txBox="1"/>
          <p:nvPr/>
        </p:nvSpPr>
        <p:spPr>
          <a:xfrm>
            <a:off x="3429000" y="5166360"/>
            <a:ext cx="2560320" cy="426720"/>
          </a:xfrm>
          <a:prstGeom prst="rect">
            <a:avLst/>
          </a:prstGeom>
          <a:noFill/>
          <a:ln/>
        </p:spPr>
        <p:txBody>
          <a:bodyPr wrap="square" lIns="0" tIns="0" rIns="0" bIns="0" rtlCol="0" anchor="b"/>
          <a:lstStyle/>
          <a:p>
            <a:pPr indent="0" marL="0">
              <a:buNone/>
            </a:pPr>
            <a:r>
              <a:rPr lang="en-US" sz="2800" b="1" dirty="0">
                <a:solidFill>
                  <a:srgbClr val="7A8A5E"/>
                </a:solidFill>
                <a:latin typeface="Baloo 2" pitchFamily="34" charset="0"/>
                <a:ea typeface="Baloo 2" pitchFamily="34" charset="-122"/>
                <a:cs typeface="Baloo 2" pitchFamily="34" charset="-120"/>
              </a:rPr>
              <a:t>±4,3</a:t>
            </a:r>
            <a:pPr indent="0" marL="0">
              <a:buNone/>
            </a:pPr>
            <a:endParaRPr lang="en-US" sz="2800" dirty="0"/>
          </a:p>
        </p:txBody>
      </p:sp>
      <p:sp>
        <p:nvSpPr>
          <p:cNvPr id="10" name="Text 6"/>
          <p:cNvSpPr txBox="1"/>
          <p:nvPr/>
        </p:nvSpPr>
        <p:spPr>
          <a:xfrm>
            <a:off x="34290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khoảng tin cậy 95% ở n = 500</a:t>
            </a:r>
            <a:endParaRPr lang="en-US" sz="1150" dirty="0"/>
          </a:p>
        </p:txBody>
      </p:sp>
      <p:sp>
        <p:nvSpPr>
          <p:cNvPr id="11" name="Text 7"/>
          <p:cNvSpPr txBox="1"/>
          <p:nvPr/>
        </p:nvSpPr>
        <p:spPr>
          <a:xfrm>
            <a:off x="61722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27,80</a:t>
            </a:r>
            <a:pPr indent="0" marL="0">
              <a:buNone/>
            </a:pPr>
            <a:endParaRPr lang="en-US" sz="2800" dirty="0"/>
          </a:p>
        </p:txBody>
      </p:sp>
      <p:sp>
        <p:nvSpPr>
          <p:cNvPr id="12" name="Text 8"/>
          <p:cNvSpPr txBox="1"/>
          <p:nvPr/>
        </p:nvSpPr>
        <p:spPr>
          <a:xfrm>
            <a:off x="61722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 câu impossible trong mẫu</a:t>
            </a:r>
            <a:endParaRPr lang="en-US" sz="1150" dirty="0"/>
          </a:p>
        </p:txBody>
      </p:sp>
      <p:sp>
        <p:nvSpPr>
          <p:cNvPr id="13" name="Text 9"/>
          <p:cNvSpPr txBox="1"/>
          <p:nvPr/>
        </p:nvSpPr>
        <p:spPr>
          <a:xfrm>
            <a:off x="89154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4</a:t>
            </a:r>
            <a:pPr indent="0" marL="0">
              <a:buNone/>
            </a:pPr>
            <a:endParaRPr lang="en-US" sz="2800" dirty="0"/>
          </a:p>
        </p:txBody>
      </p:sp>
      <p:sp>
        <p:nvSpPr>
          <p:cNvPr id="14" name="Text 10"/>
          <p:cNvSpPr txBox="1"/>
          <p:nvPr/>
        </p:nvSpPr>
        <p:spPr>
          <a:xfrm>
            <a:off x="89154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commit truy vết được cho 4 kết quả</a:t>
            </a:r>
            <a:endParaRPr lang="en-US" sz="1150" dirty="0"/>
          </a:p>
        </p:txBody>
      </p:sp>
      <p:sp>
        <p:nvSpPr>
          <p:cNvPr id="15"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Kết quả · results/eval_*.json · commit 590e775, c63b28c</a:t>
            </a:r>
            <a:endParaRPr lang="en-US" sz="1000" dirty="0"/>
          </a:p>
        </p:txBody>
      </p:sp>
      <p:sp>
        <p:nvSpPr>
          <p:cNvPr id="16"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PHÁT HIỆN 2</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mBERT thắng KHÔNG phải vì tìm span giỏi hơn</a:t>
            </a:r>
            <a:endParaRPr lang="en-US" sz="3400" dirty="0"/>
          </a:p>
        </p:txBody>
      </p:sp>
      <p:graphicFrame>
        <p:nvGraphicFramePr>
          <p:cNvPr id="4" name="Chart 0" descr=""/>
          <p:cNvGraphicFramePr/>
          <p:nvPr/>
        </p:nvGraphicFramePr>
        <p:xfrm>
          <a:off x="548640" y="1554480"/>
          <a:ext cx="630936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903720" y="1691640"/>
            <a:ext cx="4599432" cy="1828800"/>
          </a:xfrm>
          <a:prstGeom prst="roundRect">
            <a:avLst>
              <a:gd name="adj" fmla="val 800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6" name="Text 3"/>
          <p:cNvSpPr txBox="1"/>
          <p:nvPr/>
        </p:nvSpPr>
        <p:spPr>
          <a:xfrm>
            <a:off x="7196328" y="193852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Trên câu answerable, XLM-R zero-shot thực ra TỐT HƠN</a:t>
            </a:r>
            <a:endParaRPr lang="en-US" sz="1400" dirty="0"/>
          </a:p>
        </p:txBody>
      </p:sp>
      <p:sp>
        <p:nvSpPr>
          <p:cNvPr id="7" name="Text 4"/>
          <p:cNvSpPr txBox="1"/>
          <p:nvPr/>
        </p:nvSpPr>
        <p:spPr>
          <a:xfrm>
            <a:off x="7196328" y="2542032"/>
            <a:ext cx="4023360" cy="365760"/>
          </a:xfrm>
          <a:prstGeom prst="rect">
            <a:avLst/>
          </a:prstGeom>
          <a:noFill/>
          <a:ln/>
        </p:spPr>
        <p:txBody>
          <a:bodyPr wrap="square" lIns="0" tIns="0" rIns="0" bIns="0" rtlCol="0" anchor="ctr"/>
          <a:lstStyle/>
          <a:p>
            <a:pPr indent="0" marL="0">
              <a:buNone/>
            </a:pPr>
            <a:r>
              <a:rPr lang="en-US" sz="2200" b="1" dirty="0">
                <a:solidFill>
                  <a:srgbClr val="8C491A"/>
                </a:solidFill>
                <a:latin typeface="Baloo 2" pitchFamily="34" charset="0"/>
                <a:ea typeface="Baloo 2" pitchFamily="34" charset="-122"/>
                <a:cs typeface="Baloo 2" pitchFamily="34" charset="-120"/>
              </a:rPr>
              <a:t>F1  68,20   so với   66,60</a:t>
            </a:r>
            <a:endParaRPr lang="en-US" sz="2200" dirty="0"/>
          </a:p>
        </p:txBody>
      </p:sp>
      <p:sp>
        <p:nvSpPr>
          <p:cNvPr id="8" name="Text 5"/>
          <p:cNvSpPr txBox="1"/>
          <p:nvPr/>
        </p:nvSpPr>
        <p:spPr>
          <a:xfrm>
            <a:off x="7196328" y="2971800"/>
            <a:ext cx="4023360" cy="45720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 nhưng chênh lệch 1,60 điểm này nằm gọn trong nhiễu, nên không phải kết luận vững.</a:t>
            </a:r>
            <a:endParaRPr lang="en-US" sz="1150" dirty="0"/>
          </a:p>
        </p:txBody>
      </p:sp>
      <p:sp>
        <p:nvSpPr>
          <p:cNvPr id="9" name="Shape 6"/>
          <p:cNvSpPr/>
          <p:nvPr/>
        </p:nvSpPr>
        <p:spPr>
          <a:xfrm>
            <a:off x="6903720" y="3703320"/>
            <a:ext cx="4599432" cy="2103120"/>
          </a:xfrm>
          <a:prstGeom prst="roundRect">
            <a:avLst>
              <a:gd name="adj" fmla="val 6957"/>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10" name="Text 7"/>
          <p:cNvSpPr txBox="1"/>
          <p:nvPr/>
        </p:nvSpPr>
        <p:spPr>
          <a:xfrm>
            <a:off x="7196328" y="395020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3D472B"/>
                </a:solidFill>
                <a:latin typeface="Nunito" pitchFamily="34" charset="0"/>
                <a:ea typeface="Nunito" pitchFamily="34" charset="-122"/>
                <a:cs typeface="Nunito" pitchFamily="34" charset="-120"/>
              </a:rPr>
              <a:t>mBERT thắng tổng thể vì biết khi nào KHÔNG nên trả lời</a:t>
            </a:r>
            <a:endParaRPr lang="en-US" sz="1400" dirty="0"/>
          </a:p>
        </p:txBody>
      </p:sp>
      <p:sp>
        <p:nvSpPr>
          <p:cNvPr id="11" name="Text 8"/>
          <p:cNvSpPr txBox="1"/>
          <p:nvPr/>
        </p:nvSpPr>
        <p:spPr>
          <a:xfrm>
            <a:off x="7196328" y="4526280"/>
            <a:ext cx="4023360" cy="365760"/>
          </a:xfrm>
          <a:prstGeom prst="rect">
            <a:avLst/>
          </a:prstGeom>
          <a:noFill/>
          <a:ln/>
        </p:spPr>
        <p:txBody>
          <a:bodyPr wrap="square" lIns="0" tIns="0" rIns="0" bIns="0" rtlCol="0" anchor="ctr"/>
          <a:lstStyle/>
          <a:p>
            <a:pPr indent="0" marL="0">
              <a:buNone/>
            </a:pPr>
            <a:r>
              <a:rPr lang="en-US" sz="1900" b="1" dirty="0">
                <a:solidFill>
                  <a:srgbClr val="3D472B"/>
                </a:solidFill>
                <a:latin typeface="Baloo 2" pitchFamily="34" charset="0"/>
                <a:ea typeface="Baloo 2" pitchFamily="34" charset="-122"/>
                <a:cs typeface="Baloo 2" pitchFamily="34" charset="-120"/>
              </a:rPr>
              <a:t>impossible EM  41,01  so với  27,34</a:t>
            </a:r>
            <a:endParaRPr lang="en-US" sz="1900" dirty="0"/>
          </a:p>
        </p:txBody>
      </p:sp>
      <p:sp>
        <p:nvSpPr>
          <p:cNvPr id="12" name="Text 9"/>
          <p:cNvSpPr txBox="1"/>
          <p:nvPr/>
        </p:nvSpPr>
        <p:spPr>
          <a:xfrm>
            <a:off x="7196328" y="4956048"/>
            <a:ext cx="4023360" cy="68580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+13,67 điểm ± 11,03 — có ý nghĩa thống kê. Với ~30% câu là unanswerable, chính kỹ năng thứ hai quyết định bảng xếp hạng.</a:t>
            </a:r>
            <a:endParaRPr lang="en-US" sz="1150" dirty="0"/>
          </a:p>
        </p:txBody>
      </p:sp>
      <p:sp>
        <p:nvSpPr>
          <p:cNvPr id="13" name="Text 10"/>
          <p:cNvSpPr txBox="1"/>
          <p:nvPr/>
        </p:nvSpPr>
        <p:spPr>
          <a:xfrm>
            <a:off x="685800" y="5870448"/>
            <a:ext cx="10817352" cy="365760"/>
          </a:xfrm>
          <a:prstGeom prst="rect">
            <a:avLst/>
          </a:prstGeom>
          <a:noFill/>
          <a:ln/>
        </p:spPr>
        <p:txBody>
          <a:bodyPr wrap="square" lIns="0" tIns="0" rIns="0" bIns="0" rtlCol="0" anchor="t"/>
          <a:lstStyle/>
          <a:p>
            <a:pPr algn="ctr" indent="0" marL="0">
              <a:lnSpc>
                <a:spcPts val="1813"/>
              </a:lnSpc>
              <a:buNone/>
            </a:pPr>
            <a:r>
              <a:rPr lang="en-US" sz="1250" i="1" dirty="0">
                <a:solidFill>
                  <a:srgbClr val="645C50"/>
                </a:solidFill>
                <a:latin typeface="Nunito" pitchFamily="34" charset="0"/>
                <a:ea typeface="Nunito" pitchFamily="34" charset="-122"/>
                <a:cs typeface="Nunito" pitchFamily="34" charset="-120"/>
              </a:rPr>
              <a:t>Đây là lý do báo cáo tách answerable_only và impossible_only — con số tổng trộn hai kỹ năng và che mất điều này.</a:t>
            </a:r>
            <a:endParaRPr lang="en-US" sz="1250" dirty="0"/>
          </a:p>
        </p:txBody>
      </p:sp>
      <p:sp>
        <p:nvSpPr>
          <p:cNvPr id="14"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Phát hiện · Hai kỹ năng khác nhau</a:t>
            </a:r>
            <a:endParaRPr lang="en-US" sz="1000" dirty="0"/>
          </a:p>
        </p:txBody>
      </p:sp>
      <p:sp>
        <p:nvSpPr>
          <p:cNvPr id="15"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PHÁT HIỆN 3</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ViSoBERT suy sụp về “luôn trả lời rỗng”</a:t>
            </a:r>
            <a:endParaRPr lang="en-US" sz="3400" dirty="0"/>
          </a:p>
        </p:txBody>
      </p:sp>
      <p:sp>
        <p:nvSpPr>
          <p:cNvPr id="4" name="Shape 2"/>
          <p:cNvSpPr/>
          <p:nvPr/>
        </p:nvSpPr>
        <p:spPr>
          <a:xfrm>
            <a:off x="685800" y="1691640"/>
            <a:ext cx="5120640" cy="2194560"/>
          </a:xfrm>
          <a:prstGeom prst="roundRect">
            <a:avLst>
              <a:gd name="adj" fmla="val 6667"/>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1005840" y="1965960"/>
            <a:ext cx="4572000" cy="457200"/>
          </a:xfrm>
          <a:prstGeom prst="rect">
            <a:avLst/>
          </a:prstGeom>
          <a:noFill/>
          <a:ln/>
        </p:spPr>
        <p:txBody>
          <a:bodyPr wrap="square" lIns="0" tIns="0" rIns="0" bIns="0" rtlCol="0" anchor="ctr"/>
          <a:lstStyle/>
          <a:p>
            <a:pPr indent="0" marL="0">
              <a:buNone/>
            </a:pPr>
            <a:r>
              <a:rPr lang="en-US" sz="2600" b="1" dirty="0">
                <a:solidFill>
                  <a:srgbClr val="8C491A"/>
                </a:solidFill>
                <a:latin typeface="Baloo 2" pitchFamily="34" charset="0"/>
                <a:ea typeface="Baloo 2" pitchFamily="34" charset="-122"/>
                <a:cs typeface="Baloo 2" pitchFamily="34" charset="-120"/>
              </a:rPr>
              <a:t>EM tổng  27,80</a:t>
            </a:r>
            <a:endParaRPr lang="en-US" sz="2600" dirty="0"/>
          </a:p>
        </p:txBody>
      </p:sp>
      <p:sp>
        <p:nvSpPr>
          <p:cNvPr id="6" name="Text 4"/>
          <p:cNvSpPr txBox="1"/>
          <p:nvPr/>
        </p:nvSpPr>
        <p:spPr>
          <a:xfrm>
            <a:off x="1005840" y="2450592"/>
            <a:ext cx="4572000" cy="274320"/>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a:t>
            </a:r>
            <a:endParaRPr lang="en-US" sz="1600" dirty="0"/>
          </a:p>
        </p:txBody>
      </p:sp>
      <p:sp>
        <p:nvSpPr>
          <p:cNvPr id="7" name="Text 5"/>
          <p:cNvSpPr txBox="1"/>
          <p:nvPr/>
        </p:nvSpPr>
        <p:spPr>
          <a:xfrm>
            <a:off x="1005840" y="2743200"/>
            <a:ext cx="4572000" cy="457200"/>
          </a:xfrm>
          <a:prstGeom prst="rect">
            <a:avLst/>
          </a:prstGeom>
          <a:noFill/>
          <a:ln/>
        </p:spPr>
        <p:txBody>
          <a:bodyPr wrap="square" lIns="0" tIns="0" rIns="0" bIns="0" rtlCol="0" anchor="ctr"/>
          <a:lstStyle/>
          <a:p>
            <a:pPr indent="0" marL="0">
              <a:buNone/>
            </a:pPr>
            <a:r>
              <a:rPr lang="en-US" sz="2200" b="1" dirty="0">
                <a:solidFill>
                  <a:srgbClr val="8C491A"/>
                </a:solidFill>
                <a:latin typeface="Baloo 2" pitchFamily="34" charset="0"/>
                <a:ea typeface="Baloo 2" pitchFamily="34" charset="-122"/>
                <a:cs typeface="Baloo 2" pitchFamily="34" charset="-120"/>
              </a:rPr>
              <a:t>tỉ lệ impossible của mẫu  27,80%</a:t>
            </a:r>
            <a:endParaRPr lang="en-US" sz="2200" dirty="0"/>
          </a:p>
        </p:txBody>
      </p:sp>
      <p:sp>
        <p:nvSpPr>
          <p:cNvPr id="8" name="Text 6"/>
          <p:cNvSpPr txBox="1"/>
          <p:nvPr/>
        </p:nvSpPr>
        <p:spPr>
          <a:xfrm>
            <a:off x="1005840" y="3310128"/>
            <a:ext cx="4572000" cy="320040"/>
          </a:xfrm>
          <a:prstGeom prst="rect">
            <a:avLst/>
          </a:prstGeom>
          <a:noFill/>
          <a:ln/>
        </p:spPr>
        <p:txBody>
          <a:bodyPr wrap="square" lIns="0" tIns="0" rIns="0" bIns="0" rtlCol="0" anchor="t"/>
          <a:lstStyle/>
          <a:p>
            <a:pPr algn="l" indent="0" marL="0">
              <a:lnSpc>
                <a:spcPts val="1740"/>
              </a:lnSpc>
              <a:buNone/>
            </a:pPr>
            <a:r>
              <a:rPr lang="en-US" sz="1200" i="1" dirty="0">
                <a:solidFill>
                  <a:srgbClr val="8C491A"/>
                </a:solidFill>
                <a:latin typeface="Nunito" pitchFamily="34" charset="0"/>
                <a:ea typeface="Nunito" pitchFamily="34" charset="-122"/>
                <a:cs typeface="Nunito" pitchFamily="34" charset="-120"/>
              </a:rPr>
              <a:t>Hai con số trùng nhau không phải trùng hợp.</a:t>
            </a:r>
            <a:endParaRPr lang="en-US" sz="1200" dirty="0"/>
          </a:p>
        </p:txBody>
      </p:sp>
      <p:sp>
        <p:nvSpPr>
          <p:cNvPr id="9" name="Shape 7"/>
          <p:cNvSpPr/>
          <p:nvPr/>
        </p:nvSpPr>
        <p:spPr>
          <a:xfrm>
            <a:off x="6126480" y="1691640"/>
            <a:ext cx="5376672" cy="2194560"/>
          </a:xfrm>
          <a:prstGeom prst="roundRect">
            <a:avLst>
              <a:gd name="adj" fmla="val 6667"/>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Text 8"/>
          <p:cNvSpPr txBox="1"/>
          <p:nvPr/>
        </p:nvSpPr>
        <p:spPr>
          <a:xfrm>
            <a:off x="6419088" y="1920240"/>
            <a:ext cx="274320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BÓC TÁCH RA</a:t>
            </a:r>
            <a:endParaRPr lang="en-US" sz="950" dirty="0"/>
          </a:p>
        </p:txBody>
      </p:sp>
      <p:sp>
        <p:nvSpPr>
          <p:cNvPr id="11" name="Text 9"/>
          <p:cNvSpPr txBox="1"/>
          <p:nvPr/>
        </p:nvSpPr>
        <p:spPr>
          <a:xfrm>
            <a:off x="6419088" y="2240280"/>
            <a:ext cx="2377440" cy="457200"/>
          </a:xfrm>
          <a:prstGeom prst="rect">
            <a:avLst/>
          </a:prstGeom>
          <a:noFill/>
          <a:ln/>
        </p:spPr>
        <p:txBody>
          <a:bodyPr wrap="square" lIns="0" tIns="0" rIns="0" bIns="0" rtlCol="0" anchor="b"/>
          <a:lstStyle/>
          <a:p>
            <a:pPr indent="0" marL="0">
              <a:buNone/>
            </a:pPr>
            <a:r>
              <a:rPr lang="en-US" sz="3000" b="1" dirty="0">
                <a:solidFill>
                  <a:srgbClr val="7A8A5E"/>
                </a:solidFill>
                <a:latin typeface="Baloo 2" pitchFamily="34" charset="0"/>
                <a:ea typeface="Baloo 2" pitchFamily="34" charset="-122"/>
                <a:cs typeface="Baloo 2" pitchFamily="34" charset="-120"/>
              </a:rPr>
              <a:t>82,01</a:t>
            </a:r>
            <a:pPr indent="0" marL="0">
              <a:buNone/>
            </a:pPr>
            <a:endParaRPr lang="en-US" sz="3000" dirty="0"/>
          </a:p>
        </p:txBody>
      </p:sp>
      <p:sp>
        <p:nvSpPr>
          <p:cNvPr id="12" name="Text 10"/>
          <p:cNvSpPr txBox="1"/>
          <p:nvPr/>
        </p:nvSpPr>
        <p:spPr>
          <a:xfrm>
            <a:off x="6419088" y="2679192"/>
            <a:ext cx="237744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impossible EM — gần như chỉ ăn điểm</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từ việc từ chối trả lời</a:t>
            </a:r>
            <a:endParaRPr lang="en-US" sz="1150" dirty="0"/>
          </a:p>
        </p:txBody>
      </p:sp>
      <p:sp>
        <p:nvSpPr>
          <p:cNvPr id="13" name="Text 11"/>
          <p:cNvSpPr txBox="1"/>
          <p:nvPr/>
        </p:nvSpPr>
        <p:spPr>
          <a:xfrm>
            <a:off x="9006840" y="2240280"/>
            <a:ext cx="2377440" cy="457200"/>
          </a:xfrm>
          <a:prstGeom prst="rect">
            <a:avLst/>
          </a:prstGeom>
          <a:noFill/>
          <a:ln/>
        </p:spPr>
        <p:txBody>
          <a:bodyPr wrap="square" lIns="0" tIns="0" rIns="0" bIns="0" rtlCol="0" anchor="b"/>
          <a:lstStyle/>
          <a:p>
            <a:pPr indent="0" marL="0">
              <a:buNone/>
            </a:pPr>
            <a:r>
              <a:rPr lang="en-US" sz="3000" b="1" dirty="0">
                <a:solidFill>
                  <a:srgbClr val="C67139"/>
                </a:solidFill>
                <a:latin typeface="Baloo 2" pitchFamily="34" charset="0"/>
                <a:ea typeface="Baloo 2" pitchFamily="34" charset="-122"/>
                <a:cs typeface="Baloo 2" pitchFamily="34" charset="-120"/>
              </a:rPr>
              <a:t>6,93</a:t>
            </a:r>
            <a:pPr indent="0" marL="0">
              <a:buNone/>
            </a:pPr>
            <a:endParaRPr lang="en-US" sz="3000" dirty="0"/>
          </a:p>
        </p:txBody>
      </p:sp>
      <p:sp>
        <p:nvSpPr>
          <p:cNvPr id="14" name="Text 12"/>
          <p:cNvSpPr txBox="1"/>
          <p:nvPr/>
        </p:nvSpPr>
        <p:spPr>
          <a:xfrm>
            <a:off x="9006840" y="2679192"/>
            <a:ext cx="237744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answerable EM — nó hầu như</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không tìm được span nào</a:t>
            </a:r>
            <a:endParaRPr lang="en-US" sz="1150" dirty="0"/>
          </a:p>
        </p:txBody>
      </p:sp>
      <p:sp>
        <p:nvSpPr>
          <p:cNvPr id="15" name="Shape 13"/>
          <p:cNvSpPr/>
          <p:nvPr/>
        </p:nvSpPr>
        <p:spPr>
          <a:xfrm>
            <a:off x="685800" y="4069080"/>
            <a:ext cx="10817352" cy="1691640"/>
          </a:xfrm>
          <a:prstGeom prst="roundRect">
            <a:avLst>
              <a:gd name="adj" fmla="val 8649"/>
            </a:avLst>
          </a:prstGeom>
          <a:solidFill>
            <a:srgbClr val="EBDDC5"/>
          </a:solidFill>
          <a:ln w="12700">
            <a:solidFill>
              <a:srgbClr val="EBDDC5"/>
            </a:solidFill>
            <a:prstDash val="solid"/>
          </a:ln>
        </p:spPr>
      </p:sp>
      <p:sp>
        <p:nvSpPr>
          <p:cNvPr id="16" name="Text 14"/>
          <p:cNvSpPr txBox="1"/>
          <p:nvPr/>
        </p:nvSpPr>
        <p:spPr>
          <a:xfrm>
            <a:off x="1005840" y="4279392"/>
            <a:ext cx="54864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DẤU HIỆU XUẤT HIỆN NGAY TRÊN ĐƯỜNG CONG HUẤN LUYỆN</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05840" y="4572000"/>
          <a:ext cx="10149840" cy="914400"/>
        </p:xfrm>
        <a:graphic>
          <a:graphicData uri="http://schemas.openxmlformats.org/drawingml/2006/table">
            <a:tbl>
              <a:tblPr/>
              <a:tblGrid>
                <a:gridCol w="1645920"/>
                <a:gridCol w="1645920"/>
                <a:gridCol w="1463040"/>
                <a:gridCol w="1463040"/>
                <a:gridCol w="3931920"/>
              </a:tblGrid>
              <a:tr h="274320">
                <a:tc>
                  <a:txBody>
                    <a:bodyPr/>
                    <a:lstStyle/>
                    <a:p>
                      <a:pPr algn="l" indent="0" marL="0">
                        <a:buNone/>
                      </a:pPr>
                      <a:r>
                        <a:rPr lang="en-US" sz="900" b="1" spc="120" kern="0" dirty="0">
                          <a:solidFill>
                            <a:srgbClr val="645C50"/>
                          </a:solidFill>
                          <a:latin typeface="Nunito" pitchFamily="34" charset="0"/>
                          <a:ea typeface="Nunito" pitchFamily="34" charset="-122"/>
                          <a:cs typeface="Nunito" pitchFamily="34" charset="-120"/>
                        </a:rPr>
                        <a:t>VISOBERT</a:t>
                      </a:r>
                      <a:endParaRPr lang="en-US" sz="9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00" b="1" spc="120" kern="0" dirty="0">
                          <a:solidFill>
                            <a:srgbClr val="645C50"/>
                          </a:solidFill>
                          <a:latin typeface="Nunito" pitchFamily="34" charset="0"/>
                          <a:ea typeface="Nunito" pitchFamily="34" charset="-122"/>
                          <a:cs typeface="Nunito" pitchFamily="34" charset="-120"/>
                        </a:rPr>
                        <a:t>TRAIN LOSS</a:t>
                      </a:r>
                      <a:endParaRPr lang="en-US" sz="9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00" b="1" spc="120" kern="0" dirty="0">
                          <a:solidFill>
                            <a:srgbClr val="645C50"/>
                          </a:solidFill>
                          <a:latin typeface="Nunito" pitchFamily="34" charset="0"/>
                          <a:ea typeface="Nunito" pitchFamily="34" charset="-122"/>
                          <a:cs typeface="Nunito" pitchFamily="34" charset="-120"/>
                        </a:rPr>
                        <a:t>VAL EM</a:t>
                      </a:r>
                      <a:endParaRPr lang="en-US" sz="9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00" b="1" spc="120" kern="0" dirty="0">
                          <a:solidFill>
                            <a:srgbClr val="645C50"/>
                          </a:solidFill>
                          <a:latin typeface="Nunito" pitchFamily="34" charset="0"/>
                          <a:ea typeface="Nunito" pitchFamily="34" charset="-122"/>
                          <a:cs typeface="Nunito" pitchFamily="34" charset="-120"/>
                        </a:rPr>
                        <a:t>VAL F1</a:t>
                      </a:r>
                      <a:endParaRPr lang="en-US" sz="9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00" b="1" spc="120" kern="0" dirty="0">
                          <a:solidFill>
                            <a:srgbClr val="645C50"/>
                          </a:solidFill>
                          <a:latin typeface="Nunito" pitchFamily="34" charset="0"/>
                          <a:ea typeface="Nunito" pitchFamily="34" charset="-122"/>
                          <a:cs typeface="Nunito" pitchFamily="34" charset="-120"/>
                        </a:rPr>
                        <a:t>CHẨN ĐOÁN</a:t>
                      </a:r>
                      <a:endParaRPr lang="en-US" sz="9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150" dirty="0">
                          <a:solidFill>
                            <a:srgbClr val="201E1D"/>
                          </a:solidFill>
                          <a:latin typeface="Nunito" pitchFamily="34" charset="0"/>
                          <a:ea typeface="Nunito" pitchFamily="34" charset="-122"/>
                          <a:cs typeface="Nunito" pitchFamily="34" charset="-120"/>
                        </a:rPr>
                        <a:t>epoch 1</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201E1D"/>
                          </a:solidFill>
                          <a:latin typeface="Nunito" pitchFamily="34" charset="0"/>
                          <a:ea typeface="Nunito" pitchFamily="34" charset="-122"/>
                          <a:cs typeface="Nunito" pitchFamily="34" charset="-120"/>
                        </a:rPr>
                        <a:t>3,0512</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201E1D"/>
                          </a:solidFill>
                          <a:latin typeface="Nunito" pitchFamily="34" charset="0"/>
                          <a:ea typeface="Nunito" pitchFamily="34" charset="-122"/>
                          <a:cs typeface="Nunito" pitchFamily="34" charset="-120"/>
                        </a:rPr>
                        <a:t>25,67</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201E1D"/>
                          </a:solidFill>
                          <a:latin typeface="Nunito" pitchFamily="34" charset="0"/>
                          <a:ea typeface="Nunito" pitchFamily="34" charset="-122"/>
                          <a:cs typeface="Nunito" pitchFamily="34" charset="-120"/>
                        </a:rPr>
                        <a:t>25,67</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8C491A"/>
                          </a:solidFill>
                          <a:latin typeface="Nunito" pitchFamily="34" charset="0"/>
                          <a:ea typeface="Nunito" pitchFamily="34" charset="-122"/>
                          <a:cs typeface="Nunito" pitchFamily="34" charset="-120"/>
                        </a:rPr>
                        <a:t>EM = F1 → suy sụp</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50" dirty="0">
                          <a:solidFill>
                            <a:srgbClr val="201E1D"/>
                          </a:solidFill>
                          <a:latin typeface="Nunito" pitchFamily="34" charset="0"/>
                          <a:ea typeface="Nunito" pitchFamily="34" charset="-122"/>
                          <a:cs typeface="Nunito" pitchFamily="34" charset="-120"/>
                        </a:rPr>
                        <a:t>epoch 2</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201E1D"/>
                          </a:solidFill>
                          <a:latin typeface="Nunito" pitchFamily="34" charset="0"/>
                          <a:ea typeface="Nunito" pitchFamily="34" charset="-122"/>
                          <a:cs typeface="Nunito" pitchFamily="34" charset="-120"/>
                        </a:rPr>
                        <a:t>2,5678</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201E1D"/>
                          </a:solidFill>
                          <a:latin typeface="Nunito" pitchFamily="34" charset="0"/>
                          <a:ea typeface="Nunito" pitchFamily="34" charset="-122"/>
                          <a:cs typeface="Nunito" pitchFamily="34" charset="-120"/>
                        </a:rPr>
                        <a:t>25,33</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201E1D"/>
                          </a:solidFill>
                          <a:latin typeface="Nunito" pitchFamily="34" charset="0"/>
                          <a:ea typeface="Nunito" pitchFamily="34" charset="-122"/>
                          <a:cs typeface="Nunito" pitchFamily="34" charset="-120"/>
                        </a:rPr>
                        <a:t>25,61</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8C491A"/>
                          </a:solidFill>
                          <a:latin typeface="Nunito" pitchFamily="34" charset="0"/>
                          <a:ea typeface="Nunito" pitchFamily="34" charset="-122"/>
                          <a:cs typeface="Nunito" pitchFamily="34" charset="-120"/>
                        </a:rPr>
                        <a:t>EM ≈ F1 → suy sụp</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50" dirty="0">
                          <a:solidFill>
                            <a:srgbClr val="201E1D"/>
                          </a:solidFill>
                          <a:latin typeface="Nunito" pitchFamily="34" charset="0"/>
                          <a:ea typeface="Nunito" pitchFamily="34" charset="-122"/>
                          <a:cs typeface="Nunito" pitchFamily="34" charset="-120"/>
                        </a:rPr>
                        <a:t>epoch 3</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201E1D"/>
                          </a:solidFill>
                          <a:latin typeface="Nunito" pitchFamily="34" charset="0"/>
                          <a:ea typeface="Nunito" pitchFamily="34" charset="-122"/>
                          <a:cs typeface="Nunito" pitchFamily="34" charset="-120"/>
                        </a:rPr>
                        <a:t>2,1908</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201E1D"/>
                          </a:solidFill>
                          <a:latin typeface="Nunito" pitchFamily="34" charset="0"/>
                          <a:ea typeface="Nunito" pitchFamily="34" charset="-122"/>
                          <a:cs typeface="Nunito" pitchFamily="34" charset="-120"/>
                        </a:rPr>
                        <a:t>27,00</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201E1D"/>
                          </a:solidFill>
                          <a:latin typeface="Nunito" pitchFamily="34" charset="0"/>
                          <a:ea typeface="Nunito" pitchFamily="34" charset="-122"/>
                          <a:cs typeface="Nunito" pitchFamily="34" charset="-120"/>
                        </a:rPr>
                        <a:t>30,48</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50" dirty="0">
                          <a:solidFill>
                            <a:srgbClr val="3D472B"/>
                          </a:solidFill>
                          <a:latin typeface="Nunito" pitchFamily="34" charset="0"/>
                          <a:ea typeface="Nunito" pitchFamily="34" charset="-122"/>
                          <a:cs typeface="Nunito" pitchFamily="34" charset="-120"/>
                        </a:rPr>
                        <a:t>bắt đầu thoát ra</a:t>
                      </a:r>
                      <a:endParaRPr lang="en-US" sz="11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8" name="Text 15"/>
          <p:cNvSpPr txBox="1"/>
          <p:nvPr/>
        </p:nvSpPr>
        <p:spPr>
          <a:xfrm>
            <a:off x="685800" y="5907024"/>
            <a:ext cx="10817352" cy="292608"/>
          </a:xfrm>
          <a:prstGeom prst="rect">
            <a:avLst/>
          </a:prstGeom>
          <a:noFill/>
          <a:ln/>
        </p:spPr>
        <p:txBody>
          <a:bodyPr wrap="square" lIns="0" tIns="0" rIns="0" bIns="0" rtlCol="0" anchor="t"/>
          <a:lstStyle/>
          <a:p>
            <a:pPr algn="ctr" indent="0" marL="0">
              <a:lnSpc>
                <a:spcPts val="1668"/>
              </a:lnSpc>
              <a:buNone/>
            </a:pPr>
            <a:r>
              <a:rPr lang="en-US" sz="1150" i="1" dirty="0">
                <a:solidFill>
                  <a:srgbClr val="645C50"/>
                </a:solidFill>
                <a:latin typeface="Nunito" pitchFamily="34" charset="0"/>
                <a:ea typeface="Nunito" pitchFamily="34" charset="-122"/>
                <a:cs typeface="Nunito" pitchFamily="34" charset="-120"/>
              </a:rPr>
              <a:t>F1 cho điểm bán phần nên bình thường phải cao hơn EM — khi hai metric trùng nhau, training.py tự nhận ra bằng hằng số COLLAPSE_TOLERANCE = 0.5.</a:t>
            </a:r>
            <a:endParaRPr lang="en-US" sz="1150" dirty="0"/>
          </a:p>
        </p:txBody>
      </p:sp>
      <p:sp>
        <p:nvSpPr>
          <p:cNvPr id="19" name="Text 1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Phát hiện · ViSoBERT collapse</a:t>
            </a:r>
            <a:endParaRPr lang="en-US" sz="1000" dirty="0"/>
          </a:p>
        </p:txBody>
      </p:sp>
      <p:sp>
        <p:nvSpPr>
          <p:cNvPr id="20" name="Text 1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PHÂN TÍCH NGUYÊN NHÂN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584"/>
              </a:lnSpc>
              <a:buNone/>
            </a:pPr>
            <a:r>
              <a:rPr lang="en-US" sz="3200" b="1" dirty="0">
                <a:solidFill>
                  <a:srgbClr val="201E1D"/>
                </a:solidFill>
                <a:latin typeface="Baloo 2" pitchFamily="34" charset="0"/>
                <a:ea typeface="Baloo 2" pitchFamily="34" charset="-122"/>
                <a:cs typeface="Baloo 2" pitchFamily="34" charset="-120"/>
              </a:rPr>
              <a:t>Vì sao ViSoBERT suy sụp — ca lỗi được chẩn đoán</a:t>
            </a:r>
            <a:endParaRPr lang="en-US" sz="3200" dirty="0"/>
          </a:p>
        </p:txBody>
      </p:sp>
      <p:sp>
        <p:nvSpPr>
          <p:cNvPr id="4" name="Shape 2"/>
          <p:cNvSpPr/>
          <p:nvPr/>
        </p:nvSpPr>
        <p:spPr>
          <a:xfrm>
            <a:off x="685800" y="1627632"/>
            <a:ext cx="5394960" cy="2697480"/>
          </a:xfrm>
          <a:prstGeom prst="roundRect">
            <a:avLst>
              <a:gd name="adj" fmla="val 5424"/>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28800"/>
            <a:ext cx="484632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BỐN YẾU TỐ ĐỦ ĐỂ GIẢI THÍCH SỰ SUY SỤP</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960120" y="2121408"/>
          <a:ext cx="4846320" cy="914400"/>
        </p:xfrm>
        <a:graphic>
          <a:graphicData uri="http://schemas.openxmlformats.org/drawingml/2006/table">
            <a:tbl>
              <a:tblPr/>
              <a:tblGrid>
                <a:gridCol w="2194560"/>
                <a:gridCol w="2651760"/>
              </a:tblGrid>
              <a:tr h="329184">
                <a:tc>
                  <a:txBody>
                    <a:bodyPr/>
                    <a:lstStyle/>
                    <a:p>
                      <a:pPr algn="l" indent="0" marL="0">
                        <a:buNone/>
                      </a:pPr>
                      <a:r>
                        <a:rPr lang="en-US" sz="750" b="1" spc="120" kern="0" dirty="0">
                          <a:solidFill>
                            <a:srgbClr val="645C50"/>
                          </a:solidFill>
                          <a:latin typeface="Nunito" pitchFamily="34" charset="0"/>
                          <a:ea typeface="Nunito" pitchFamily="34" charset="-122"/>
                          <a:cs typeface="Nunito" pitchFamily="34" charset="-120"/>
                        </a:rPr>
                        <a:t>YẾU TỐ</a:t>
                      </a:r>
                      <a:endParaRPr lang="en-US" sz="7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750" b="1" spc="120" kern="0" dirty="0">
                          <a:solidFill>
                            <a:srgbClr val="645C50"/>
                          </a:solidFill>
                          <a:latin typeface="Nunito" pitchFamily="34" charset="0"/>
                          <a:ea typeface="Nunito" pitchFamily="34" charset="-122"/>
                          <a:cs typeface="Nunito" pitchFamily="34" charset="-120"/>
                        </a:rPr>
                        <a:t>BẰNG CHỨNG</a:t>
                      </a:r>
                      <a:endParaRPr lang="en-US" sz="7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29184">
                <a:tc>
                  <a:txBody>
                    <a:bodyPr/>
                    <a:lstStyle/>
                    <a:p>
                      <a:pPr algn="l" indent="0" marL="0">
                        <a:buNone/>
                      </a:pPr>
                      <a:r>
                        <a:rPr lang="en-US" sz="1000" dirty="0">
                          <a:solidFill>
                            <a:srgbClr val="201E1D"/>
                          </a:solidFill>
                          <a:latin typeface="Nunito" pitchFamily="34" charset="0"/>
                          <a:ea typeface="Nunito" pitchFamily="34" charset="-122"/>
                          <a:cs typeface="Nunito" pitchFamily="34" charset="-120"/>
                        </a:rPr>
                        <a:t>max_length = 384 chưa chỉnh</a:t>
                      </a:r>
                      <a:endParaRPr lang="en-US" sz="10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00" b="1" dirty="0">
                          <a:solidFill>
                            <a:srgbClr val="8C491A"/>
                          </a:solidFill>
                          <a:latin typeface="Nunito" pitchFamily="34" charset="0"/>
                          <a:ea typeface="Nunito" pitchFamily="34" charset="-122"/>
                          <a:cs typeface="Nunito" pitchFamily="34" charset="-120"/>
                        </a:rPr>
                        <a:t>CHƯA bù trừ — mạnh nhất</a:t>
                      </a:r>
                      <a:endParaRPr lang="en-US" sz="10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000" dirty="0">
                          <a:solidFill>
                            <a:srgbClr val="201E1D"/>
                          </a:solidFill>
                          <a:latin typeface="Nunito" pitchFamily="34" charset="0"/>
                          <a:ea typeface="Nunito" pitchFamily="34" charset="-122"/>
                          <a:cs typeface="Nunito" pitchFamily="34" charset="-120"/>
                        </a:rPr>
                        <a:t>loss chưa hội tụ</a:t>
                      </a:r>
                      <a:endParaRPr lang="en-US" sz="10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00" dirty="0">
                          <a:solidFill>
                            <a:srgbClr val="645C50"/>
                          </a:solidFill>
                          <a:latin typeface="Nunito" pitchFamily="34" charset="0"/>
                          <a:ea typeface="Nunito" pitchFamily="34" charset="-122"/>
                          <a:cs typeface="Nunito" pitchFamily="34" charset="-120"/>
                        </a:rPr>
                        <a:t>2,19 sau 3 epoch (mBERT 1,30 sau 2)</a:t>
                      </a:r>
                      <a:endParaRPr lang="en-US" sz="10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000" dirty="0">
                          <a:solidFill>
                            <a:srgbClr val="201E1D"/>
                          </a:solidFill>
                          <a:latin typeface="Nunito" pitchFamily="34" charset="0"/>
                          <a:ea typeface="Nunito" pitchFamily="34" charset="-122"/>
                          <a:cs typeface="Nunito" pitchFamily="34" charset="-120"/>
                        </a:rPr>
                        <a:t>sức chứa nhỏ hơn 45%</a:t>
                      </a:r>
                      <a:endParaRPr lang="en-US" sz="10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00" dirty="0">
                          <a:solidFill>
                            <a:srgbClr val="645C50"/>
                          </a:solidFill>
                          <a:latin typeface="Nunito" pitchFamily="34" charset="0"/>
                          <a:ea typeface="Nunito" pitchFamily="34" charset="-122"/>
                          <a:cs typeface="Nunito" pitchFamily="34" charset="-120"/>
                        </a:rPr>
                        <a:t>97,0M so với 177,3M tham số</a:t>
                      </a:r>
                      <a:endParaRPr lang="en-US" sz="10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000" dirty="0">
                          <a:solidFill>
                            <a:srgbClr val="201E1D"/>
                          </a:solidFill>
                          <a:latin typeface="Nunito" pitchFamily="34" charset="0"/>
                          <a:ea typeface="Nunito" pitchFamily="34" charset="-122"/>
                          <a:cs typeface="Nunito" pitchFamily="34" charset="-120"/>
                        </a:rPr>
                        <a:t>mất cân bằng lớp</a:t>
                      </a:r>
                      <a:endParaRPr lang="en-US" sz="10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00" dirty="0">
                          <a:solidFill>
                            <a:srgbClr val="645C50"/>
                          </a:solidFill>
                          <a:latin typeface="Nunito" pitchFamily="34" charset="0"/>
                          <a:ea typeface="Nunito" pitchFamily="34" charset="-122"/>
                          <a:cs typeface="Nunito" pitchFamily="34" charset="-120"/>
                        </a:rPr>
                        <a:t>32,39% impossible ⇒ hố “luôn trả rỗng”</a:t>
                      </a:r>
                      <a:endParaRPr lang="en-US" sz="10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60120" y="3822192"/>
            <a:ext cx="4846320" cy="411480"/>
          </a:xfrm>
          <a:prstGeom prst="rect">
            <a:avLst/>
          </a:prstGeom>
          <a:noFill/>
          <a:ln/>
        </p:spPr>
        <p:txBody>
          <a:bodyPr wrap="square" lIns="0" tIns="0" rIns="0" bIns="0" rtlCol="0" anchor="t"/>
          <a:lstStyle/>
          <a:p>
            <a:pPr algn="l" indent="0" marL="0">
              <a:lnSpc>
                <a:spcPts val="1595"/>
              </a:lnSpc>
              <a:buNone/>
            </a:pPr>
            <a:r>
              <a:rPr lang="en-US" sz="1100" b="1" dirty="0">
                <a:solidFill>
                  <a:srgbClr val="8C491A"/>
                </a:solidFill>
                <a:latin typeface="Nunito" pitchFamily="34" charset="0"/>
                <a:ea typeface="Nunito" pitchFamily="34" charset="-122"/>
                <a:cs typeface="Nunito" pitchFamily="34" charset="-120"/>
              </a:rPr>
              <a:t>max_answer_len ĐÃ bù (30→64). Trục chưa bù là max_length — hai tham số rất dễ nói lẫn.</a:t>
            </a:r>
            <a:endParaRPr lang="en-US" sz="1100" dirty="0"/>
          </a:p>
        </p:txBody>
      </p:sp>
      <p:sp>
        <p:nvSpPr>
          <p:cNvPr id="8" name="Shape 5"/>
          <p:cNvSpPr/>
          <p:nvPr/>
        </p:nvSpPr>
        <p:spPr>
          <a:xfrm>
            <a:off x="6263640" y="1627632"/>
            <a:ext cx="5239512" cy="2697480"/>
          </a:xfrm>
          <a:prstGeom prst="roundRect">
            <a:avLst>
              <a:gd name="adj" fmla="val 5424"/>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6537960" y="1828800"/>
            <a:ext cx="466344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NGUYÊN NHÂN: TỪ VỰNG NHỎ CHIA VỤN TIẾNG VIỆT</a:t>
            </a:r>
            <a:endParaRPr lang="en-US" sz="95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537960" y="2121408"/>
          <a:ext cx="4663440" cy="914400"/>
        </p:xfrm>
        <a:graphic>
          <a:graphicData uri="http://schemas.openxmlformats.org/drawingml/2006/table">
            <a:tbl>
              <a:tblPr/>
              <a:tblGrid>
                <a:gridCol w="2194560"/>
                <a:gridCol w="1234440"/>
                <a:gridCol w="1234440"/>
              </a:tblGrid>
              <a:tr h="329184">
                <a:tc>
                  <a:txBody>
                    <a:bodyPr/>
                    <a:lstStyle/>
                    <a:p>
                      <a:pPr algn="l" indent="0" marL="0">
                        <a:buNone/>
                      </a:pP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MBERT</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VISOBERT</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2918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vocab</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119.547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15.002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"Hà Nội là thủ đô…"</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17 token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23 token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context val. trung bình</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204,6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326,5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token / từ</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1,95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context &gt; 357 token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16 / 557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154 / 557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1" name="Shape 7"/>
          <p:cNvSpPr/>
          <p:nvPr/>
        </p:nvSpPr>
        <p:spPr>
          <a:xfrm>
            <a:off x="685800" y="4480560"/>
            <a:ext cx="10817352" cy="1508760"/>
          </a:xfrm>
          <a:prstGeom prst="roundRect">
            <a:avLst>
              <a:gd name="adj" fmla="val 9697"/>
            </a:avLst>
          </a:prstGeom>
          <a:solidFill>
            <a:srgbClr val="EBDDC5"/>
          </a:solidFill>
          <a:ln w="12700">
            <a:solidFill>
              <a:srgbClr val="EBDDC5"/>
            </a:solidFill>
            <a:prstDash val="solid"/>
          </a:ln>
        </p:spPr>
      </p:sp>
      <p:sp>
        <p:nvSpPr>
          <p:cNvPr id="12" name="Text 8"/>
          <p:cNvSpPr txBox="1"/>
          <p:nvPr/>
        </p:nvSpPr>
        <p:spPr>
          <a:xfrm>
            <a:off x="1051560" y="4663440"/>
            <a:ext cx="10058400" cy="411480"/>
          </a:xfrm>
          <a:prstGeom prst="rect">
            <a:avLst/>
          </a:prstGeom>
          <a:noFill/>
          <a:ln/>
        </p:spPr>
        <p:txBody>
          <a:bodyPr wrap="square" lIns="0" tIns="0" rIns="0" bIns="0" rtlCol="0" anchor="ctr"/>
          <a:lstStyle/>
          <a:p>
            <a:pPr algn="ctr" indent="0" marL="0">
              <a:buNone/>
            </a:pPr>
            <a:r>
              <a:rPr lang="en-US" sz="2200" b="1" dirty="0">
                <a:solidFill>
                  <a:srgbClr val="8C491A"/>
                </a:solidFill>
                <a:latin typeface="Baloo 2" pitchFamily="34" charset="0"/>
                <a:ea typeface="Baloo 2" pitchFamily="34" charset="-122"/>
                <a:cs typeface="Baloo 2" pitchFamily="34" charset="-120"/>
              </a:rPr>
              <a:t>Chưa kết luận được rằng tiền huấn luyện tiếng Việt không giúp ích.</a:t>
            </a:r>
            <a:endParaRPr lang="en-US" sz="2200" dirty="0"/>
          </a:p>
        </p:txBody>
      </p:sp>
      <p:sp>
        <p:nvSpPr>
          <p:cNvPr id="13" name="Text 9"/>
          <p:cNvSpPr txBox="1"/>
          <p:nvPr/>
        </p:nvSpPr>
        <p:spPr>
          <a:xfrm>
            <a:off x="1051560" y="5138928"/>
            <a:ext cx="10058400" cy="731520"/>
          </a:xfrm>
          <a:prstGeom prst="rect">
            <a:avLst/>
          </a:prstGeom>
          <a:noFill/>
          <a:ln/>
        </p:spPr>
        <p:txBody>
          <a:bodyPr wrap="square" lIns="0" tIns="0" rIns="0" bIns="0" rtlCol="0" anchor="t"/>
          <a:lstStyle/>
          <a:p>
            <a:pPr algn="ctr" indent="0" marL="0">
              <a:lnSpc>
                <a:spcPts val="1813"/>
              </a:lnSpc>
              <a:buNone/>
            </a:pPr>
            <a:r>
              <a:rPr lang="en-US" sz="1250" dirty="0">
                <a:solidFill>
                  <a:srgbClr val="201E1D"/>
                </a:solidFill>
                <a:latin typeface="Nunito" pitchFamily="34" charset="0"/>
                <a:ea typeface="Nunito" pitchFamily="34" charset="-122"/>
                <a:cs typeface="Nunito" pitchFamily="34" charset="-120"/>
              </a:rPr>
              <a:t>Từ vựng nhỏ chia vụn văn bản Wikipedia, và ngân sách cửa sổ không được chỉnh theo — đó là lời giải thích PHÙ HỢP với bằng chứng, chưa phải nhân quả đã chứng minh. ViSoBERT chưa được huấn luyện lại sau chẩn đoán, nên 27,80 EM phải đọc như một lần huấn luyện thất bại, không phải một phép đo năng lực encoder.</a:t>
            </a:r>
            <a:endParaRPr lang="en-US" sz="1250" dirty="0"/>
          </a:p>
        </p:txBody>
      </p:sp>
      <p:sp>
        <p:nvSpPr>
          <p:cNvPr id="14" name="Text 1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Phân tích · Một ca lỗi được chẩn đoán</a:t>
            </a:r>
            <a:endParaRPr lang="en-US" sz="1000" dirty="0"/>
          </a:p>
        </p:txBody>
      </p:sp>
      <p:sp>
        <p:nvSpPr>
          <p:cNvPr id="15" name="Text 1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KỸ THUẬT PHẦN MỀM</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Kiến trúc trả về gì: test một giây, một lệnh để chấm</a:t>
            </a:r>
            <a:endParaRPr lang="en-US" sz="3400" dirty="0"/>
          </a:p>
        </p:txBody>
      </p:sp>
      <p:sp>
        <p:nvSpPr>
          <p:cNvPr id="4" name="Shape 2"/>
          <p:cNvSpPr/>
          <p:nvPr/>
        </p:nvSpPr>
        <p:spPr>
          <a:xfrm>
            <a:off x="685800" y="1691640"/>
            <a:ext cx="3456432" cy="2286000"/>
          </a:xfrm>
          <a:prstGeom prst="roundRect">
            <a:avLst>
              <a:gd name="adj" fmla="val 6400"/>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938528"/>
            <a:ext cx="2926080" cy="548640"/>
          </a:xfrm>
          <a:prstGeom prst="rect">
            <a:avLst/>
          </a:prstGeom>
          <a:noFill/>
          <a:ln/>
        </p:spPr>
        <p:txBody>
          <a:bodyPr wrap="square" lIns="0" tIns="0" rIns="0" bIns="0" rtlCol="0" anchor="ctr"/>
          <a:lstStyle/>
          <a:p>
            <a:pPr indent="0" marL="0">
              <a:buNone/>
            </a:pPr>
            <a:r>
              <a:rPr lang="en-US" sz="3400" b="1" dirty="0">
                <a:solidFill>
                  <a:srgbClr val="C67139"/>
                </a:solidFill>
                <a:latin typeface="Baloo 2" pitchFamily="34" charset="0"/>
                <a:ea typeface="Baloo 2" pitchFamily="34" charset="-122"/>
                <a:cs typeface="Baloo 2" pitchFamily="34" charset="-120"/>
              </a:rPr>
              <a:t>423</a:t>
            </a:r>
            <a:endParaRPr lang="en-US" sz="3400" dirty="0"/>
          </a:p>
        </p:txBody>
      </p:sp>
      <p:sp>
        <p:nvSpPr>
          <p:cNvPr id="6" name="Text 4"/>
          <p:cNvSpPr txBox="1"/>
          <p:nvPr/>
        </p:nvSpPr>
        <p:spPr>
          <a:xfrm>
            <a:off x="960120" y="2523744"/>
            <a:ext cx="2926080" cy="274320"/>
          </a:xfrm>
          <a:prstGeom prst="rect">
            <a:avLst/>
          </a:prstGeom>
          <a:noFill/>
          <a:ln/>
        </p:spPr>
        <p:txBody>
          <a:bodyPr wrap="square" lIns="0" tIns="0" rIns="0" bIns="0" rtlCol="0" anchor="t"/>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test chạy trong ~1 giây</a:t>
            </a:r>
            <a:endParaRPr lang="en-US" sz="1250" dirty="0"/>
          </a:p>
        </p:txBody>
      </p:sp>
      <p:sp>
        <p:nvSpPr>
          <p:cNvPr id="7" name="Text 5"/>
          <p:cNvSpPr txBox="1"/>
          <p:nvPr/>
        </p:nvSpPr>
        <p:spPr>
          <a:xfrm>
            <a:off x="960120" y="2852928"/>
            <a:ext cx="2926080" cy="10058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Không tải mô hình, không cần mạng. Có được là nhờ 9/12 module trong src/mrc và toàn bộ src/demo là hàm thuần.</a:t>
            </a:r>
            <a:endParaRPr lang="en-US" sz="1100" dirty="0"/>
          </a:p>
        </p:txBody>
      </p:sp>
      <p:sp>
        <p:nvSpPr>
          <p:cNvPr id="8" name="Shape 6"/>
          <p:cNvSpPr/>
          <p:nvPr/>
        </p:nvSpPr>
        <p:spPr>
          <a:xfrm>
            <a:off x="4361688" y="1691640"/>
            <a:ext cx="3456432" cy="2286000"/>
          </a:xfrm>
          <a:prstGeom prst="roundRect">
            <a:avLst>
              <a:gd name="adj" fmla="val 6400"/>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9" name="Text 7"/>
          <p:cNvSpPr txBox="1"/>
          <p:nvPr/>
        </p:nvSpPr>
        <p:spPr>
          <a:xfrm>
            <a:off x="4636008" y="1938528"/>
            <a:ext cx="2926080" cy="548640"/>
          </a:xfrm>
          <a:prstGeom prst="rect">
            <a:avLst/>
          </a:prstGeom>
          <a:noFill/>
          <a:ln/>
        </p:spPr>
        <p:txBody>
          <a:bodyPr wrap="square" lIns="0" tIns="0" rIns="0" bIns="0" rtlCol="0" anchor="ctr"/>
          <a:lstStyle/>
          <a:p>
            <a:pPr indent="0" marL="0">
              <a:buNone/>
            </a:pPr>
            <a:r>
              <a:rPr lang="en-US" sz="3400" b="1" dirty="0">
                <a:solidFill>
                  <a:srgbClr val="7A8A5E"/>
                </a:solidFill>
                <a:latin typeface="Baloo 2" pitchFamily="34" charset="0"/>
                <a:ea typeface="Baloo 2" pitchFamily="34" charset="-122"/>
                <a:cs typeface="Baloo 2" pitchFamily="34" charset="-120"/>
              </a:rPr>
              <a:t>474</a:t>
            </a:r>
            <a:endParaRPr lang="en-US" sz="3400" dirty="0"/>
          </a:p>
        </p:txBody>
      </p:sp>
      <p:sp>
        <p:nvSpPr>
          <p:cNvPr id="10" name="Text 8"/>
          <p:cNvSpPr txBox="1"/>
          <p:nvPr/>
        </p:nvSpPr>
        <p:spPr>
          <a:xfrm>
            <a:off x="4636008" y="2523744"/>
            <a:ext cx="2926080" cy="274320"/>
          </a:xfrm>
          <a:prstGeom prst="rect">
            <a:avLst/>
          </a:prstGeom>
          <a:noFill/>
          <a:ln/>
        </p:spPr>
        <p:txBody>
          <a:bodyPr wrap="square" lIns="0" tIns="0" rIns="0" bIns="0" rtlCol="0" anchor="t"/>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test đầy đủ, 20 tệp</a:t>
            </a:r>
            <a:endParaRPr lang="en-US" sz="1250" dirty="0"/>
          </a:p>
        </p:txBody>
      </p:sp>
      <p:sp>
        <p:nvSpPr>
          <p:cNvPr id="11" name="Text 9"/>
          <p:cNvSpPr txBox="1"/>
          <p:nvPr/>
        </p:nvSpPr>
        <p:spPr>
          <a:xfrm>
            <a:off x="4636008" y="2852928"/>
            <a:ext cx="2926080" cy="10058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Bộ đầy đủ có cả 51 test tải mô hình thật. tests/test_docker.py chạy BÊN TRONG container và tự kiểm chính môi trường đang chạy nó.</a:t>
            </a:r>
            <a:endParaRPr lang="en-US" sz="1100" dirty="0"/>
          </a:p>
        </p:txBody>
      </p:sp>
      <p:sp>
        <p:nvSpPr>
          <p:cNvPr id="12" name="Shape 10"/>
          <p:cNvSpPr/>
          <p:nvPr/>
        </p:nvSpPr>
        <p:spPr>
          <a:xfrm>
            <a:off x="8037576" y="1691640"/>
            <a:ext cx="3456432" cy="2286000"/>
          </a:xfrm>
          <a:prstGeom prst="roundRect">
            <a:avLst>
              <a:gd name="adj" fmla="val 6400"/>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8311896" y="1938528"/>
            <a:ext cx="2926080" cy="548640"/>
          </a:xfrm>
          <a:prstGeom prst="rect">
            <a:avLst/>
          </a:prstGeom>
          <a:noFill/>
          <a:ln/>
        </p:spPr>
        <p:txBody>
          <a:bodyPr wrap="square" lIns="0" tIns="0" rIns="0" bIns="0" rtlCol="0" anchor="ctr"/>
          <a:lstStyle/>
          <a:p>
            <a:pPr indent="0" marL="0">
              <a:buNone/>
            </a:pPr>
            <a:r>
              <a:rPr lang="en-US" sz="3400" b="1" dirty="0">
                <a:solidFill>
                  <a:srgbClr val="C67139"/>
                </a:solidFill>
                <a:latin typeface="Baloo 2" pitchFamily="34" charset="0"/>
                <a:ea typeface="Baloo 2" pitchFamily="34" charset="-122"/>
                <a:cs typeface="Baloo 2" pitchFamily="34" charset="-120"/>
              </a:rPr>
              <a:t>2,48 GB</a:t>
            </a:r>
            <a:endParaRPr lang="en-US" sz="3400" dirty="0"/>
          </a:p>
        </p:txBody>
      </p:sp>
      <p:sp>
        <p:nvSpPr>
          <p:cNvPr id="14" name="Text 12"/>
          <p:cNvSpPr txBox="1"/>
          <p:nvPr/>
        </p:nvSpPr>
        <p:spPr>
          <a:xfrm>
            <a:off x="8311896" y="2523744"/>
            <a:ext cx="2926080" cy="274320"/>
          </a:xfrm>
          <a:prstGeom prst="rect">
            <a:avLst/>
          </a:prstGeom>
          <a:noFill/>
          <a:ln/>
        </p:spPr>
        <p:txBody>
          <a:bodyPr wrap="square" lIns="0" tIns="0" rIns="0" bIns="0" rtlCol="0" anchor="t"/>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ảnh Docker (nén 527 MB)</a:t>
            </a:r>
            <a:endParaRPr lang="en-US" sz="1250" dirty="0"/>
          </a:p>
        </p:txBody>
      </p:sp>
      <p:sp>
        <p:nvSpPr>
          <p:cNvPr id="15" name="Text 13"/>
          <p:cNvSpPr txBox="1"/>
          <p:nvPr/>
        </p:nvSpPr>
        <p:spPr>
          <a:xfrm>
            <a:off x="8311896" y="2852928"/>
            <a:ext cx="2926080" cy="10058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Từ 10,2 GB. Ép PyTorch bản CPU trên MỌI kiến trúc — wheel aarch64 cũng kéo theo 4,1 GB thư viện CUDA.</a:t>
            </a:r>
            <a:endParaRPr lang="en-US" sz="1100" dirty="0"/>
          </a:p>
        </p:txBody>
      </p:sp>
      <p:sp>
        <p:nvSpPr>
          <p:cNvPr id="16" name="Shape 14"/>
          <p:cNvSpPr/>
          <p:nvPr/>
        </p:nvSpPr>
        <p:spPr>
          <a:xfrm>
            <a:off x="685800" y="4206240"/>
            <a:ext cx="10817352" cy="1600200"/>
          </a:xfrm>
          <a:prstGeom prst="roundRect">
            <a:avLst>
              <a:gd name="adj" fmla="val 9143"/>
            </a:avLst>
          </a:prstGeom>
          <a:solidFill>
            <a:srgbClr val="EBDDC5"/>
          </a:solidFill>
          <a:ln w="12700">
            <a:solidFill>
              <a:srgbClr val="EBDDC5"/>
            </a:solidFill>
            <a:prstDash val="solid"/>
          </a:ln>
        </p:spPr>
      </p:sp>
      <p:sp>
        <p:nvSpPr>
          <p:cNvPr id="17" name="Text 15"/>
          <p:cNvSpPr txBox="1"/>
          <p:nvPr/>
        </p:nvSpPr>
        <p:spPr>
          <a:xfrm>
            <a:off x="1051560" y="4407408"/>
            <a:ext cx="54864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NGƯỜI CHẤM CHỈ CẦN DOCKER — MỘT ẢNH, BỐN SERVICE</a:t>
            </a:r>
            <a:endParaRPr lang="en-US" sz="950" dirty="0"/>
          </a:p>
        </p:txBody>
      </p:sp>
      <p:sp>
        <p:nvSpPr>
          <p:cNvPr id="18" name="Text 16"/>
          <p:cNvSpPr txBox="1"/>
          <p:nvPr/>
        </p:nvSpPr>
        <p:spPr>
          <a:xfrm>
            <a:off x="1051560" y="4736592"/>
            <a:ext cx="4754880" cy="274320"/>
          </a:xfrm>
          <a:prstGeom prst="rect">
            <a:avLst/>
          </a:prstGeom>
          <a:noFill/>
          <a:ln/>
        </p:spPr>
        <p:txBody>
          <a:bodyPr wrap="square" lIns="0" tIns="0" rIns="0" bIns="0" rtlCol="0" anchor="ctr"/>
          <a:lstStyle/>
          <a:p>
            <a:pPr indent="0" marL="0">
              <a:buNone/>
            </a:pPr>
            <a:r>
              <a:rPr lang="en-US" sz="1150" b="1" dirty="0">
                <a:solidFill>
                  <a:srgbClr val="201E1D"/>
                </a:solidFill>
                <a:latin typeface="Courier New" pitchFamily="34" charset="0"/>
                <a:ea typeface="Courier New" pitchFamily="34" charset="-122"/>
                <a:cs typeface="Courier New" pitchFamily="34" charset="-120"/>
              </a:rPr>
              <a:t>docker compose run --rm tests</a:t>
            </a:r>
            <a:endParaRPr lang="en-US" sz="1150" dirty="0"/>
          </a:p>
        </p:txBody>
      </p:sp>
      <p:sp>
        <p:nvSpPr>
          <p:cNvPr id="19" name="Text 17"/>
          <p:cNvSpPr txBox="1"/>
          <p:nvPr/>
        </p:nvSpPr>
        <p:spPr>
          <a:xfrm>
            <a:off x="5989320" y="4736592"/>
            <a:ext cx="5120640" cy="274320"/>
          </a:xfrm>
          <a:prstGeom prst="rect">
            <a:avLst/>
          </a:prstGeom>
          <a:noFill/>
          <a:ln/>
        </p:spPr>
        <p:txBody>
          <a:bodyPr wrap="square" lIns="0" tIns="0" rIns="0" bIns="0" rtlCol="0" anchor="ctr"/>
          <a:lstStyle/>
          <a:p>
            <a:pPr indent="0" marL="0">
              <a:buNone/>
            </a:pPr>
            <a:r>
              <a:rPr lang="en-US" sz="1150" dirty="0">
                <a:solidFill>
                  <a:srgbClr val="645C50"/>
                </a:solidFill>
                <a:latin typeface="Nunito" pitchFamily="34" charset="0"/>
                <a:ea typeface="Nunito" pitchFamily="34" charset="-122"/>
                <a:cs typeface="Nunito" pitchFamily="34" charset="-120"/>
              </a:rPr>
              <a:t>423 test, ~1 giây, HF_HUB_OFFLINE=1</a:t>
            </a:r>
            <a:endParaRPr lang="en-US" sz="1150" dirty="0"/>
          </a:p>
        </p:txBody>
      </p:sp>
      <p:sp>
        <p:nvSpPr>
          <p:cNvPr id="20" name="Text 18"/>
          <p:cNvSpPr txBox="1"/>
          <p:nvPr/>
        </p:nvSpPr>
        <p:spPr>
          <a:xfrm>
            <a:off x="1051560" y="5065776"/>
            <a:ext cx="4754880" cy="274320"/>
          </a:xfrm>
          <a:prstGeom prst="rect">
            <a:avLst/>
          </a:prstGeom>
          <a:noFill/>
          <a:ln/>
        </p:spPr>
        <p:txBody>
          <a:bodyPr wrap="square" lIns="0" tIns="0" rIns="0" bIns="0" rtlCol="0" anchor="ctr"/>
          <a:lstStyle/>
          <a:p>
            <a:pPr indent="0" marL="0">
              <a:buNone/>
            </a:pPr>
            <a:r>
              <a:rPr lang="en-US" sz="1150" b="1" dirty="0">
                <a:solidFill>
                  <a:srgbClr val="201E1D"/>
                </a:solidFill>
                <a:latin typeface="Courier New" pitchFamily="34" charset="0"/>
                <a:ea typeface="Courier New" pitchFamily="34" charset="-122"/>
                <a:cs typeface="Courier New" pitchFamily="34" charset="-120"/>
              </a:rPr>
              <a:t>docker compose up app</a:t>
            </a:r>
            <a:endParaRPr lang="en-US" sz="1150" dirty="0"/>
          </a:p>
        </p:txBody>
      </p:sp>
      <p:sp>
        <p:nvSpPr>
          <p:cNvPr id="21" name="Text 19"/>
          <p:cNvSpPr txBox="1"/>
          <p:nvPr/>
        </p:nvSpPr>
        <p:spPr>
          <a:xfrm>
            <a:off x="5989320" y="5065776"/>
            <a:ext cx="5120640" cy="274320"/>
          </a:xfrm>
          <a:prstGeom prst="rect">
            <a:avLst/>
          </a:prstGeom>
          <a:noFill/>
          <a:ln/>
        </p:spPr>
        <p:txBody>
          <a:bodyPr wrap="square" lIns="0" tIns="0" rIns="0" bIns="0" rtlCol="0" anchor="ctr"/>
          <a:lstStyle/>
          <a:p>
            <a:pPr indent="0" marL="0">
              <a:buNone/>
            </a:pPr>
            <a:r>
              <a:rPr lang="en-US" sz="1150" dirty="0">
                <a:solidFill>
                  <a:srgbClr val="645C50"/>
                </a:solidFill>
                <a:latin typeface="Nunito" pitchFamily="34" charset="0"/>
                <a:ea typeface="Nunito" pitchFamily="34" charset="-122"/>
                <a:cs typeface="Nunito" pitchFamily="34" charset="-120"/>
              </a:rPr>
              <a:t>demo tại http://localhost:8501</a:t>
            </a:r>
            <a:endParaRPr lang="en-US" sz="1150" dirty="0"/>
          </a:p>
        </p:txBody>
      </p:sp>
      <p:sp>
        <p:nvSpPr>
          <p:cNvPr id="22" name="Text 20"/>
          <p:cNvSpPr txBox="1"/>
          <p:nvPr/>
        </p:nvSpPr>
        <p:spPr>
          <a:xfrm>
            <a:off x="1051560" y="5394960"/>
            <a:ext cx="4754880" cy="274320"/>
          </a:xfrm>
          <a:prstGeom prst="rect">
            <a:avLst/>
          </a:prstGeom>
          <a:noFill/>
          <a:ln/>
        </p:spPr>
        <p:txBody>
          <a:bodyPr wrap="square" lIns="0" tIns="0" rIns="0" bIns="0" rtlCol="0" anchor="ctr"/>
          <a:lstStyle/>
          <a:p>
            <a:pPr indent="0" marL="0">
              <a:buNone/>
            </a:pPr>
            <a:r>
              <a:rPr lang="en-US" sz="1150" b="1" dirty="0">
                <a:solidFill>
                  <a:srgbClr val="201E1D"/>
                </a:solidFill>
                <a:latin typeface="Courier New" pitchFamily="34" charset="0"/>
                <a:ea typeface="Courier New" pitchFamily="34" charset="-122"/>
                <a:cs typeface="Courier New" pitchFamily="34" charset="-120"/>
              </a:rPr>
              <a:t>./run.sh</a:t>
            </a:r>
            <a:endParaRPr lang="en-US" sz="1150" dirty="0"/>
          </a:p>
        </p:txBody>
      </p:sp>
      <p:sp>
        <p:nvSpPr>
          <p:cNvPr id="23" name="Text 21"/>
          <p:cNvSpPr txBox="1"/>
          <p:nvPr/>
        </p:nvSpPr>
        <p:spPr>
          <a:xfrm>
            <a:off x="5989320" y="5394960"/>
            <a:ext cx="5120640" cy="274320"/>
          </a:xfrm>
          <a:prstGeom prst="rect">
            <a:avLst/>
          </a:prstGeom>
          <a:noFill/>
          <a:ln/>
        </p:spPr>
        <p:txBody>
          <a:bodyPr wrap="square" lIns="0" tIns="0" rIns="0" bIns="0" rtlCol="0" anchor="ctr"/>
          <a:lstStyle/>
          <a:p>
            <a:pPr indent="0" marL="0">
              <a:buNone/>
            </a:pPr>
            <a:r>
              <a:rPr lang="en-US" sz="1150" dirty="0">
                <a:solidFill>
                  <a:srgbClr val="645C50"/>
                </a:solidFill>
                <a:latin typeface="Nunito" pitchFamily="34" charset="0"/>
                <a:ea typeface="Nunito" pitchFamily="34" charset="-122"/>
                <a:cs typeface="Nunito" pitchFamily="34" charset="-120"/>
              </a:rPr>
              <a:t>nạp ảnh đã docker save rồi mở demo</a:t>
            </a:r>
            <a:endParaRPr lang="en-US" sz="1150" dirty="0"/>
          </a:p>
        </p:txBody>
      </p:sp>
      <p:sp>
        <p:nvSpPr>
          <p:cNvPr id="24" name="Text 2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Kỹ thuật phần mềm · TDD + Docker</a:t>
            </a:r>
            <a:endParaRPr lang="en-US" sz="1000" dirty="0"/>
          </a:p>
        </p:txBody>
      </p:sp>
      <p:sp>
        <p:nvSpPr>
          <p:cNvPr id="25" name="Text 2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DEMO</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Sáu màn hình — mỗi màn hình một URL</a:t>
            </a:r>
            <a:endParaRPr lang="en-US" sz="3400" dirty="0"/>
          </a:p>
        </p:txBody>
      </p:sp>
      <p:sp>
        <p:nvSpPr>
          <p:cNvPr id="4" name="Shape 2"/>
          <p:cNvSpPr/>
          <p:nvPr/>
        </p:nvSpPr>
        <p:spPr>
          <a:xfrm>
            <a:off x="685800" y="1691640"/>
            <a:ext cx="3456432" cy="1188720"/>
          </a:xfrm>
          <a:prstGeom prst="roundRect">
            <a:avLst>
              <a:gd name="adj" fmla="val 1230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60120" y="1993392"/>
            <a:ext cx="146304" cy="146304"/>
          </a:xfrm>
          <a:prstGeom prst="ellipse">
            <a:avLst/>
          </a:prstGeom>
          <a:solidFill>
            <a:srgbClr val="C67139"/>
          </a:solidFill>
          <a:ln w="12700">
            <a:solidFill>
              <a:srgbClr val="C67139"/>
            </a:solidFill>
            <a:prstDash val="solid"/>
          </a:ln>
        </p:spPr>
      </p:sp>
      <p:sp>
        <p:nvSpPr>
          <p:cNvPr id="6" name="Text 4"/>
          <p:cNvSpPr txBox="1"/>
          <p:nvPr/>
        </p:nvSpPr>
        <p:spPr>
          <a:xfrm>
            <a:off x="1216152" y="1874520"/>
            <a:ext cx="1828800" cy="329184"/>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Hỏi đáp</a:t>
            </a:r>
            <a:endParaRPr lang="en-US" sz="1500" dirty="0"/>
          </a:p>
        </p:txBody>
      </p:sp>
      <p:sp>
        <p:nvSpPr>
          <p:cNvPr id="7" name="Text 5"/>
          <p:cNvSpPr txBox="1"/>
          <p:nvPr/>
        </p:nvSpPr>
        <p:spPr>
          <a:xfrm>
            <a:off x="2880360" y="1874520"/>
            <a:ext cx="1097280" cy="329184"/>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a:t>
            </a:r>
            <a:endParaRPr lang="en-US" sz="950" dirty="0"/>
          </a:p>
        </p:txBody>
      </p:sp>
      <p:sp>
        <p:nvSpPr>
          <p:cNvPr id="8" name="Text 6"/>
          <p:cNvSpPr txBox="1"/>
          <p:nvPr/>
        </p:nvSpPr>
        <p:spPr>
          <a:xfrm>
            <a:off x="960120" y="2286000"/>
            <a:ext cx="2926080" cy="50292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nhập câu hỏi, kéo ngưỡng, xem span + bằng chứng</a:t>
            </a:r>
            <a:endParaRPr lang="en-US" sz="1100" dirty="0"/>
          </a:p>
        </p:txBody>
      </p:sp>
      <p:sp>
        <p:nvSpPr>
          <p:cNvPr id="9" name="Shape 7"/>
          <p:cNvSpPr/>
          <p:nvPr/>
        </p:nvSpPr>
        <p:spPr>
          <a:xfrm>
            <a:off x="4361688" y="1691640"/>
            <a:ext cx="3456432" cy="1188720"/>
          </a:xfrm>
          <a:prstGeom prst="roundRect">
            <a:avLst>
              <a:gd name="adj" fmla="val 1230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Shape 8"/>
          <p:cNvSpPr/>
          <p:nvPr/>
        </p:nvSpPr>
        <p:spPr>
          <a:xfrm>
            <a:off x="4636008" y="1993392"/>
            <a:ext cx="146304" cy="146304"/>
          </a:xfrm>
          <a:prstGeom prst="ellipse">
            <a:avLst/>
          </a:prstGeom>
          <a:solidFill>
            <a:srgbClr val="7A8A5E"/>
          </a:solidFill>
          <a:ln w="12700">
            <a:solidFill>
              <a:srgbClr val="7A8A5E"/>
            </a:solidFill>
            <a:prstDash val="solid"/>
          </a:ln>
        </p:spPr>
      </p:sp>
      <p:sp>
        <p:nvSpPr>
          <p:cNvPr id="11" name="Text 9"/>
          <p:cNvSpPr txBox="1"/>
          <p:nvPr/>
        </p:nvSpPr>
        <p:spPr>
          <a:xfrm>
            <a:off x="4892040" y="1874520"/>
            <a:ext cx="1828800" cy="329184"/>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Kết quả</a:t>
            </a:r>
            <a:endParaRPr lang="en-US" sz="1500" dirty="0"/>
          </a:p>
        </p:txBody>
      </p:sp>
      <p:sp>
        <p:nvSpPr>
          <p:cNvPr id="12" name="Text 10"/>
          <p:cNvSpPr txBox="1"/>
          <p:nvPr/>
        </p:nvSpPr>
        <p:spPr>
          <a:xfrm>
            <a:off x="6556248" y="1874520"/>
            <a:ext cx="1097280" cy="329184"/>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/ket-qua</a:t>
            </a:r>
            <a:endParaRPr lang="en-US" sz="950" dirty="0"/>
          </a:p>
        </p:txBody>
      </p:sp>
      <p:sp>
        <p:nvSpPr>
          <p:cNvPr id="13" name="Text 11"/>
          <p:cNvSpPr txBox="1"/>
          <p:nvPr/>
        </p:nvSpPr>
        <p:spPr>
          <a:xfrm>
            <a:off x="4636008" y="2286000"/>
            <a:ext cx="2926080" cy="50292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bảng EM/F1, breakdown, provenance</a:t>
            </a:r>
            <a:endParaRPr lang="en-US" sz="1100" dirty="0"/>
          </a:p>
        </p:txBody>
      </p:sp>
      <p:sp>
        <p:nvSpPr>
          <p:cNvPr id="14" name="Shape 12"/>
          <p:cNvSpPr/>
          <p:nvPr/>
        </p:nvSpPr>
        <p:spPr>
          <a:xfrm>
            <a:off x="8037576" y="1691640"/>
            <a:ext cx="3456432" cy="1188720"/>
          </a:xfrm>
          <a:prstGeom prst="roundRect">
            <a:avLst>
              <a:gd name="adj" fmla="val 1230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5" name="Shape 13"/>
          <p:cNvSpPr/>
          <p:nvPr/>
        </p:nvSpPr>
        <p:spPr>
          <a:xfrm>
            <a:off x="8311896" y="1993392"/>
            <a:ext cx="146304" cy="146304"/>
          </a:xfrm>
          <a:prstGeom prst="ellipse">
            <a:avLst/>
          </a:prstGeom>
          <a:solidFill>
            <a:srgbClr val="C67139"/>
          </a:solidFill>
          <a:ln w="12700">
            <a:solidFill>
              <a:srgbClr val="C67139"/>
            </a:solidFill>
            <a:prstDash val="solid"/>
          </a:ln>
        </p:spPr>
      </p:sp>
      <p:sp>
        <p:nvSpPr>
          <p:cNvPr id="16" name="Text 14"/>
          <p:cNvSpPr txBox="1"/>
          <p:nvPr/>
        </p:nvSpPr>
        <p:spPr>
          <a:xfrm>
            <a:off x="8567928" y="1874520"/>
            <a:ext cx="1828800" cy="329184"/>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Phân tích lỗi</a:t>
            </a:r>
            <a:endParaRPr lang="en-US" sz="1500" dirty="0"/>
          </a:p>
        </p:txBody>
      </p:sp>
      <p:sp>
        <p:nvSpPr>
          <p:cNvPr id="17" name="Text 15"/>
          <p:cNvSpPr txBox="1"/>
          <p:nvPr/>
        </p:nvSpPr>
        <p:spPr>
          <a:xfrm>
            <a:off x="10232136" y="1874520"/>
            <a:ext cx="1097280" cy="329184"/>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/phan-tich-loi</a:t>
            </a:r>
            <a:endParaRPr lang="en-US" sz="950" dirty="0"/>
          </a:p>
        </p:txBody>
      </p:sp>
      <p:sp>
        <p:nvSpPr>
          <p:cNvPr id="18" name="Text 16"/>
          <p:cNvSpPr txBox="1"/>
          <p:nvPr/>
        </p:nvSpPr>
        <p:spPr>
          <a:xfrm>
            <a:off x="8311896" y="2286000"/>
            <a:ext cx="2926080" cy="50292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pred (terracotta) so với gold (sage)</a:t>
            </a:r>
            <a:endParaRPr lang="en-US" sz="1100" dirty="0"/>
          </a:p>
        </p:txBody>
      </p:sp>
      <p:sp>
        <p:nvSpPr>
          <p:cNvPr id="19" name="Shape 17"/>
          <p:cNvSpPr/>
          <p:nvPr/>
        </p:nvSpPr>
        <p:spPr>
          <a:xfrm>
            <a:off x="685800" y="3063240"/>
            <a:ext cx="3456432" cy="1188720"/>
          </a:xfrm>
          <a:prstGeom prst="roundRect">
            <a:avLst>
              <a:gd name="adj" fmla="val 1230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0" name="Shape 18"/>
          <p:cNvSpPr/>
          <p:nvPr/>
        </p:nvSpPr>
        <p:spPr>
          <a:xfrm>
            <a:off x="960120" y="3364992"/>
            <a:ext cx="146304" cy="146304"/>
          </a:xfrm>
          <a:prstGeom prst="ellipse">
            <a:avLst/>
          </a:prstGeom>
          <a:solidFill>
            <a:srgbClr val="7A8A5E"/>
          </a:solidFill>
          <a:ln w="12700">
            <a:solidFill>
              <a:srgbClr val="7A8A5E"/>
            </a:solidFill>
            <a:prstDash val="solid"/>
          </a:ln>
        </p:spPr>
      </p:sp>
      <p:sp>
        <p:nvSpPr>
          <p:cNvPr id="21" name="Text 19"/>
          <p:cNvSpPr txBox="1"/>
          <p:nvPr/>
        </p:nvSpPr>
        <p:spPr>
          <a:xfrm>
            <a:off x="1216152" y="3246120"/>
            <a:ext cx="1828800" cy="329184"/>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Dữ liệu</a:t>
            </a:r>
            <a:endParaRPr lang="en-US" sz="1500" dirty="0"/>
          </a:p>
        </p:txBody>
      </p:sp>
      <p:sp>
        <p:nvSpPr>
          <p:cNvPr id="22" name="Text 20"/>
          <p:cNvSpPr txBox="1"/>
          <p:nvPr/>
        </p:nvSpPr>
        <p:spPr>
          <a:xfrm>
            <a:off x="2880360" y="3246120"/>
            <a:ext cx="1097280" cy="329184"/>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/du-lieu</a:t>
            </a:r>
            <a:endParaRPr lang="en-US" sz="950" dirty="0"/>
          </a:p>
        </p:txBody>
      </p:sp>
      <p:sp>
        <p:nvSpPr>
          <p:cNvPr id="23" name="Text 21"/>
          <p:cNvSpPr txBox="1"/>
          <p:nvPr/>
        </p:nvSpPr>
        <p:spPr>
          <a:xfrm>
            <a:off x="960120" y="3657600"/>
            <a:ext cx="2926080" cy="50292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thống kê split, phân phối độ dài</a:t>
            </a:r>
            <a:endParaRPr lang="en-US" sz="1100" dirty="0"/>
          </a:p>
        </p:txBody>
      </p:sp>
      <p:sp>
        <p:nvSpPr>
          <p:cNvPr id="24" name="Shape 22"/>
          <p:cNvSpPr/>
          <p:nvPr/>
        </p:nvSpPr>
        <p:spPr>
          <a:xfrm>
            <a:off x="4361688" y="3063240"/>
            <a:ext cx="3456432" cy="1188720"/>
          </a:xfrm>
          <a:prstGeom prst="roundRect">
            <a:avLst>
              <a:gd name="adj" fmla="val 1230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5" name="Shape 23"/>
          <p:cNvSpPr/>
          <p:nvPr/>
        </p:nvSpPr>
        <p:spPr>
          <a:xfrm>
            <a:off x="4636008" y="3364992"/>
            <a:ext cx="146304" cy="146304"/>
          </a:xfrm>
          <a:prstGeom prst="ellipse">
            <a:avLst/>
          </a:prstGeom>
          <a:solidFill>
            <a:srgbClr val="C67139"/>
          </a:solidFill>
          <a:ln w="12700">
            <a:solidFill>
              <a:srgbClr val="C67139"/>
            </a:solidFill>
            <a:prstDash val="solid"/>
          </a:ln>
        </p:spPr>
      </p:sp>
      <p:sp>
        <p:nvSpPr>
          <p:cNvPr id="26" name="Text 24"/>
          <p:cNvSpPr txBox="1"/>
          <p:nvPr/>
        </p:nvSpPr>
        <p:spPr>
          <a:xfrm>
            <a:off x="4892040" y="3246120"/>
            <a:ext cx="1828800" cy="329184"/>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So sánh model</a:t>
            </a:r>
            <a:endParaRPr lang="en-US" sz="1500" dirty="0"/>
          </a:p>
        </p:txBody>
      </p:sp>
      <p:sp>
        <p:nvSpPr>
          <p:cNvPr id="27" name="Text 25"/>
          <p:cNvSpPr txBox="1"/>
          <p:nvPr/>
        </p:nvSpPr>
        <p:spPr>
          <a:xfrm>
            <a:off x="6556248" y="3246120"/>
            <a:ext cx="1097280" cy="329184"/>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/so-sanh</a:t>
            </a:r>
            <a:endParaRPr lang="en-US" sz="950" dirty="0"/>
          </a:p>
        </p:txBody>
      </p:sp>
      <p:sp>
        <p:nvSpPr>
          <p:cNvPr id="28" name="Text 26"/>
          <p:cNvSpPr txBox="1"/>
          <p:nvPr/>
        </p:nvSpPr>
        <p:spPr>
          <a:xfrm>
            <a:off x="4636008" y="3657600"/>
            <a:ext cx="2926080" cy="50292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bốn mô hình cạnh nhau, ô tốt nhất được TÍNH</a:t>
            </a:r>
            <a:endParaRPr lang="en-US" sz="1100" dirty="0"/>
          </a:p>
        </p:txBody>
      </p:sp>
      <p:sp>
        <p:nvSpPr>
          <p:cNvPr id="29" name="Shape 27"/>
          <p:cNvSpPr/>
          <p:nvPr/>
        </p:nvSpPr>
        <p:spPr>
          <a:xfrm>
            <a:off x="8037576" y="3063240"/>
            <a:ext cx="3456432" cy="1188720"/>
          </a:xfrm>
          <a:prstGeom prst="roundRect">
            <a:avLst>
              <a:gd name="adj" fmla="val 1230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30" name="Shape 28"/>
          <p:cNvSpPr/>
          <p:nvPr/>
        </p:nvSpPr>
        <p:spPr>
          <a:xfrm>
            <a:off x="8311896" y="3364992"/>
            <a:ext cx="146304" cy="146304"/>
          </a:xfrm>
          <a:prstGeom prst="ellipse">
            <a:avLst/>
          </a:prstGeom>
          <a:solidFill>
            <a:srgbClr val="7A8A5E"/>
          </a:solidFill>
          <a:ln w="12700">
            <a:solidFill>
              <a:srgbClr val="7A8A5E"/>
            </a:solidFill>
            <a:prstDash val="solid"/>
          </a:ln>
        </p:spPr>
      </p:sp>
      <p:sp>
        <p:nvSpPr>
          <p:cNvPr id="31" name="Text 29"/>
          <p:cNvSpPr txBox="1"/>
          <p:nvPr/>
        </p:nvSpPr>
        <p:spPr>
          <a:xfrm>
            <a:off x="8567928" y="3246120"/>
            <a:ext cx="1828800" cy="329184"/>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Huấn luyện</a:t>
            </a:r>
            <a:endParaRPr lang="en-US" sz="1500" dirty="0"/>
          </a:p>
        </p:txBody>
      </p:sp>
      <p:sp>
        <p:nvSpPr>
          <p:cNvPr id="32" name="Text 30"/>
          <p:cNvSpPr txBox="1"/>
          <p:nvPr/>
        </p:nvSpPr>
        <p:spPr>
          <a:xfrm>
            <a:off x="10232136" y="3246120"/>
            <a:ext cx="1097280" cy="329184"/>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/huan-luyen</a:t>
            </a:r>
            <a:endParaRPr lang="en-US" sz="950" dirty="0"/>
          </a:p>
        </p:txBody>
      </p:sp>
      <p:sp>
        <p:nvSpPr>
          <p:cNvPr id="33" name="Text 31"/>
          <p:cNvSpPr txBox="1"/>
          <p:nvPr/>
        </p:nvSpPr>
        <p:spPr>
          <a:xfrm>
            <a:off x="8311896" y="3657600"/>
            <a:ext cx="2926080" cy="50292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đường cong loss, EM, F1</a:t>
            </a:r>
            <a:endParaRPr lang="en-US" sz="1100" dirty="0"/>
          </a:p>
        </p:txBody>
      </p:sp>
      <p:sp>
        <p:nvSpPr>
          <p:cNvPr id="34" name="Shape 32"/>
          <p:cNvSpPr/>
          <p:nvPr/>
        </p:nvSpPr>
        <p:spPr>
          <a:xfrm>
            <a:off x="685800" y="4526280"/>
            <a:ext cx="10817352" cy="1280160"/>
          </a:xfrm>
          <a:prstGeom prst="roundRect">
            <a:avLst>
              <a:gd name="adj" fmla="val 11429"/>
            </a:avLst>
          </a:prstGeom>
          <a:solidFill>
            <a:srgbClr val="F0FAE1"/>
          </a:solidFill>
          <a:ln w="12700">
            <a:solidFill>
              <a:srgbClr val="F0FAE1"/>
            </a:solidFill>
            <a:prstDash val="solid"/>
          </a:ln>
        </p:spPr>
      </p:sp>
      <p:sp>
        <p:nvSpPr>
          <p:cNvPr id="35" name="Text 33"/>
          <p:cNvSpPr txBox="1"/>
          <p:nvPr/>
        </p:nvSpPr>
        <p:spPr>
          <a:xfrm>
            <a:off x="1051560" y="4736592"/>
            <a:ext cx="3291840" cy="320040"/>
          </a:xfrm>
          <a:prstGeom prst="rect">
            <a:avLst/>
          </a:prstGeom>
          <a:noFill/>
          <a:ln/>
        </p:spPr>
        <p:txBody>
          <a:bodyPr wrap="square" lIns="0" tIns="0" rIns="0" bIns="0" rtlCol="0" anchor="t"/>
          <a:lstStyle/>
          <a:p>
            <a:pPr algn="l" indent="0" marL="0">
              <a:lnSpc>
                <a:spcPts val="2175"/>
              </a:lnSpc>
              <a:buNone/>
            </a:pPr>
            <a:r>
              <a:rPr lang="en-US" sz="1500" b="1" dirty="0">
                <a:solidFill>
                  <a:srgbClr val="3D472B"/>
                </a:solidFill>
                <a:latin typeface="Nunito" pitchFamily="34" charset="0"/>
                <a:ea typeface="Nunito" pitchFamily="34" charset="-122"/>
                <a:cs typeface="Nunito" pitchFamily="34" charset="-120"/>
              </a:rPr>
              <a:t>Demo không sinh ra con số nào.</a:t>
            </a:r>
            <a:endParaRPr lang="en-US" sz="1500" dirty="0"/>
          </a:p>
        </p:txBody>
      </p:sp>
      <p:sp>
        <p:nvSpPr>
          <p:cNvPr id="36" name="Text 34"/>
          <p:cNvSpPr txBox="1"/>
          <p:nvPr/>
        </p:nvSpPr>
        <p:spPr>
          <a:xfrm>
            <a:off x="4526280" y="4709160"/>
            <a:ext cx="6675120" cy="82296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Mọi số trên màn hình đọc từ results/*.json hoặc đo trực tiếp từ data/raw/ qua một điểm truy cập duy nhất — kể cả thứ hạng “tốt nhất” và ô in đậm trong bảng so sánh, chúng được TÍNH chứ không gõ tay. Huấn luyện lại là màn hình tự nói đúng.</a:t>
            </a:r>
            <a:endParaRPr lang="en-US" sz="1200" dirty="0"/>
          </a:p>
        </p:txBody>
      </p:sp>
      <p:sp>
        <p:nvSpPr>
          <p:cNvPr id="37" name="Text 3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Demo · Streamlit, sáu màn hình deep-link</a:t>
            </a:r>
            <a:endParaRPr lang="en-US" sz="1000" dirty="0"/>
          </a:p>
        </p:txBody>
      </p:sp>
      <p:sp>
        <p:nvSpPr>
          <p:cNvPr id="38" name="Text 3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GIỚI HẠN · HƯỚNG PHÁT TRIỂN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Điều bọn em nói rõ trong báo cáo</a:t>
            </a:r>
            <a:endParaRPr lang="en-US" sz="3400" dirty="0"/>
          </a:p>
        </p:txBody>
      </p:sp>
      <p:sp>
        <p:nvSpPr>
          <p:cNvPr id="4" name="Shape 2"/>
          <p:cNvSpPr/>
          <p:nvPr/>
        </p:nvSpPr>
        <p:spPr>
          <a:xfrm>
            <a:off x="685800" y="1645920"/>
            <a:ext cx="10817352"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10512"/>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6" name="Text 4"/>
          <p:cNvSpPr txBox="1"/>
          <p:nvPr/>
        </p:nvSpPr>
        <p:spPr>
          <a:xfrm>
            <a:off x="1307592" y="1819656"/>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PhoBERT chưa từng được chạy</a:t>
            </a:r>
            <a:endParaRPr lang="en-US" sz="1250" dirty="0"/>
          </a:p>
        </p:txBody>
      </p:sp>
      <p:sp>
        <p:nvSpPr>
          <p:cNvPr id="7" name="Text 5"/>
          <p:cNvSpPr txBox="1"/>
          <p:nvPr/>
        </p:nvSpPr>
        <p:spPr>
          <a:xfrm>
            <a:off x="5440680" y="1783080"/>
            <a:ext cx="5806440" cy="420624"/>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Giả thuyết trung tâm “encoder tiếng Việt vượt mBERT” CHƯA KIỂM ĐƯỢC — ViSoBERT là mô hình thay thế, không phải phép kiểm</a:t>
            </a:r>
            <a:endParaRPr lang="en-US" sz="1050" dirty="0"/>
          </a:p>
        </p:txBody>
      </p:sp>
      <p:sp>
        <p:nvSpPr>
          <p:cNvPr id="8" name="Shape 6"/>
          <p:cNvSpPr/>
          <p:nvPr/>
        </p:nvSpPr>
        <p:spPr>
          <a:xfrm>
            <a:off x="685800" y="2395728"/>
            <a:ext cx="10817352" cy="676656"/>
          </a:xfrm>
          <a:prstGeom prst="roundRect">
            <a:avLst>
              <a:gd name="adj" fmla="val 21622"/>
            </a:avLst>
          </a:prstGeom>
          <a:solidFill>
            <a:srgbClr val="EBDDC5"/>
          </a:solidFill>
          <a:ln w="12700">
            <a:solidFill>
              <a:srgbClr val="EBDDC5"/>
            </a:solidFill>
            <a:prstDash val="solid"/>
          </a:ln>
        </p:spPr>
      </p:sp>
      <p:sp>
        <p:nvSpPr>
          <p:cNvPr id="9" name="Text 7"/>
          <p:cNvSpPr txBox="1"/>
          <p:nvPr/>
        </p:nvSpPr>
        <p:spPr>
          <a:xfrm>
            <a:off x="960120" y="2560320"/>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0" name="Text 8"/>
          <p:cNvSpPr txBox="1"/>
          <p:nvPr/>
        </p:nvSpPr>
        <p:spPr>
          <a:xfrm>
            <a:off x="1307592" y="2569464"/>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ViSoBERT chưa huấn luyện lại sau chẩn đoán</a:t>
            </a:r>
            <a:endParaRPr lang="en-US" sz="1250" dirty="0"/>
          </a:p>
        </p:txBody>
      </p:sp>
      <p:sp>
        <p:nvSpPr>
          <p:cNvPr id="11" name="Text 9"/>
          <p:cNvSpPr txBox="1"/>
          <p:nvPr/>
        </p:nvSpPr>
        <p:spPr>
          <a:xfrm>
            <a:off x="5440680" y="2532888"/>
            <a:ext cx="5806440" cy="420624"/>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Lời giải thích max_length vẫn là giả thuyết phù hợp bằng chứng, chưa phải nhân quả</a:t>
            </a:r>
            <a:endParaRPr lang="en-US" sz="1050" dirty="0"/>
          </a:p>
        </p:txBody>
      </p:sp>
      <p:sp>
        <p:nvSpPr>
          <p:cNvPr id="12" name="Shape 10"/>
          <p:cNvSpPr/>
          <p:nvPr/>
        </p:nvSpPr>
        <p:spPr>
          <a:xfrm>
            <a:off x="685800" y="3145536"/>
            <a:ext cx="10817352"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960120" y="3310128"/>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4" name="Text 12"/>
          <p:cNvSpPr txBox="1"/>
          <p:nvPr/>
        </p:nvSpPr>
        <p:spPr>
          <a:xfrm>
            <a:off x="1307592" y="3319272"/>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Đánh giá trên validation, không phải test</a:t>
            </a:r>
            <a:endParaRPr lang="en-US" sz="1250" dirty="0"/>
          </a:p>
        </p:txBody>
      </p:sp>
      <p:sp>
        <p:nvSpPr>
          <p:cNvPr id="15" name="Text 13"/>
          <p:cNvSpPr txBox="1"/>
          <p:nvPr/>
        </p:nvSpPr>
        <p:spPr>
          <a:xfrm>
            <a:off x="5440680" y="3282696"/>
            <a:ext cx="5806440" cy="420624"/>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Test là blind split — giới hạn của dataset, không phải của thiết kế</a:t>
            </a:r>
            <a:endParaRPr lang="en-US" sz="1050" dirty="0"/>
          </a:p>
        </p:txBody>
      </p:sp>
      <p:sp>
        <p:nvSpPr>
          <p:cNvPr id="16" name="Shape 14"/>
          <p:cNvSpPr/>
          <p:nvPr/>
        </p:nvSpPr>
        <p:spPr>
          <a:xfrm>
            <a:off x="685800" y="3895344"/>
            <a:ext cx="10817352" cy="676656"/>
          </a:xfrm>
          <a:prstGeom prst="roundRect">
            <a:avLst>
              <a:gd name="adj" fmla="val 21622"/>
            </a:avLst>
          </a:prstGeom>
          <a:solidFill>
            <a:srgbClr val="EBDDC5"/>
          </a:solidFill>
          <a:ln w="12700">
            <a:solidFill>
              <a:srgbClr val="EBDDC5"/>
            </a:solidFill>
            <a:prstDash val="solid"/>
          </a:ln>
        </p:spPr>
      </p:sp>
      <p:sp>
        <p:nvSpPr>
          <p:cNvPr id="17" name="Text 15"/>
          <p:cNvSpPr txBox="1"/>
          <p:nvPr/>
        </p:nvSpPr>
        <p:spPr>
          <a:xfrm>
            <a:off x="960120" y="4059936"/>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8" name="Text 16"/>
          <p:cNvSpPr txBox="1"/>
          <p:nvPr/>
        </p:nvSpPr>
        <p:spPr>
          <a:xfrm>
            <a:off x="1307592" y="4069080"/>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n = 500, một seed duy nhất</a:t>
            </a:r>
            <a:endParaRPr lang="en-US" sz="1250" dirty="0"/>
          </a:p>
        </p:txBody>
      </p:sp>
      <p:sp>
        <p:nvSpPr>
          <p:cNvPr id="19" name="Text 17"/>
          <p:cNvSpPr txBox="1"/>
          <p:nvPr/>
        </p:nvSpPr>
        <p:spPr>
          <a:xfrm>
            <a:off x="5440680" y="4032504"/>
            <a:ext cx="5806440" cy="420624"/>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CI 95% khoảng ±4,3 điểm — chênh lệch F1 answerable mBERT/XLM-R KHÔNG có ý nghĩa</a:t>
            </a:r>
            <a:endParaRPr lang="en-US" sz="1050" dirty="0"/>
          </a:p>
        </p:txBody>
      </p:sp>
      <p:sp>
        <p:nvSpPr>
          <p:cNvPr id="20" name="Shape 18"/>
          <p:cNvSpPr/>
          <p:nvPr/>
        </p:nvSpPr>
        <p:spPr>
          <a:xfrm>
            <a:off x="685800" y="4645152"/>
            <a:ext cx="10817352"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1" name="Text 19"/>
          <p:cNvSpPr txBox="1"/>
          <p:nvPr/>
        </p:nvSpPr>
        <p:spPr>
          <a:xfrm>
            <a:off x="960120" y="4809744"/>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22" name="Text 20"/>
          <p:cNvSpPr txBox="1"/>
          <p:nvPr/>
        </p:nvSpPr>
        <p:spPr>
          <a:xfrm>
            <a:off x="1307592" y="4818888"/>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question_type là heuristic tự gán</a:t>
            </a:r>
            <a:endParaRPr lang="en-US" sz="1250" dirty="0"/>
          </a:p>
        </p:txBody>
      </p:sp>
      <p:sp>
        <p:nvSpPr>
          <p:cNvPr id="23" name="Text 21"/>
          <p:cNvSpPr txBox="1"/>
          <p:nvPr/>
        </p:nvSpPr>
        <p:spPr>
          <a:xfrm>
            <a:off x="5440680" y="4782312"/>
            <a:ext cx="5806440" cy="420624"/>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Ngưỡng 0.6 chọn theo quan sát — không phải nhãn có sẵn của ViQuAD</a:t>
            </a:r>
            <a:endParaRPr lang="en-US" sz="1050" dirty="0"/>
          </a:p>
        </p:txBody>
      </p:sp>
      <p:sp>
        <p:nvSpPr>
          <p:cNvPr id="24" name="Shape 22"/>
          <p:cNvSpPr/>
          <p:nvPr/>
        </p:nvSpPr>
        <p:spPr>
          <a:xfrm>
            <a:off x="685800" y="5468112"/>
            <a:ext cx="10817352" cy="749808"/>
          </a:xfrm>
          <a:prstGeom prst="roundRect">
            <a:avLst>
              <a:gd name="adj" fmla="val 19512"/>
            </a:avLst>
          </a:prstGeom>
          <a:solidFill>
            <a:srgbClr val="F0FAE1"/>
          </a:solidFill>
          <a:ln w="12700">
            <a:solidFill>
              <a:srgbClr val="F0FAE1"/>
            </a:solidFill>
            <a:prstDash val="solid"/>
          </a:ln>
        </p:spPr>
      </p:sp>
      <p:sp>
        <p:nvSpPr>
          <p:cNvPr id="25" name="Text 23"/>
          <p:cNvSpPr txBox="1"/>
          <p:nvPr/>
        </p:nvSpPr>
        <p:spPr>
          <a:xfrm>
            <a:off x="1005840" y="5596128"/>
            <a:ext cx="228600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BƯỚC TIẾP THEO</a:t>
            </a:r>
            <a:endParaRPr lang="en-US" sz="950" dirty="0"/>
          </a:p>
        </p:txBody>
      </p:sp>
      <p:sp>
        <p:nvSpPr>
          <p:cNvPr id="26" name="Text 24"/>
          <p:cNvSpPr txBox="1"/>
          <p:nvPr/>
        </p:nvSpPr>
        <p:spPr>
          <a:xfrm>
            <a:off x="3063240" y="5614416"/>
            <a:ext cx="8229600" cy="457200"/>
          </a:xfrm>
          <a:prstGeom prst="rect">
            <a:avLst/>
          </a:prstGeom>
          <a:noFill/>
          <a:ln/>
        </p:spPr>
        <p:txBody>
          <a:bodyPr wrap="square" lIns="0" tIns="0" rIns="0" bIns="0" rtlCol="0" anchor="t"/>
          <a:lstStyle/>
          <a:p>
            <a:pPr algn="l" indent="0" marL="0">
              <a:lnSpc>
                <a:spcPts val="1595"/>
              </a:lnSpc>
              <a:buNone/>
            </a:pPr>
            <a:r>
              <a:rPr lang="en-US" sz="1100" dirty="0">
                <a:solidFill>
                  <a:srgbClr val="3D472B"/>
                </a:solidFill>
                <a:latin typeface="Nunito" pitchFamily="34" charset="0"/>
                <a:ea typeface="Nunito" pitchFamily="34" charset="-122"/>
                <a:cs typeface="Nunito" pitchFamily="34" charset="-120"/>
              </a:rPr>
              <a:t>Huấn luyện lại ViSoBERT với max_length 768 và lr 3e-5 — phép kiểm trực tiếp  ·  chạy --full trên 3.814 câu  ·  thêm epoch 3–4 cho mBERT  ·  tích hợp PhoBERT</a:t>
            </a:r>
            <a:endParaRPr lang="en-US" sz="1100" dirty="0"/>
          </a:p>
        </p:txBody>
      </p:sp>
      <p:sp>
        <p:nvSpPr>
          <p:cNvPr id="27" name="Text 2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Giới hạn · Hướng phát triển</a:t>
            </a:r>
            <a:endParaRPr lang="en-US" sz="1000" dirty="0"/>
          </a:p>
        </p:txBody>
      </p:sp>
      <p:sp>
        <p:nvSpPr>
          <p:cNvPr id="28" name="Text 2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E2B25"/>
        </a:solidFill>
      </p:bgPr>
    </p:bg>
    <p:spTree>
      <p:nvGrpSpPr>
        <p:cNvPr id="1" name=""/>
        <p:cNvGrpSpPr/>
        <p:nvPr/>
      </p:nvGrpSpPr>
      <p:grpSpPr>
        <a:xfrm>
          <a:off x="0" y="0"/>
          <a:ext cx="0" cy="0"/>
          <a:chOff x="0" y="0"/>
          <a:chExt cx="0" cy="0"/>
        </a:xfrm>
      </p:grpSpPr>
      <p:sp>
        <p:nvSpPr>
          <p:cNvPr id="2" name="Text 0"/>
          <p:cNvSpPr txBox="1"/>
          <p:nvPr/>
        </p:nvSpPr>
        <p:spPr>
          <a:xfrm>
            <a:off x="685800" y="1051560"/>
            <a:ext cx="10820095"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KẾT LUẬN</a:t>
            </a:r>
            <a:endParaRPr lang="en-US" sz="1200" dirty="0"/>
          </a:p>
        </p:txBody>
      </p:sp>
      <p:sp>
        <p:nvSpPr>
          <p:cNvPr id="3" name="Text 1"/>
          <p:cNvSpPr txBox="1"/>
          <p:nvPr/>
        </p:nvSpPr>
        <p:spPr>
          <a:xfrm>
            <a:off x="685800" y="1508760"/>
            <a:ext cx="10515600" cy="1554480"/>
          </a:xfrm>
          <a:prstGeom prst="rect">
            <a:avLst/>
          </a:prstGeom>
          <a:noFill/>
          <a:ln/>
        </p:spPr>
        <p:txBody>
          <a:bodyPr wrap="square" lIns="0" tIns="0" rIns="0" bIns="0" rtlCol="0" anchor="ctr"/>
          <a:lstStyle/>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Điểm tổng trộn hai kỹ năng:</a:t>
            </a:r>
            <a:endParaRPr lang="en-US" sz="3600" dirty="0"/>
          </a:p>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tìm span, và biết khi nào im lặng.</a:t>
            </a:r>
            <a:endParaRPr lang="en-US" sz="3600" dirty="0"/>
          </a:p>
        </p:txBody>
      </p:sp>
      <p:sp>
        <p:nvSpPr>
          <p:cNvPr id="4" name="Text 2"/>
          <p:cNvSpPr txBox="1"/>
          <p:nvPr/>
        </p:nvSpPr>
        <p:spPr>
          <a:xfrm>
            <a:off x="685800" y="3108960"/>
            <a:ext cx="10058400" cy="457200"/>
          </a:xfrm>
          <a:prstGeom prst="rect">
            <a:avLst/>
          </a:prstGeom>
          <a:noFill/>
          <a:ln/>
        </p:spPr>
        <p:txBody>
          <a:bodyPr wrap="square" lIns="0" tIns="0" rIns="0" bIns="0" rtlCol="0" anchor="ctr"/>
          <a:lstStyle/>
          <a:p>
            <a:pPr indent="0" marL="0">
              <a:buNone/>
            </a:pPr>
            <a:r>
              <a:rPr lang="en-US" sz="1400" i="1" dirty="0">
                <a:solidFill>
                  <a:srgbClr val="A19786"/>
                </a:solidFill>
                <a:latin typeface="Nunito" pitchFamily="34" charset="0"/>
                <a:ea typeface="Nunito" pitchFamily="34" charset="-122"/>
                <a:cs typeface="Nunito" pitchFamily="34" charset="-120"/>
              </a:rPr>
              <a:t>Còn câu hỏi “tiếng Việt chuyên biệt có giúp không?” thì vẫn để ngỏ — PhoBERT chưa chạy, lần huấn luyện ViSoBERT đã suy sụp. Nói rõ điều đó cũng là một kết quả.</a:t>
            </a:r>
            <a:endParaRPr lang="en-US" sz="1400" dirty="0"/>
          </a:p>
        </p:txBody>
      </p:sp>
      <p:sp>
        <p:nvSpPr>
          <p:cNvPr id="5" name="Shape 3"/>
          <p:cNvSpPr/>
          <p:nvPr/>
        </p:nvSpPr>
        <p:spPr>
          <a:xfrm>
            <a:off x="685800" y="3931920"/>
            <a:ext cx="2560320" cy="1508760"/>
          </a:xfrm>
          <a:prstGeom prst="roundRect">
            <a:avLst>
              <a:gd name="adj" fmla="val 9697"/>
            </a:avLst>
          </a:prstGeom>
          <a:solidFill>
            <a:srgbClr val="3B362E"/>
          </a:solidFill>
          <a:ln w="12700">
            <a:solidFill>
              <a:srgbClr val="3B362E"/>
            </a:solidFill>
            <a:prstDash val="solid"/>
          </a:ln>
        </p:spPr>
      </p:sp>
      <p:sp>
        <p:nvSpPr>
          <p:cNvPr id="6" name="Text 4"/>
          <p:cNvSpPr txBox="1"/>
          <p:nvPr/>
        </p:nvSpPr>
        <p:spPr>
          <a:xfrm>
            <a:off x="9144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50,80</a:t>
            </a:r>
            <a:endParaRPr lang="en-US" sz="3000" dirty="0"/>
          </a:p>
        </p:txBody>
      </p:sp>
      <p:sp>
        <p:nvSpPr>
          <p:cNvPr id="7" name="Text 5"/>
          <p:cNvSpPr txBox="1"/>
          <p:nvPr/>
        </p:nvSpPr>
        <p:spPr>
          <a:xfrm>
            <a:off x="9144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EM · mBERT fine-tuned</a:t>
            </a:r>
            <a:endParaRPr lang="en-US" sz="1150" dirty="0"/>
          </a:p>
        </p:txBody>
      </p:sp>
      <p:sp>
        <p:nvSpPr>
          <p:cNvPr id="8" name="Shape 6"/>
          <p:cNvSpPr/>
          <p:nvPr/>
        </p:nvSpPr>
        <p:spPr>
          <a:xfrm>
            <a:off x="3429000" y="3931920"/>
            <a:ext cx="2560320" cy="1508760"/>
          </a:xfrm>
          <a:prstGeom prst="roundRect">
            <a:avLst>
              <a:gd name="adj" fmla="val 9697"/>
            </a:avLst>
          </a:prstGeom>
          <a:solidFill>
            <a:srgbClr val="3B362E"/>
          </a:solidFill>
          <a:ln w="12700">
            <a:solidFill>
              <a:srgbClr val="3B362E"/>
            </a:solidFill>
            <a:prstDash val="solid"/>
          </a:ln>
        </p:spPr>
      </p:sp>
      <p:sp>
        <p:nvSpPr>
          <p:cNvPr id="9" name="Text 7"/>
          <p:cNvSpPr txBox="1"/>
          <p:nvPr/>
        </p:nvSpPr>
        <p:spPr>
          <a:xfrm>
            <a:off x="36576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a:t>
            </a:r>
            <a:endParaRPr lang="en-US" sz="3000" dirty="0"/>
          </a:p>
        </p:txBody>
      </p:sp>
      <p:sp>
        <p:nvSpPr>
          <p:cNvPr id="10" name="Text 8"/>
          <p:cNvSpPr txBox="1"/>
          <p:nvPr/>
        </p:nvSpPr>
        <p:spPr>
          <a:xfrm>
            <a:off x="36576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mô hình, một interface</a:t>
            </a:r>
            <a:endParaRPr lang="en-US" sz="1150" dirty="0"/>
          </a:p>
        </p:txBody>
      </p:sp>
      <p:sp>
        <p:nvSpPr>
          <p:cNvPr id="11" name="Shape 9"/>
          <p:cNvSpPr/>
          <p:nvPr/>
        </p:nvSpPr>
        <p:spPr>
          <a:xfrm>
            <a:off x="6172200" y="3931920"/>
            <a:ext cx="2560320" cy="1508760"/>
          </a:xfrm>
          <a:prstGeom prst="roundRect">
            <a:avLst>
              <a:gd name="adj" fmla="val 9697"/>
            </a:avLst>
          </a:prstGeom>
          <a:solidFill>
            <a:srgbClr val="3B362E"/>
          </a:solidFill>
          <a:ln w="12700">
            <a:solidFill>
              <a:srgbClr val="3B362E"/>
            </a:solidFill>
            <a:prstDash val="solid"/>
          </a:ln>
        </p:spPr>
      </p:sp>
      <p:sp>
        <p:nvSpPr>
          <p:cNvPr id="12" name="Text 10"/>
          <p:cNvSpPr txBox="1"/>
          <p:nvPr/>
        </p:nvSpPr>
        <p:spPr>
          <a:xfrm>
            <a:off x="64008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423</a:t>
            </a:r>
            <a:endParaRPr lang="en-US" sz="3000" dirty="0"/>
          </a:p>
        </p:txBody>
      </p:sp>
      <p:sp>
        <p:nvSpPr>
          <p:cNvPr id="13" name="Text 11"/>
          <p:cNvSpPr txBox="1"/>
          <p:nvPr/>
        </p:nvSpPr>
        <p:spPr>
          <a:xfrm>
            <a:off x="64008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test trong ~1 giây</a:t>
            </a:r>
            <a:endParaRPr lang="en-US" sz="1150" dirty="0"/>
          </a:p>
        </p:txBody>
      </p:sp>
      <p:sp>
        <p:nvSpPr>
          <p:cNvPr id="14" name="Shape 12"/>
          <p:cNvSpPr/>
          <p:nvPr/>
        </p:nvSpPr>
        <p:spPr>
          <a:xfrm>
            <a:off x="8915400" y="3931920"/>
            <a:ext cx="2560320" cy="1508760"/>
          </a:xfrm>
          <a:prstGeom prst="roundRect">
            <a:avLst>
              <a:gd name="adj" fmla="val 9697"/>
            </a:avLst>
          </a:prstGeom>
          <a:solidFill>
            <a:srgbClr val="3B362E"/>
          </a:solidFill>
          <a:ln w="12700">
            <a:solidFill>
              <a:srgbClr val="3B362E"/>
            </a:solidFill>
            <a:prstDash val="solid"/>
          </a:ln>
        </p:spPr>
      </p:sp>
      <p:sp>
        <p:nvSpPr>
          <p:cNvPr id="15" name="Text 13"/>
          <p:cNvSpPr txBox="1"/>
          <p:nvPr/>
        </p:nvSpPr>
        <p:spPr>
          <a:xfrm>
            <a:off x="91440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0</a:t>
            </a:r>
            <a:endParaRPr lang="en-US" sz="3000" dirty="0"/>
          </a:p>
        </p:txBody>
      </p:sp>
      <p:sp>
        <p:nvSpPr>
          <p:cNvPr id="16" name="Text 14"/>
          <p:cNvSpPr txBox="1"/>
          <p:nvPr/>
        </p:nvSpPr>
        <p:spPr>
          <a:xfrm>
            <a:off x="91440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con số được gõ tay</a:t>
            </a:r>
            <a:endParaRPr lang="en-US" sz="1150" dirty="0"/>
          </a:p>
        </p:txBody>
      </p:sp>
      <p:sp>
        <p:nvSpPr>
          <p:cNvPr id="17" name="Text 15"/>
          <p:cNvSpPr txBox="1"/>
          <p:nvPr/>
        </p:nvSpPr>
        <p:spPr>
          <a:xfrm>
            <a:off x="685800" y="5715000"/>
            <a:ext cx="5486400" cy="365760"/>
          </a:xfrm>
          <a:prstGeom prst="rect">
            <a:avLst/>
          </a:prstGeom>
          <a:noFill/>
          <a:ln/>
        </p:spPr>
        <p:txBody>
          <a:bodyPr wrap="square" lIns="0" tIns="0" rIns="0" bIns="0" rtlCol="0" anchor="ctr"/>
          <a:lstStyle/>
          <a:p>
            <a:pPr indent="0" marL="0">
              <a:buNone/>
            </a:pPr>
            <a:r>
              <a:rPr lang="en-US" sz="1700" b="1" dirty="0">
                <a:solidFill>
                  <a:srgbClr val="F5EAD8"/>
                </a:solidFill>
                <a:latin typeface="Baloo 2" pitchFamily="34" charset="0"/>
                <a:ea typeface="Baloo 2" pitchFamily="34" charset="-122"/>
                <a:cs typeface="Baloo 2" pitchFamily="34" charset="-120"/>
              </a:rPr>
              <a:t>Cảm ơn thầy và các bạn đã lắng nghe.</a:t>
            </a:r>
            <a:endParaRPr lang="en-US" sz="1700" dirty="0"/>
          </a:p>
        </p:txBody>
      </p:sp>
      <p:sp>
        <p:nvSpPr>
          <p:cNvPr id="18" name="Text 16"/>
          <p:cNvSpPr txBox="1"/>
          <p:nvPr/>
        </p:nvSpPr>
        <p:spPr>
          <a:xfrm>
            <a:off x="6309360" y="5760720"/>
            <a:ext cx="5212080" cy="292608"/>
          </a:xfrm>
          <a:prstGeom prst="rect">
            <a:avLst/>
          </a:prstGeom>
          <a:noFill/>
          <a:ln/>
        </p:spPr>
        <p:txBody>
          <a:bodyPr wrap="square" lIns="0" tIns="0" rIns="0" bIns="0" rtlCol="0" anchor="ctr"/>
          <a:lstStyle/>
          <a:p>
            <a:pPr algn="r" indent="0" marL="0">
              <a:buNone/>
            </a:pPr>
            <a:r>
              <a:rPr lang="en-US" sz="1050" dirty="0">
                <a:solidFill>
                  <a:srgbClr val="A19786"/>
                </a:solidFill>
                <a:latin typeface="Courier New" pitchFamily="34" charset="0"/>
                <a:ea typeface="Courier New" pitchFamily="34" charset="-122"/>
                <a:cs typeface="Courier New" pitchFamily="34" charset="-120"/>
              </a:rPr>
              <a:t>docs/ARCHITECTURE.md  ·  docs/SYSTEM_DESIGN.md</a:t>
            </a:r>
            <a:endParaRPr lang="en-US" sz="1050" dirty="0"/>
          </a:p>
        </p:txBody>
      </p:sp>
      <p:sp>
        <p:nvSpPr>
          <p:cNvPr id="19" name="Text 1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CS116 · Đề tài T11 · Nhóm 7</a:t>
            </a:r>
            <a:endParaRPr lang="en-US" sz="1000" dirty="0"/>
          </a:p>
        </p:txBody>
      </p:sp>
      <p:sp>
        <p:nvSpPr>
          <p:cNvPr id="20" name="Text 1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đọc hiểu và trả lời câu hỏi tiếng Việt</dc:title>
  <dc:subject>PptxGenJS Presentation</dc:subject>
  <dc:creator>Nhóm 7 — CS116</dc:creator>
  <cp:lastModifiedBy>Nhóm 7 — CS116</cp:lastModifiedBy>
  <cp:revision>1</cp:revision>
  <dcterms:created xsi:type="dcterms:W3CDTF">2026-09-13T16:38:14Z</dcterms:created>
  <dcterms:modified xsi:type="dcterms:W3CDTF">2026-09-13T16:38:14Z</dcterms:modified>
</cp:coreProperties>
</file>