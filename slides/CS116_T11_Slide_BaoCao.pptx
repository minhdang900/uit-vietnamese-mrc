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EM</c:v>
                </c:pt>
              </c:strCache>
            </c:strRef>
          </c:tx>
          <c:spPr>
            <a:solidFill>
              <a:srgbClr val="C67139"/>
            </a:solidFill>
            <a:effectLst/>
          </c:spPr>
          <c:invertIfNegative val="0"/>
          <c:dLbls>
            <c:numFmt formatCode="0.0" sourceLinked="0"/>
            <c:txPr>
              <a:bodyPr/>
              <a:lstStyle/>
              <a:p>
                <a:pPr>
                  <a:defRPr b="0" i="0" strike="noStrike" sz="1000" u="none">
                    <a:solidFill>
                      <a:srgbClr val="201E1D"/>
                    </a:solidFill>
                    <a:latin typeface="Nunito"/>
                  </a:defRPr>
                </a:pPr>
              </a:p>
            </c:txPr>
            <c:showLegendKey val="0"/>
            <c:showVal val="1"/>
            <c:showCatName val="0"/>
            <c:showSerName val="0"/>
            <c:showPercent val="0"/>
            <c:showBubbleSize val="0"/>
            <c:showLeaderLines val="0"/>
          </c:dLbls>
          <c:cat>
            <c:multiLvlStrRef>
              <c:f>Sheet1!$A$2:$A$5</c:f>
              <c:multiLvlStrCache>
                <c:ptCount val="4"/>
                <c:lvl>
                  <c:pt idx="0">
                    <c:v>TF-IDF</c:v>
                  </c:pt>
                  <c:pt idx="1">
                    <c:v>ViSoBERT</c:v>
                  </c:pt>
                  <c:pt idx="2">
                    <c:v>XLM-R</c:v>
                  </c:pt>
                  <c:pt idx="3">
                    <c:v>mBERT</c:v>
                  </c:pt>
                </c:lvl>
              </c:multiLvlStrCache>
            </c:multiLvlStrRef>
          </c:cat>
          <c:val>
            <c:numRef>
              <c:f>Sheet1!$B$2:$B$5</c:f>
              <c:numCache>
                <c:formatCode>General</c:formatCode>
                <c:ptCount val="4"/>
                <c:pt idx="0">
                  <c:v>1.0488</c:v>
                </c:pt>
                <c:pt idx="1">
                  <c:v>31.9874</c:v>
                </c:pt>
                <c:pt idx="2">
                  <c:v>39.2239</c:v>
                </c:pt>
                <c:pt idx="3">
                  <c:v>48.9512</c:v>
                </c:pt>
              </c:numCache>
            </c:numRef>
          </c:val>
        </c:ser>
        <c:ser>
          <c:idx val="1"/>
          <c:order val="1"/>
          <c:tx>
            <c:strRef>
              <c:f>Sheet1!$C$1</c:f>
              <c:strCache>
                <c:ptCount val="1"/>
                <c:pt idx="0">
                  <c:v>F1</c:v>
                </c:pt>
              </c:strCache>
            </c:strRef>
          </c:tx>
          <c:spPr>
            <a:solidFill>
              <a:srgbClr val="7A8A5E"/>
            </a:solidFill>
            <a:effectLst/>
          </c:spPr>
          <c:invertIfNegative val="0"/>
          <c:dLbls>
            <c:numFmt formatCode="0.0" sourceLinked="0"/>
            <c:txPr>
              <a:bodyPr/>
              <a:lstStyle/>
              <a:p>
                <a:pPr>
                  <a:defRPr b="0" i="0" strike="noStrike" sz="1000" u="none">
                    <a:solidFill>
                      <a:srgbClr val="201E1D"/>
                    </a:solidFill>
                    <a:latin typeface="Nunito"/>
                  </a:defRPr>
                </a:pPr>
              </a:p>
            </c:txPr>
            <c:showLegendKey val="0"/>
            <c:showVal val="1"/>
            <c:showCatName val="0"/>
            <c:showSerName val="0"/>
            <c:showPercent val="0"/>
            <c:showBubbleSize val="0"/>
            <c:showLeaderLines val="0"/>
          </c:dLbls>
          <c:cat>
            <c:multiLvlStrRef>
              <c:f>Sheet1!$A$2:$A$5</c:f>
              <c:multiLvlStrCache>
                <c:ptCount val="4"/>
                <c:lvl>
                  <c:pt idx="0">
                    <c:v>TF-IDF</c:v>
                  </c:pt>
                  <c:pt idx="1">
                    <c:v>ViSoBERT</c:v>
                  </c:pt>
                  <c:pt idx="2">
                    <c:v>XLM-R</c:v>
                  </c:pt>
                  <c:pt idx="3">
                    <c:v>mBERT</c:v>
                  </c:pt>
                </c:lvl>
              </c:multiLvlStrCache>
            </c:multiLvlStrRef>
          </c:cat>
          <c:val>
            <c:numRef>
              <c:f>Sheet1!$C$2:$C$5</c:f>
              <c:numCache>
                <c:formatCode>General</c:formatCode>
                <c:ptCount val="4"/>
                <c:pt idx="0">
                  <c:v>22.1096</c:v>
                </c:pt>
                <c:pt idx="1">
                  <c:v>34.663</c:v>
                </c:pt>
                <c:pt idx="2">
                  <c:v>54.2369</c:v>
                </c:pt>
                <c:pt idx="3">
                  <c:v>57.9782</c:v>
                </c:pt>
              </c:numCache>
            </c:numRef>
          </c:val>
        </c:ser>
        <c:dLbls>
          <c:numFmt formatCode="0.0" sourceLinked="0"/>
          <c:txPr>
            <a:bodyPr/>
            <a:lstStyle/>
            <a:p>
              <a:pPr>
                <a:defRPr b="0" i="0" strike="noStrike" sz="1000" u="none">
                  <a:solidFill>
                    <a:srgbClr val="201E1D"/>
                  </a:solidFill>
                  <a:latin typeface="Nunit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201E1D"/>
                </a:solidFill>
                <a:latin typeface="Nunito"/>
              </a:defRPr>
            </a:pPr>
            <a:endParaRPr lang="en-US"/>
          </a:p>
        </c:txPr>
        <c:crossAx val="2094734552"/>
        <c:crosses val="autoZero"/>
        <c:auto val="1"/>
        <c:lblAlgn val="ctr"/>
        <c:noMultiLvlLbl val="1"/>
      </c:catAx>
      <c:valAx>
        <c:axId val="2094734552"/>
        <c:scaling>
          <c:orientation val="minMax"/>
          <c:max val="70"/>
        </c:scaling>
        <c:delete val="0"/>
        <c:axPos val="l"/>
        <c:majorGridlines>
          <c:spPr>
            <a:ln w="6350" cap="flat">
              <a:solidFill>
                <a:srgbClr val="D3C9B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45C50"/>
                </a:solidFill>
                <a:latin typeface="Nunito"/>
              </a:defRPr>
            </a:pPr>
            <a:endParaRPr lang="en-US"/>
          </a:p>
        </c:txPr>
        <c:crossAx val="2094734554"/>
        <c:crosses val="autoZero"/>
        <c:crossBetween val="between"/>
      </c:valAx>
      <c:spPr>
        <a:solidFill>
          <a:srgbClr val="F5EAD8"/>
        </a:solidFill>
        <a:ln>
          <a:noFill/>
        </a:ln>
        <a:effectLst/>
      </c:spPr>
    </c:plotArea>
    <c:legend>
      <c:legendPos val="t"/>
      <c:overlay val="0"/>
      <c:txPr>
        <a:bodyPr/>
        <a:lstStyle/>
        <a:p>
          <a:pPr>
            <a:defRPr sz="1100">
              <a:solidFill>
                <a:srgbClr val="645C50"/>
              </a:solidFill>
              <a:latin typeface="Nunito"/>
              <a:cs typeface="Nunito"/>
            </a:defRPr>
          </a:pPr>
          <a:endParaRPr lang="en-US"/>
        </a:p>
      </c:txPr>
    </c:legend>
    <c:plotVisOnly val="1"/>
    <c:dispBlanksAs val="span"/>
  </c:chart>
  <c:spPr>
    <a:solidFill>
      <a:srgbClr val="F5EAD8"/>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answerable (tìm đúng span)</c:v>
                </c:pt>
              </c:strCache>
            </c:strRef>
          </c:tx>
          <c:spPr>
            <a:solidFill>
              <a:srgbClr val="C67139"/>
            </a:solidFill>
            <a:effectLst/>
          </c:spPr>
          <c:invertIfNegative val="0"/>
          <c:dLbls>
            <c:numFmt formatCode="0.0" sourceLinked="0"/>
            <c:txPr>
              <a:bodyPr/>
              <a:lstStyle/>
              <a:p>
                <a:pPr>
                  <a:defRPr b="0" i="0" strike="noStrike" sz="1000" u="none">
                    <a:solidFill>
                      <a:srgbClr val="201E1D"/>
                    </a:solidFill>
                    <a:latin typeface="Nunito"/>
                  </a:defRPr>
                </a:pPr>
              </a:p>
            </c:txPr>
            <c:showLegendKey val="0"/>
            <c:showVal val="1"/>
            <c:showCatName val="0"/>
            <c:showSerName val="0"/>
            <c:showPercent val="0"/>
            <c:showBubbleSize val="0"/>
            <c:showLeaderLines val="0"/>
          </c:dLbls>
          <c:cat>
            <c:multiLvlStrRef>
              <c:f>Sheet1!$A$2:$A$5</c:f>
              <c:multiLvlStrCache>
                <c:ptCount val="4"/>
                <c:lvl>
                  <c:pt idx="0">
                    <c:v>TF-IDF</c:v>
                  </c:pt>
                  <c:pt idx="1">
                    <c:v>ViSoBERT</c:v>
                  </c:pt>
                  <c:pt idx="2">
                    <c:v>XLM-R</c:v>
                  </c:pt>
                  <c:pt idx="3">
                    <c:v>mBERT</c:v>
                  </c:pt>
                </c:lvl>
              </c:multiLvlStrCache>
            </c:multiLvlStrRef>
          </c:cat>
          <c:val>
            <c:numRef>
              <c:f>Sheet1!$B$2:$B$5</c:f>
              <c:numCache>
                <c:formatCode>General</c:formatCode>
                <c:ptCount val="4"/>
                <c:pt idx="0">
                  <c:v>1.5077</c:v>
                </c:pt>
                <c:pt idx="1">
                  <c:v>8.2925</c:v>
                </c:pt>
                <c:pt idx="2">
                  <c:v>43.1964</c:v>
                </c:pt>
                <c:pt idx="3">
                  <c:v>50.6973</c:v>
                </c:pt>
              </c:numCache>
            </c:numRef>
          </c:val>
        </c:ser>
        <c:ser>
          <c:idx val="1"/>
          <c:order val="1"/>
          <c:tx>
            <c:strRef>
              <c:f>Sheet1!$C$1</c:f>
              <c:strCache>
                <c:ptCount val="1"/>
                <c:pt idx="0">
                  <c:v>impossible (biết trả lời rỗng)</c:v>
                </c:pt>
              </c:strCache>
            </c:strRef>
          </c:tx>
          <c:spPr>
            <a:solidFill>
              <a:srgbClr val="7A8A5E"/>
            </a:solidFill>
            <a:effectLst/>
          </c:spPr>
          <c:invertIfNegative val="0"/>
          <c:dLbls>
            <c:numFmt formatCode="0.0" sourceLinked="0"/>
            <c:txPr>
              <a:bodyPr/>
              <a:lstStyle/>
              <a:p>
                <a:pPr>
                  <a:defRPr b="0" i="0" strike="noStrike" sz="1000" u="none">
                    <a:solidFill>
                      <a:srgbClr val="201E1D"/>
                    </a:solidFill>
                    <a:latin typeface="Nunito"/>
                  </a:defRPr>
                </a:pPr>
              </a:p>
            </c:txPr>
            <c:showLegendKey val="0"/>
            <c:showVal val="1"/>
            <c:showCatName val="0"/>
            <c:showSerName val="0"/>
            <c:showPercent val="0"/>
            <c:showBubbleSize val="0"/>
            <c:showLeaderLines val="0"/>
          </c:dLbls>
          <c:cat>
            <c:multiLvlStrRef>
              <c:f>Sheet1!$A$2:$A$5</c:f>
              <c:multiLvlStrCache>
                <c:ptCount val="4"/>
                <c:lvl>
                  <c:pt idx="0">
                    <c:v>TF-IDF</c:v>
                  </c:pt>
                  <c:pt idx="1">
                    <c:v>ViSoBERT</c:v>
                  </c:pt>
                  <c:pt idx="2">
                    <c:v>XLM-R</c:v>
                  </c:pt>
                  <c:pt idx="3">
                    <c:v>mBERT</c:v>
                  </c:pt>
                </c:lvl>
              </c:multiLvlStrCache>
            </c:multiLvlStrRef>
          </c:cat>
          <c:val>
            <c:numRef>
              <c:f>Sheet1!$C$2:$C$5</c:f>
              <c:numCache>
                <c:formatCode>General</c:formatCode>
                <c:ptCount val="4"/>
                <c:pt idx="0">
                  <c:v>0</c:v>
                </c:pt>
                <c:pt idx="1">
                  <c:v>86.1326</c:v>
                </c:pt>
                <c:pt idx="2">
                  <c:v>30.1464</c:v>
                </c:pt>
                <c:pt idx="3">
                  <c:v>44.9612</c:v>
                </c:pt>
              </c:numCache>
            </c:numRef>
          </c:val>
        </c:ser>
        <c:dLbls>
          <c:numFmt formatCode="0.0" sourceLinked="0"/>
          <c:txPr>
            <a:bodyPr/>
            <a:lstStyle/>
            <a:p>
              <a:pPr>
                <a:defRPr b="0" i="0" strike="noStrike" sz="1000" u="none">
                  <a:solidFill>
                    <a:srgbClr val="201E1D"/>
                  </a:solidFill>
                  <a:latin typeface="Nunit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201E1D"/>
                </a:solidFill>
                <a:latin typeface="Nunito"/>
              </a:defRPr>
            </a:pPr>
            <a:endParaRPr lang="en-US"/>
          </a:p>
        </c:txPr>
        <c:crossAx val="2094734552"/>
        <c:crosses val="autoZero"/>
        <c:auto val="1"/>
        <c:lblAlgn val="ctr"/>
        <c:noMultiLvlLbl val="1"/>
      </c:catAx>
      <c:valAx>
        <c:axId val="2094734552"/>
        <c:scaling>
          <c:orientation val="minMax"/>
          <c:max val="90"/>
        </c:scaling>
        <c:delete val="0"/>
        <c:axPos val="l"/>
        <c:majorGridlines>
          <c:spPr>
            <a:ln w="6350" cap="flat">
              <a:solidFill>
                <a:srgbClr val="D3C9B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645C50"/>
                </a:solidFill>
                <a:latin typeface="Nunito"/>
              </a:defRPr>
            </a:pPr>
            <a:endParaRPr lang="en-US"/>
          </a:p>
        </c:txPr>
        <c:crossAx val="2094734554"/>
        <c:crosses val="autoZero"/>
        <c:crossBetween val="between"/>
      </c:valAx>
      <c:spPr>
        <a:solidFill>
          <a:srgbClr val="F5EAD8"/>
        </a:solidFill>
        <a:ln>
          <a:noFill/>
        </a:ln>
        <a:effectLst/>
      </c:spPr>
    </c:plotArea>
    <c:legend>
      <c:legendPos val="t"/>
      <c:overlay val="0"/>
      <c:txPr>
        <a:bodyPr/>
        <a:lstStyle/>
        <a:p>
          <a:pPr>
            <a:defRPr sz="1100">
              <a:solidFill>
                <a:srgbClr val="645C50"/>
              </a:solidFill>
              <a:latin typeface="Nunito"/>
              <a:cs typeface="Nunito"/>
            </a:defRPr>
          </a:pPr>
          <a:endParaRPr lang="en-US"/>
        </a:p>
      </c:txPr>
    </c:legend>
    <c:plotVisOnly val="1"/>
    <c:dispBlanksAs val="span"/>
  </c:chart>
  <c:spPr>
    <a:solidFill>
      <a:srgbClr val="F5EAD8"/>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Chào thầy và các bạn. Nhóm em làm đề tài T11 — đọc hiểu và trả lời câu hỏi tiếng Việt. Bài trình bày đi theo sáu mục: tổng quan và phát biểu bài toán, các công trình liên quan và khoảng trống nhóm đứng vào, quá trình xây dựng và phân tích dữ liệu, phương pháp và thực nghiệm, kết quả và phân tích, cuối cùng là ứng dụng, hạn chế và hướng phát triển.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[0:30–1:15] Vì sao bài toán này quan trọng: công cụ tìm kiếm trả về TÀI LIỆU, còn người dùng vẫn phải tự đọc để tìm CÂU TRẢ LỜI. Đọc hiểu máy làm nửa còn lại, và nó là tầng “đọc” trong mọi pipeline hỏi đáp trên tài liệu hiện nay. Với tiếng Việt có bốn khó khăn mà công cụ thiết kế cho tiếng Anh không tự xử lý đúng: đơn vị chữ viết là âm tiết chứ không phải từ; dấu thanh mang nghĩa; không có mạo từ nên quy tắc chuẩn hoá của SQuAD không áp được; và khoảng một phần ba câu hỏi không có đáp án. Điều cuối cùng định hình cả cách nhóm em đánh giá.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[1:15–2:05] Phát biểu hình thức: cho một đoạn văn và một câu hỏi, tìm cặp chỉ số ký tự sao cho đoạn con đó trả lời câu hỏi — hoặc trả về chuỗi rỗng nếu đoạn văn không chứa câu trả lời. Đầu ra là một CẶP VỊ TRÍ, không phải văn bản sinh mới. Điều đó cho nhóm em một bất biến kiểm được bằng máy: kết quả trả về luôn phải là chuỗi con của context. Bọn em test bất biến này cho mọi mô hình, và nó bắt được cả lỗi tokenizer lệch offset lẫn lỗi mô hình bịa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[2:05–2:45] Bốn đóng góp. Một: một pipeline hoàn chỉnh có kiểm thử, không phải một notebook. Hai: so sánh có kiểm soát bốn mô hình, mỗi bước cô lập đúng một biến. Ba: tách kết quả theo câu có đáp án và câu không có đáp án — đây là đóng góp phân tích quan trọng nhất, em sẽ chứng minh ở mục 5. Bốn: phát hiện và chặn bốn lỗi sai âm thầm, tức là loại lỗi làm kết quả sai mà không báo lỗi gì. Ngoài ra nhóm em giữ nguyên phần chẩn đoán một lần huấn luyện thất bại trong báo cáo, thay vì bỏ nó ra cho bảng số đẹp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[2:45–3:35] Về hướng tiếp cận, tài liệu hiện có chia thành bốn nhóm: so khớp từ khoá thuần, chuyển giao đa ngữ zero-shot, fine-tune trong miền trên encoder đa ngữ, và mô hình tiền huấn luyện đơn ngữ tiếng Việt. Về dữ liệu: SQuAD 1.1 mở đầu, SQuAD 2.0 thêm câu không có đáp án, UIT-ViQuAD của trường mình mang bài toán sang tiếng Việt, và UIT-ViQuAD 2.0 ở VLSP 2021 thêm câu không có đáp án. Điểm cần nhớ: trong nhóm này, ViQuAD 2.0 là bộ tiếng Việt duy nhất cho phép đo kỹ năng TỪ CHỐI. Bốn mô hình của nhóm em đúng là bốn hướng tiếp cận đó, đặt trên cùng một tập đánh giá và cùng một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[3:35–4:20] Đây là chỗ nhóm em đứng vào. Ba khoảng trống. Một: các công bố theo bảng xếp hạng báo điểm TỔNG, mà điểm tổng trộn hai kỹ năng khác nhau — nhóm em tách ra. Hai: test split công khai đã bị lược nhãn, nên không ai bên ngoài cuộc thi chấm lại được trên đó; nhóm em đo, nói rõ và chặn bằng assertion. Ba: ngân sách cửa sổ và độ dài đáp án tối đa phụ thuộc tokenizer, nhưng khi đổi encoder người ta hay giữ nguyên — nhóm em đo mức phân mảnh và coi đó là biến gây nhiễu. Nói thẳng: GAP nhóm em chọn là GAP về tính đúng đắn của đánh giá, không phải GAP về điểm số.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[4:20–5:20] Phát hiện đầu tiên của nhóm em, và nó đổi cả thiết kế đánh giá. Toàn bộ 7.301 câu trong split test có đáp án rỗng nhưng cờ is_impossible lại là False — hai điều này mâu thuẫn nhau, nghĩa là đáp án đã bị lược bỏ để dùng cho bảng xếp hạng. Nếu chạy nhầm trên đó, một mô hình luôn trả rỗng sẽ đạt EM 100% và con số đó trông hoàn toàn hợp lý trong báo cáo. Bọn em chặn bằng một assertion chứ không bằng một đoạn văn hứa là đã cẩn thận. Một chi tiết nữa: đơn vị chống rò rỉ là đoạn văn, không phải bài viết — train có 138 bài viết nhưng 4.101 đoạn văn, nhầm hai đơn vị này là vô hiệu hoá chính cơ chế bảo vệ.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[5:20–6:10] Ba phân bố, bắt đầu bằng nhãn và độ dài. Về nhãn: khoảng 30 đến 32 phần trăm câu là không có đáp án, và mẫu đánh giá 500 câu của bọn em có 139 câu, tức 27,80 phần trăm — con số này sẽ quay lại ở mục 5 theo một cách rất đáng nói. Về độ dài: đoạn văn tập trung quanh 160 đến 180 âm tiết, đáp án có trung vị 6 âm tiết nhưng phân vị 95 là 31 — đuôi dài. Hai hệ quả. Một: mẫu 500 câu chỉ có 9 câu thuộc nhóm đoạn văn dài trên 300 từ, nên câu hỏi “độ dài context ảnh hưởng thế nào” bọn em KHÔNG kết luận, mà ghi vào phần hạn chế. Hai: vì đáp án có đuôi dài, ngưỡng độ dài đáp án tối đa phải đặt theo tokenizer của từng mô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[6:10–7:10] Phân bố thứ ba: chủ đề. Validation chỉ có 19 bài viết cho 3.814 câu hỏi, và năm bài lớn nhất chiếm hơn một nửa. Đuôi thì rất mỏng — Montréal 42 câu, Kiến 57 câu. Chỉ ba bài thuộc khoa học tự nhiên, còn lại là lịch sử, chính trị, địa lý; nên mọi kết luận của bọn em chỉ có giá trị trong miền đó. Quan trọng hơn, phân bố lệch này gây ra một cái bẫy thật: câu hỏi trong tệp được sắp theo bài viết, nên 300 câu đầu tệp đều thuộc DUY NHẤT bài Paris. Cùng một checkpoint mBERT cho EM 42 trên 300 câu đầu tệp nhưng EM 52 trên 300 câu ngẫu nhiên — chênh 10 điểm chỉ vì cách lấy mẫu. Nếu lấy mẫu bằng cách cắt đầu tệp thì toàn bộ so sánh bốn mô hình đã sai từ gốc. Bọn em dùng lấy mẫu ngẫu nhiên có seed, và kiểm lại rằng mẫu 500 câu phủ đủ 19 trên 19 bài viết.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[7:10–7:55] Bốn hệ thống không phải bốn lần thử cho vui — mỗi cái trả lời một câu hỏi khoa học khác nhau. TF-IDF là sàn: nếu một mô hình phức tạp không vượt được nó thì mô hình đó vô nghĩa. XLM-R đo khả năng chuyển giao từ tiếng Anh. mBERT đo phần fine-tune trong miền. ViSoBERT đo phần pretraining chuyên tiếng Việt. Một điểm em xin nói rõ ngay: giả thuyết ghi trước khi chạy được viết cho PhoBERT, mà PhoBERT thì không chạy được vì lý do kỹ thuật em trình bày ở slide sau. Nên ViSoBERT là mô hình thay thế, và giả thuyết trung tâm của đề tài vẫn chưa kiểm được — chứ không phải đã bị bác bỏ.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[7:55–8:45] Bốn tầng, và điều đáng nói là quy tắc phụ thuộc: một mũi tên, một chiều. src/mrc không biết demo tồn tại. src/demo không import Streamlit. app/ không chứa logic. Và tầng trình bày chỉ ĐỌC results — nó không bao giờ sinh ra con số nào. Hệ quả đo được của thiết kế này: chín trên mười hai module trong src/mrc không phụ thuộc torch, nên bộ test nhanh 423 test chạy trong khoảng một giây, không tải mô hình, không cần mạng.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[8:45–9:35] Điều làm đồ án này khác một bài tập thông thường không phải là bốn bất biến, mà là mỗi bất biến có một cơ chế thực thi BẰNG MÁY thay vì một đoạn văn trong báo cáo. Một quy trình có thể bị bỏ qua lúc gấp — đúng lúc nó cần nhất. Một raise thì không. Và bất biến thứ năm thì thậm chí do kernel bắt buộc: ba thư mục dữ liệu được mount read-only.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[9:35–10:20] Về thang đo. EM là trùng khít, F1 là trùng theo token và cho điểm bán phần. Bằng chứng trực quan rằng hai thang đo đo hai thứ khác nhau nằm ngay ở dòng baseline: TF-IDF có F1 hơn 23 nhưng EM chỉ 0,8 — vì nó trả về cả một câu trong khi đáp án vàng là cụm vài từ. Ba quyết định chuẩn hoá cho tiếng Việt: không loại mạo từ vì tiếng Việt không có mạo từ; tách token theo khoảng trắng để không nhiễm lỗi bộ tách từ; và giữ dấu, vì hoà khác hoa. Mỗi quyết định được GHIM bằng một test, để người sau không vô tình “sửa cho giống SQuAD”. Metric được cài trước mọi mô hình và có độ phủ test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[10:20–11:15] Hai quyết định đáng nói. Thứ nhất: thư viện transformers phiên bản 5.17 chỉ sinh tối đa hai cửa sổ dù context dài bao nhiêu — bọn em đo được: 420, 700, 1400 token đều ra đúng 2 cửa sổ. Phần đuôi bị cắt âm thầm, nên đáp án nằm cuối đoạn văn thì không bao giờ tìm được; bọn em tự cài lại cơ chế cửa sổ trượt. Thứ hai: đề tài nêu PhoBERT, nhưng PhoBERT không có fast tokenizer, nên không có offset_mapping, nên cách duy nhất lấy lại chuỗi là decode — và decode làm mất dấu tiếng Việt. Đây là ràng buộc kỹ thuật, không liên quan gì đến GPU. Nên bọn em đổi sang ViSoBERT, cũng là encoder tiếng Việt, của chính UIT NLP.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[11:15–12:10] Về huấn luyện, em nói hai chỗ. Thứ nhất là chỗ sai âm thầm nguy hiểm nhất của cả pipeline: chuyển vị trí đáp án từ ký tự sang token. Nếu ánh xạ đó lệch, mô hình học nhãn sai mà loss vẫn giảm bình thường — không có gì báo lỗi. Nên bất biến bọn em test không phải “chạy không lỗi”, mà là giải mã ngược nhãn token phải ra đúng chuỗi đáp án vàng. Thứ hai là chọn epoch: chọn theo F1 validation chứ không theo loss, đánh giá trên 300 câu ngẫu nhiên sau mỗi epoch, và toàn bộ logic ra quyết định nằm trong một hàm thuần — test trong vài mili-giây thay vì phải chạy một epoch 35 phút mới biết đúng sai. Bảng dưới là đường cong thật: mBERT giảm loss mạnh và F1 còn tăng ở epoch 2, tức là còn thiếu epoch. ViSoBERT thì EM bằng đúng F1 ở epoch 1 và 2, và hàm chẩn đoán tự gắn cờ suy sụp. Em bóc tách chỗ này ở mục 5. Lưu ý: nhóm em KHÔNG tìm kiếm siêu tham số có hệ thống, và điều đó được nói rõ trong phần hạn chế.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[12:10–13:05] Đây là bảng kết quả. mBERT fine-tuned thắng. Baseline TF-IDF có F1 hơn 23 nhưng EM gần 0 — vì nó trả về CẢ MỘT CÂU trong khi gold là cụm vài từ. Khoảng cách EM–F1 đó chính là bằng chứng hai thang đo đo hai thứ khác nhau. Mọi con số trên slide này được deck ĐỌC TRỰC TIẾP từ results khi dựng, kèm commit và thiết bị — không con số nào gõ tay. Nhưng bảng tổng này che mất hai điều, và em sẽ bóc tách ở hai slide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[13:05–14:05] Đây là phát hiện nhóm em thích nhất. Nhìn bảng tổng thì mBERT thắng XLM-R khoảng 10 điểm EM, và ta dễ kết luận mBERT tìm span giỏi hơn. Sai. Bóc tách ra: trên câu CÓ đáp án, XLM-R zero-shot thực ra tốt hơn một chút về F1, dù chênh lệch đó nằm trong nhiễu. mBERT thắng vì nó biết khi nào KHÔNG nên trả lời: hơn 41 so với hơn 27 trên câu impossible, chênh gần 14 điểm và có ý nghĩa thống kê. Vì gần 30% câu là không có đáp án, chính kỹ năng thứ hai quyết định bảng xếp hạng. Nếu chỉ báo cáo EM tổng thì cả kết luận này biến mất — đó chính là GAP em nói ở mục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[14:05–15:20] ViSoBERT — mô hình THAY THẾ cho PhoBERT — đạt EM tổng 31,99, và con số đó bằng ĐÚNG tỉ lệ câu không có đáp án của mẫu. Đó không phải trùng hợp: bóc tách ra thì impossible EM là 82 nhưng answerable EM chỉ gần 7 — nó gần như chỉ ăn điểm từ việc từ chối trả lời. Dấu hiệu đã xuất hiện ngay từ epoch 1 trên đường cong huấn luyện. Khi rà lại bằng chứng, bọn em thấy bốn yếu tố đã ĐỦ để giải thích sự suy sụp. Yếu tố mạnh nhất: max_length để nguyên 384, đặt theo tokenizer mBERT. Với tokenizer ViSoBERT thì 154 trên 557 đoạn văn vượt ngân sách, so với 16 của mBERT — gấp gần mười lần. Đây là chỗ dễ nói lẫn nhất nên em nói rõ: độ dài ĐÁP ÁN thì bọn em đã bù, 30 thành 64; trục chưa bù là max_length. Vì vậy báo cáo KHÔNG kết luận rằng tiền huấn luyện tiếng Việt không giúp ích. Con số 31,99 phải đọc như một lần huấn luyện thất bại đã được chẩn đoán, và phép kiểm trực tiếp là huấn luyện lại với max_length lớn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[15:20–16:05] Sản phẩm chạy được: sáu màn hình, mỗi màn hình một URL riêng để lúc thuyết trình mở thẳng được chỗ cần. Hai điều đáng nói về mặt kỹ thuật. Một: bộ test nhanh 423 test chạy trong khoảng một giây, không tải mô hình, không cần mạng — nên vòng lặp TDD thật sự dùng được; bộ đầy đủ 474 test có cả test tải mô hình thật và test chạy BÊN TRONG container. Hai: một ảnh Docker duy nhất cho cả test lẫn demo, nên không bao giờ có chuyện test xanh trên một bộ thư viện còn demo chạy trên bộ khác. Và demo không sinh ra con số nào — mọi số đi qua đúng một module đọc file. [Nếu còn thời gian: chuyển sang demo thật, hỏi một câu answerable rồi một câu impossible, kéo thanh ngưỡng.]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[16:05–17:00] Năm hạn chế, và em xếp hai cái quan trọng nhất lên đầu. Một: PhoBERT chưa từng được chạy, nên giả thuyết trung tâm của đề tài vẫn CHƯA kiểm được, không phải bị bác bỏ. Hai: ViSoBERT chưa được huấn luyện lại sau khi chẩn đoán, nên lời giải thích về max_length vẫn là giả thuyết phù hợp với bằng chứng chứ chưa phải nhân quả. Ba: đánh giá trên validation vì test là blind split, và validation cũng được dùng để chọn epoch nên hai mô hình fine-tune có thể lạc quan nhẹ. Bốn: n bằng 500 với một seed, khoảng tin cậy khoảng 4 điểm. Năm: mẫu chỉ có 9 câu thuộc nhóm đoạn văn dài, nên ảnh hưởng của độ dài context chưa trả lời được. Hướng đi tiếp thì rõ: huấn luyện lại ViSoBERT với max_length lớn hơn là phép kiểm trực tiếp cho chính chẩn đoán ở slide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[17:00–17:45] Tóm lại: bốn mô hình so sánh được trên cùng một interface, mBERT fine-tuned đạt EM 48,95; bộ test nhanh chạy trong một giây; và không số đo nào trong deck này được gõ tay — chúng được đọc từ results khi dựng slide. Phát hiện chính: điểm tổng trộn hai kỹ năng, và bóc tách ra thì mBERT thắng nhờ biết từ chối chứ không nhờ tìm span giỏi hơn. Còn câu hỏi về encoder tiếng Việt thì nhóm em để ngỏ một cách có chủ ý — PhoBERT chưa chạy được vì lý do kỹ thuật, và lần huấn luyện ViSoBERT đã suy sụp vì một nguyên nhân cấu hình bọn em chưa bù trừ. Cảm ơn thầy và các bạn. Nhóm em sẵn sàng nhận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2B25"/>
        </a:solidFill>
      </p:bgPr>
    </p:bg>
    <p:spTree>
      <p:nvGrpSpPr>
        <p:cNvPr id="1" name=""/>
        <p:cNvGrpSpPr/>
        <p:nvPr/>
      </p:nvGrpSpPr>
      <p:grpSpPr>
        <a:xfrm>
          <a:off x="0" y="0"/>
          <a:ext cx="0" cy="0"/>
          <a:chOff x="0" y="0"/>
          <a:chExt cx="0" cy="0"/>
        </a:xfrm>
      </p:grpSpPr>
      <p:sp>
        <p:nvSpPr>
          <p:cNvPr id="2" name="Shape 0"/>
          <p:cNvSpPr/>
          <p:nvPr/>
        </p:nvSpPr>
        <p:spPr>
          <a:xfrm>
            <a:off x="8138160" y="1051560"/>
            <a:ext cx="3383280" cy="3749040"/>
          </a:xfrm>
          <a:prstGeom prst="roundRect">
            <a:avLst>
              <a:gd name="adj" fmla="val 5405"/>
            </a:avLst>
          </a:prstGeom>
          <a:solidFill>
            <a:srgbClr val="3B362E"/>
          </a:solidFill>
          <a:ln w="12700">
            <a:solidFill>
              <a:srgbClr val="3B362E"/>
            </a:solidFill>
            <a:prstDash val="solid"/>
          </a:ln>
        </p:spPr>
      </p:sp>
      <p:sp>
        <p:nvSpPr>
          <p:cNvPr id="3" name="Text 1"/>
          <p:cNvSpPr txBox="1"/>
          <p:nvPr/>
        </p:nvSpPr>
        <p:spPr>
          <a:xfrm>
            <a:off x="685800" y="1143000"/>
            <a:ext cx="6949440" cy="274320"/>
          </a:xfrm>
          <a:prstGeom prst="rect">
            <a:avLst/>
          </a:prstGeom>
          <a:noFill/>
          <a:ln/>
        </p:spPr>
        <p:txBody>
          <a:bodyPr wrap="square" lIns="0" tIns="0" rIns="0" bIns="0" rtlCol="0" anchor="ctr"/>
          <a:lstStyle/>
          <a:p>
            <a:pPr indent="0" marL="0">
              <a:buNone/>
            </a:pPr>
            <a:r>
              <a:rPr lang="en-US" sz="1200" b="1" spc="240" kern="0" dirty="0">
                <a:solidFill>
                  <a:srgbClr val="C67139"/>
                </a:solidFill>
                <a:latin typeface="Nunito" pitchFamily="34" charset="0"/>
                <a:ea typeface="Nunito" pitchFamily="34" charset="-122"/>
                <a:cs typeface="Nunito" pitchFamily="34" charset="-120"/>
              </a:rPr>
              <a:t>CS116 · ĐỀ TÀI T11 · UIT, ĐHQG-HCM</a:t>
            </a:r>
            <a:endParaRPr lang="en-US" sz="1200" dirty="0"/>
          </a:p>
        </p:txBody>
      </p:sp>
      <p:sp>
        <p:nvSpPr>
          <p:cNvPr id="4" name="Text 2"/>
          <p:cNvSpPr txBox="1"/>
          <p:nvPr/>
        </p:nvSpPr>
        <p:spPr>
          <a:xfrm>
            <a:off x="685800" y="1600200"/>
            <a:ext cx="7040880" cy="1828800"/>
          </a:xfrm>
          <a:prstGeom prst="rect">
            <a:avLst/>
          </a:prstGeom>
          <a:noFill/>
          <a:ln/>
        </p:spPr>
        <p:txBody>
          <a:bodyPr wrap="square" lIns="0" tIns="0" rIns="0" bIns="0" rtlCol="0" anchor="ctr"/>
          <a:lstStyle/>
          <a:p>
            <a:pPr indent="0" marL="0">
              <a:lnSpc>
                <a:spcPts val="5000"/>
              </a:lnSpc>
              <a:buNone/>
            </a:pPr>
            <a:r>
              <a:rPr lang="en-US" sz="4400" b="1" dirty="0">
                <a:solidFill>
                  <a:srgbClr val="F5EAD8"/>
                </a:solidFill>
                <a:latin typeface="Baloo 2" pitchFamily="34" charset="0"/>
                <a:ea typeface="Baloo 2" pitchFamily="34" charset="-122"/>
                <a:cs typeface="Baloo 2" pitchFamily="34" charset="-120"/>
              </a:rPr>
              <a:t>Hệ thống đọc hiểu</a:t>
            </a:r>
            <a:endParaRPr lang="en-US" sz="4400" dirty="0"/>
          </a:p>
          <a:p>
            <a:pPr indent="0" marL="0">
              <a:lnSpc>
                <a:spcPts val="5000"/>
              </a:lnSpc>
              <a:buNone/>
            </a:pPr>
            <a:r>
              <a:rPr lang="en-US" sz="4400" b="1" dirty="0">
                <a:solidFill>
                  <a:srgbClr val="F5EAD8"/>
                </a:solidFill>
                <a:latin typeface="Baloo 2" pitchFamily="34" charset="0"/>
                <a:ea typeface="Baloo 2" pitchFamily="34" charset="-122"/>
                <a:cs typeface="Baloo 2" pitchFamily="34" charset="-120"/>
              </a:rPr>
              <a:t>và trả lời câu hỏi tiếng Việt</a:t>
            </a:r>
            <a:endParaRPr lang="en-US" sz="4400" dirty="0"/>
          </a:p>
        </p:txBody>
      </p:sp>
      <p:sp>
        <p:nvSpPr>
          <p:cNvPr id="5" name="Text 3"/>
          <p:cNvSpPr txBox="1"/>
          <p:nvPr/>
        </p:nvSpPr>
        <p:spPr>
          <a:xfrm>
            <a:off x="685800" y="3520440"/>
            <a:ext cx="7040880" cy="822960"/>
          </a:xfrm>
          <a:prstGeom prst="rect">
            <a:avLst/>
          </a:prstGeom>
          <a:noFill/>
          <a:ln/>
        </p:spPr>
        <p:txBody>
          <a:bodyPr wrap="square" lIns="0" tIns="0" rIns="0" bIns="0" rtlCol="0" anchor="ctr"/>
          <a:lstStyle/>
          <a:p>
            <a:pPr indent="0" marL="0">
              <a:lnSpc>
                <a:spcPts val="2400"/>
              </a:lnSpc>
              <a:buNone/>
            </a:pPr>
            <a:r>
              <a:rPr lang="en-US" sz="1500" dirty="0">
                <a:solidFill>
                  <a:srgbClr val="A19786"/>
                </a:solidFill>
                <a:latin typeface="Nunito" pitchFamily="34" charset="0"/>
                <a:ea typeface="Nunito" pitchFamily="34" charset="-122"/>
                <a:cs typeface="Nunito" pitchFamily="34" charset="-120"/>
              </a:rPr>
              <a:t>Vietnamese Extractive Machine Reading Comprehension</a:t>
            </a:r>
            <a:endParaRPr lang="en-US" sz="1500" dirty="0"/>
          </a:p>
          <a:p>
            <a:pPr indent="0" marL="0">
              <a:lnSpc>
                <a:spcPts val="2400"/>
              </a:lnSpc>
              <a:buNone/>
            </a:pPr>
            <a:r>
              <a:rPr lang="en-US" sz="1500" dirty="0">
                <a:solidFill>
                  <a:srgbClr val="A19786"/>
                </a:solidFill>
                <a:latin typeface="Nunito" pitchFamily="34" charset="0"/>
                <a:ea typeface="Nunito" pitchFamily="34" charset="-122"/>
                <a:cs typeface="Nunito" pitchFamily="34" charset="-120"/>
              </a:rPr>
              <a:t>trên UIT-ViQuAD 2.0</a:t>
            </a:r>
            <a:endParaRPr lang="en-US" sz="1500" dirty="0"/>
          </a:p>
        </p:txBody>
      </p:sp>
      <p:sp>
        <p:nvSpPr>
          <p:cNvPr id="6" name="Text 4"/>
          <p:cNvSpPr txBox="1"/>
          <p:nvPr/>
        </p:nvSpPr>
        <p:spPr>
          <a:xfrm>
            <a:off x="685800" y="4434840"/>
            <a:ext cx="7040880" cy="320040"/>
          </a:xfrm>
          <a:prstGeom prst="rect">
            <a:avLst/>
          </a:prstGeom>
          <a:noFill/>
          <a:ln/>
        </p:spPr>
        <p:txBody>
          <a:bodyPr wrap="square" lIns="0" tIns="0" rIns="0" bIns="0" rtlCol="0" anchor="ctr"/>
          <a:lstStyle/>
          <a:p>
            <a:pPr indent="0" marL="0">
              <a:buNone/>
            </a:pPr>
            <a:r>
              <a:rPr lang="en-US" sz="1250" i="1" dirty="0">
                <a:solidFill>
                  <a:srgbClr val="C67139"/>
                </a:solidFill>
                <a:latin typeface="Nunito" pitchFamily="34" charset="0"/>
                <a:ea typeface="Nunito" pitchFamily="34" charset="-122"/>
                <a:cs typeface="Nunito" pitchFamily="34" charset="-120"/>
              </a:rPr>
              <a:t>Bốn mô hình · 3814 câu kiểm định · mọi số đo sinh từ results/</a:t>
            </a:r>
            <a:endParaRPr lang="en-US" sz="1250" dirty="0"/>
          </a:p>
        </p:txBody>
      </p:sp>
      <p:sp>
        <p:nvSpPr>
          <p:cNvPr id="7" name="Text 5"/>
          <p:cNvSpPr txBox="1"/>
          <p:nvPr/>
        </p:nvSpPr>
        <p:spPr>
          <a:xfrm>
            <a:off x="8458200" y="1371600"/>
            <a:ext cx="274320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NHÓM 7</a:t>
            </a:r>
            <a:endParaRPr lang="en-US" sz="950" dirty="0"/>
          </a:p>
        </p:txBody>
      </p:sp>
      <p:sp>
        <p:nvSpPr>
          <p:cNvPr id="8" name="Text 6"/>
          <p:cNvSpPr txBox="1"/>
          <p:nvPr/>
        </p:nvSpPr>
        <p:spPr>
          <a:xfrm>
            <a:off x="8458200" y="1755648"/>
            <a:ext cx="2103120" cy="237744"/>
          </a:xfrm>
          <a:prstGeom prst="rect">
            <a:avLst/>
          </a:prstGeom>
          <a:noFill/>
          <a:ln/>
        </p:spPr>
        <p:txBody>
          <a:bodyPr wrap="square" lIns="0" tIns="0" rIns="0" bIns="0" rtlCol="0" anchor="ctr"/>
          <a:lstStyle/>
          <a:p>
            <a:pPr indent="0" marL="0">
              <a:buNone/>
            </a:pPr>
            <a:r>
              <a:rPr lang="en-US" sz="1250" b="1" dirty="0">
                <a:solidFill>
                  <a:srgbClr val="F5EAD8"/>
                </a:solidFill>
                <a:latin typeface="Nunito" pitchFamily="34" charset="0"/>
                <a:ea typeface="Nunito" pitchFamily="34" charset="-122"/>
                <a:cs typeface="Nunito" pitchFamily="34" charset="-120"/>
              </a:rPr>
              <a:t>Lê Quang Thi</a:t>
            </a:r>
            <a:endParaRPr lang="en-US" sz="1250" dirty="0"/>
          </a:p>
        </p:txBody>
      </p:sp>
      <p:sp>
        <p:nvSpPr>
          <p:cNvPr id="9" name="Text 7"/>
          <p:cNvSpPr txBox="1"/>
          <p:nvPr/>
        </p:nvSpPr>
        <p:spPr>
          <a:xfrm>
            <a:off x="8458200" y="1956816"/>
            <a:ext cx="2103120" cy="219456"/>
          </a:xfrm>
          <a:prstGeom prst="rect">
            <a:avLst/>
          </a:prstGeom>
          <a:noFill/>
          <a:ln/>
        </p:spPr>
        <p:txBody>
          <a:bodyPr wrap="square" lIns="0" tIns="0" rIns="0" bIns="0" rtlCol="0" anchor="ctr"/>
          <a:lstStyle/>
          <a:p>
            <a:pPr indent="0" marL="0">
              <a:buNone/>
            </a:pPr>
            <a:r>
              <a:rPr lang="en-US" sz="1050" dirty="0">
                <a:solidFill>
                  <a:srgbClr val="A19786"/>
                </a:solidFill>
                <a:latin typeface="Nunito" pitchFamily="34" charset="0"/>
                <a:ea typeface="Nunito" pitchFamily="34" charset="-122"/>
                <a:cs typeface="Nunito" pitchFamily="34" charset="-120"/>
              </a:rPr>
              <a:t>25210337</a:t>
            </a:r>
            <a:endParaRPr lang="en-US" sz="1050" dirty="0"/>
          </a:p>
        </p:txBody>
      </p:sp>
      <p:sp>
        <p:nvSpPr>
          <p:cNvPr id="10" name="Text 8"/>
          <p:cNvSpPr txBox="1"/>
          <p:nvPr/>
        </p:nvSpPr>
        <p:spPr>
          <a:xfrm>
            <a:off x="8458200" y="2231136"/>
            <a:ext cx="2103120" cy="237744"/>
          </a:xfrm>
          <a:prstGeom prst="rect">
            <a:avLst/>
          </a:prstGeom>
          <a:noFill/>
          <a:ln/>
        </p:spPr>
        <p:txBody>
          <a:bodyPr wrap="square" lIns="0" tIns="0" rIns="0" bIns="0" rtlCol="0" anchor="ctr"/>
          <a:lstStyle/>
          <a:p>
            <a:pPr indent="0" marL="0">
              <a:buNone/>
            </a:pPr>
            <a:r>
              <a:rPr lang="en-US" sz="1250" b="1" dirty="0">
                <a:solidFill>
                  <a:srgbClr val="F5EAD8"/>
                </a:solidFill>
                <a:latin typeface="Nunito" pitchFamily="34" charset="0"/>
                <a:ea typeface="Nunito" pitchFamily="34" charset="-122"/>
                <a:cs typeface="Nunito" pitchFamily="34" charset="-120"/>
              </a:rPr>
              <a:t>Trần Trọng Tấn</a:t>
            </a:r>
            <a:endParaRPr lang="en-US" sz="1250" dirty="0"/>
          </a:p>
        </p:txBody>
      </p:sp>
      <p:sp>
        <p:nvSpPr>
          <p:cNvPr id="11" name="Text 9"/>
          <p:cNvSpPr txBox="1"/>
          <p:nvPr/>
        </p:nvSpPr>
        <p:spPr>
          <a:xfrm>
            <a:off x="8458200" y="2432304"/>
            <a:ext cx="2103120" cy="219456"/>
          </a:xfrm>
          <a:prstGeom prst="rect">
            <a:avLst/>
          </a:prstGeom>
          <a:noFill/>
          <a:ln/>
        </p:spPr>
        <p:txBody>
          <a:bodyPr wrap="square" lIns="0" tIns="0" rIns="0" bIns="0" rtlCol="0" anchor="ctr"/>
          <a:lstStyle/>
          <a:p>
            <a:pPr indent="0" marL="0">
              <a:buNone/>
            </a:pPr>
            <a:r>
              <a:rPr lang="en-US" sz="1050" dirty="0">
                <a:solidFill>
                  <a:srgbClr val="A19786"/>
                </a:solidFill>
                <a:latin typeface="Nunito" pitchFamily="34" charset="0"/>
                <a:ea typeface="Nunito" pitchFamily="34" charset="-122"/>
                <a:cs typeface="Nunito" pitchFamily="34" charset="-120"/>
              </a:rPr>
              <a:t>25210334</a:t>
            </a:r>
            <a:endParaRPr lang="en-US" sz="1050" dirty="0"/>
          </a:p>
        </p:txBody>
      </p:sp>
      <p:sp>
        <p:nvSpPr>
          <p:cNvPr id="12" name="Text 10"/>
          <p:cNvSpPr txBox="1"/>
          <p:nvPr/>
        </p:nvSpPr>
        <p:spPr>
          <a:xfrm>
            <a:off x="8458200" y="2706624"/>
            <a:ext cx="2103120" cy="237744"/>
          </a:xfrm>
          <a:prstGeom prst="rect">
            <a:avLst/>
          </a:prstGeom>
          <a:noFill/>
          <a:ln/>
        </p:spPr>
        <p:txBody>
          <a:bodyPr wrap="square" lIns="0" tIns="0" rIns="0" bIns="0" rtlCol="0" anchor="ctr"/>
          <a:lstStyle/>
          <a:p>
            <a:pPr indent="0" marL="0">
              <a:buNone/>
            </a:pPr>
            <a:r>
              <a:rPr lang="en-US" sz="1250" b="1" dirty="0">
                <a:solidFill>
                  <a:srgbClr val="F5EAD8"/>
                </a:solidFill>
                <a:latin typeface="Nunito" pitchFamily="34" charset="0"/>
                <a:ea typeface="Nunito" pitchFamily="34" charset="-122"/>
                <a:cs typeface="Nunito" pitchFamily="34" charset="-120"/>
              </a:rPr>
              <a:t>Nguyễn Quang Lâm</a:t>
            </a:r>
            <a:endParaRPr lang="en-US" sz="1250" dirty="0"/>
          </a:p>
        </p:txBody>
      </p:sp>
      <p:sp>
        <p:nvSpPr>
          <p:cNvPr id="13" name="Text 11"/>
          <p:cNvSpPr txBox="1"/>
          <p:nvPr/>
        </p:nvSpPr>
        <p:spPr>
          <a:xfrm>
            <a:off x="8458200" y="2907792"/>
            <a:ext cx="2103120" cy="219456"/>
          </a:xfrm>
          <a:prstGeom prst="rect">
            <a:avLst/>
          </a:prstGeom>
          <a:noFill/>
          <a:ln/>
        </p:spPr>
        <p:txBody>
          <a:bodyPr wrap="square" lIns="0" tIns="0" rIns="0" bIns="0" rtlCol="0" anchor="ctr"/>
          <a:lstStyle/>
          <a:p>
            <a:pPr indent="0" marL="0">
              <a:buNone/>
            </a:pPr>
            <a:r>
              <a:rPr lang="en-US" sz="1050" dirty="0">
                <a:solidFill>
                  <a:srgbClr val="A19786"/>
                </a:solidFill>
                <a:latin typeface="Nunito" pitchFamily="34" charset="0"/>
                <a:ea typeface="Nunito" pitchFamily="34" charset="-122"/>
                <a:cs typeface="Nunito" pitchFamily="34" charset="-120"/>
              </a:rPr>
              <a:t>25210289</a:t>
            </a:r>
            <a:endParaRPr lang="en-US" sz="1050" dirty="0"/>
          </a:p>
        </p:txBody>
      </p:sp>
      <p:sp>
        <p:nvSpPr>
          <p:cNvPr id="14" name="Text 12"/>
          <p:cNvSpPr txBox="1"/>
          <p:nvPr/>
        </p:nvSpPr>
        <p:spPr>
          <a:xfrm>
            <a:off x="8458200" y="3182112"/>
            <a:ext cx="2103120" cy="237744"/>
          </a:xfrm>
          <a:prstGeom prst="rect">
            <a:avLst/>
          </a:prstGeom>
          <a:noFill/>
          <a:ln/>
        </p:spPr>
        <p:txBody>
          <a:bodyPr wrap="square" lIns="0" tIns="0" rIns="0" bIns="0" rtlCol="0" anchor="ctr"/>
          <a:lstStyle/>
          <a:p>
            <a:pPr indent="0" marL="0">
              <a:buNone/>
            </a:pPr>
            <a:r>
              <a:rPr lang="en-US" sz="1250" b="1" dirty="0">
                <a:solidFill>
                  <a:srgbClr val="F5EAD8"/>
                </a:solidFill>
                <a:latin typeface="Nunito" pitchFamily="34" charset="0"/>
                <a:ea typeface="Nunito" pitchFamily="34" charset="-122"/>
                <a:cs typeface="Nunito" pitchFamily="34" charset="-120"/>
              </a:rPr>
              <a:t>Vỏ Cẩm Thu</a:t>
            </a:r>
            <a:endParaRPr lang="en-US" sz="1250" dirty="0"/>
          </a:p>
        </p:txBody>
      </p:sp>
      <p:sp>
        <p:nvSpPr>
          <p:cNvPr id="15" name="Text 13"/>
          <p:cNvSpPr txBox="1"/>
          <p:nvPr/>
        </p:nvSpPr>
        <p:spPr>
          <a:xfrm>
            <a:off x="8458200" y="3383280"/>
            <a:ext cx="2103120" cy="219456"/>
          </a:xfrm>
          <a:prstGeom prst="rect">
            <a:avLst/>
          </a:prstGeom>
          <a:noFill/>
          <a:ln/>
        </p:spPr>
        <p:txBody>
          <a:bodyPr wrap="square" lIns="0" tIns="0" rIns="0" bIns="0" rtlCol="0" anchor="ctr"/>
          <a:lstStyle/>
          <a:p>
            <a:pPr indent="0" marL="0">
              <a:buNone/>
            </a:pPr>
            <a:r>
              <a:rPr lang="en-US" sz="1050" dirty="0">
                <a:solidFill>
                  <a:srgbClr val="A19786"/>
                </a:solidFill>
                <a:latin typeface="Nunito" pitchFamily="34" charset="0"/>
                <a:ea typeface="Nunito" pitchFamily="34" charset="-122"/>
                <a:cs typeface="Nunito" pitchFamily="34" charset="-120"/>
              </a:rPr>
              <a:t>25210342</a:t>
            </a:r>
            <a:endParaRPr lang="en-US" sz="1050" dirty="0"/>
          </a:p>
        </p:txBody>
      </p:sp>
      <p:sp>
        <p:nvSpPr>
          <p:cNvPr id="16" name="Shape 14"/>
          <p:cNvSpPr/>
          <p:nvPr/>
        </p:nvSpPr>
        <p:spPr>
          <a:xfrm>
            <a:off x="8458200" y="3794760"/>
            <a:ext cx="2743200" cy="0"/>
          </a:xfrm>
          <a:prstGeom prst="line">
            <a:avLst/>
          </a:prstGeom>
          <a:noFill/>
          <a:ln w="12700">
            <a:solidFill>
              <a:srgbClr val="554E44"/>
            </a:solidFill>
            <a:prstDash val="solid"/>
          </a:ln>
        </p:spPr>
      </p:sp>
      <p:sp>
        <p:nvSpPr>
          <p:cNvPr id="17" name="Text 15"/>
          <p:cNvSpPr txBox="1"/>
          <p:nvPr/>
        </p:nvSpPr>
        <p:spPr>
          <a:xfrm>
            <a:off x="8458200" y="3950208"/>
            <a:ext cx="274320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GVHD</a:t>
            </a:r>
            <a:endParaRPr lang="en-US" sz="950" dirty="0"/>
          </a:p>
        </p:txBody>
      </p:sp>
      <p:sp>
        <p:nvSpPr>
          <p:cNvPr id="18" name="Text 16"/>
          <p:cNvSpPr txBox="1"/>
          <p:nvPr/>
        </p:nvSpPr>
        <p:spPr>
          <a:xfrm>
            <a:off x="8458200" y="4206240"/>
            <a:ext cx="2743200" cy="274320"/>
          </a:xfrm>
          <a:prstGeom prst="rect">
            <a:avLst/>
          </a:prstGeom>
          <a:noFill/>
          <a:ln/>
        </p:spPr>
        <p:txBody>
          <a:bodyPr wrap="square" lIns="0" tIns="0" rIns="0" bIns="0" rtlCol="0" anchor="ctr"/>
          <a:lstStyle/>
          <a:p>
            <a:pPr indent="0" marL="0">
              <a:buNone/>
            </a:pPr>
            <a:r>
              <a:rPr lang="en-US" sz="1250" b="1" dirty="0">
                <a:solidFill>
                  <a:srgbClr val="F5EAD8"/>
                </a:solidFill>
                <a:latin typeface="Nunito" pitchFamily="34" charset="0"/>
                <a:ea typeface="Nunito" pitchFamily="34" charset="-122"/>
                <a:cs typeface="Nunito" pitchFamily="34" charset="-120"/>
              </a:rPr>
              <a:t>ThS. Nguyễn Hữu Quyền</a:t>
            </a:r>
            <a:endParaRPr lang="en-US" sz="1250" dirty="0"/>
          </a:p>
        </p:txBody>
      </p:sp>
      <p:sp>
        <p:nvSpPr>
          <p:cNvPr id="19" name="Text 17"/>
          <p:cNvSpPr txBox="1"/>
          <p:nvPr/>
        </p:nvSpPr>
        <p:spPr>
          <a:xfrm>
            <a:off x="685800" y="5029200"/>
            <a:ext cx="365760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NỘI DUNG — SÁU MỤC</a:t>
            </a:r>
            <a:endParaRPr lang="en-US" sz="950" dirty="0"/>
          </a:p>
        </p:txBody>
      </p:sp>
      <p:sp>
        <p:nvSpPr>
          <p:cNvPr id="20" name="Shape 18"/>
          <p:cNvSpPr/>
          <p:nvPr/>
        </p:nvSpPr>
        <p:spPr>
          <a:xfrm>
            <a:off x="685800" y="5321808"/>
            <a:ext cx="1691640" cy="420624"/>
          </a:xfrm>
          <a:prstGeom prst="roundRect">
            <a:avLst>
              <a:gd name="adj" fmla="val 47826"/>
            </a:avLst>
          </a:prstGeom>
          <a:solidFill>
            <a:srgbClr val="3B362E"/>
          </a:solidFill>
          <a:ln w="12700">
            <a:solidFill>
              <a:srgbClr val="3B362E"/>
            </a:solidFill>
            <a:prstDash val="solid"/>
          </a:ln>
        </p:spPr>
      </p:sp>
      <p:sp>
        <p:nvSpPr>
          <p:cNvPr id="21" name="Text 19"/>
          <p:cNvSpPr txBox="1"/>
          <p:nvPr/>
        </p:nvSpPr>
        <p:spPr>
          <a:xfrm>
            <a:off x="685800" y="5321808"/>
            <a:ext cx="1691640" cy="420624"/>
          </a:xfrm>
          <a:prstGeom prst="rect">
            <a:avLst/>
          </a:prstGeom>
          <a:noFill/>
          <a:ln/>
        </p:spPr>
        <p:txBody>
          <a:bodyPr wrap="square" lIns="0" tIns="0" rIns="0" bIns="0" rtlCol="0" anchor="ctr"/>
          <a:lstStyle/>
          <a:p>
            <a:pPr algn="ctr" indent="0" marL="0">
              <a:buNone/>
            </a:pPr>
            <a:r>
              <a:rPr lang="en-US" sz="1050" b="1" dirty="0">
                <a:solidFill>
                  <a:srgbClr val="A19786"/>
                </a:solidFill>
                <a:latin typeface="Nunito" pitchFamily="34" charset="0"/>
                <a:ea typeface="Nunito" pitchFamily="34" charset="-122"/>
                <a:cs typeface="Nunito" pitchFamily="34" charset="-120"/>
              </a:rPr>
              <a:t>1 · Tổng quan</a:t>
            </a:r>
            <a:endParaRPr lang="en-US" sz="1050" dirty="0"/>
          </a:p>
        </p:txBody>
      </p:sp>
      <p:sp>
        <p:nvSpPr>
          <p:cNvPr id="22" name="Shape 20"/>
          <p:cNvSpPr/>
          <p:nvPr/>
        </p:nvSpPr>
        <p:spPr>
          <a:xfrm>
            <a:off x="2505456" y="5321808"/>
            <a:ext cx="1691640" cy="420624"/>
          </a:xfrm>
          <a:prstGeom prst="roundRect">
            <a:avLst>
              <a:gd name="adj" fmla="val 47826"/>
            </a:avLst>
          </a:prstGeom>
          <a:solidFill>
            <a:srgbClr val="3B362E"/>
          </a:solidFill>
          <a:ln w="12700">
            <a:solidFill>
              <a:srgbClr val="3B362E"/>
            </a:solidFill>
            <a:prstDash val="solid"/>
          </a:ln>
        </p:spPr>
      </p:sp>
      <p:sp>
        <p:nvSpPr>
          <p:cNvPr id="23" name="Text 21"/>
          <p:cNvSpPr txBox="1"/>
          <p:nvPr/>
        </p:nvSpPr>
        <p:spPr>
          <a:xfrm>
            <a:off x="2505456" y="5321808"/>
            <a:ext cx="1691640" cy="420624"/>
          </a:xfrm>
          <a:prstGeom prst="rect">
            <a:avLst/>
          </a:prstGeom>
          <a:noFill/>
          <a:ln/>
        </p:spPr>
        <p:txBody>
          <a:bodyPr wrap="square" lIns="0" tIns="0" rIns="0" bIns="0" rtlCol="0" anchor="ctr"/>
          <a:lstStyle/>
          <a:p>
            <a:pPr algn="ctr" indent="0" marL="0">
              <a:buNone/>
            </a:pPr>
            <a:r>
              <a:rPr lang="en-US" sz="1050" b="1" dirty="0">
                <a:solidFill>
                  <a:srgbClr val="A19786"/>
                </a:solidFill>
                <a:latin typeface="Nunito" pitchFamily="34" charset="0"/>
                <a:ea typeface="Nunito" pitchFamily="34" charset="-122"/>
                <a:cs typeface="Nunito" pitchFamily="34" charset="-120"/>
              </a:rPr>
              <a:t>2 · Liên quan</a:t>
            </a:r>
            <a:endParaRPr lang="en-US" sz="1050" dirty="0"/>
          </a:p>
        </p:txBody>
      </p:sp>
      <p:sp>
        <p:nvSpPr>
          <p:cNvPr id="24" name="Shape 22"/>
          <p:cNvSpPr/>
          <p:nvPr/>
        </p:nvSpPr>
        <p:spPr>
          <a:xfrm>
            <a:off x="4325112" y="5321808"/>
            <a:ext cx="1691640" cy="420624"/>
          </a:xfrm>
          <a:prstGeom prst="roundRect">
            <a:avLst>
              <a:gd name="adj" fmla="val 47826"/>
            </a:avLst>
          </a:prstGeom>
          <a:solidFill>
            <a:srgbClr val="3B362E"/>
          </a:solidFill>
          <a:ln w="12700">
            <a:solidFill>
              <a:srgbClr val="3B362E"/>
            </a:solidFill>
            <a:prstDash val="solid"/>
          </a:ln>
        </p:spPr>
      </p:sp>
      <p:sp>
        <p:nvSpPr>
          <p:cNvPr id="25" name="Text 23"/>
          <p:cNvSpPr txBox="1"/>
          <p:nvPr/>
        </p:nvSpPr>
        <p:spPr>
          <a:xfrm>
            <a:off x="4325112" y="5321808"/>
            <a:ext cx="1691640" cy="420624"/>
          </a:xfrm>
          <a:prstGeom prst="rect">
            <a:avLst/>
          </a:prstGeom>
          <a:noFill/>
          <a:ln/>
        </p:spPr>
        <p:txBody>
          <a:bodyPr wrap="square" lIns="0" tIns="0" rIns="0" bIns="0" rtlCol="0" anchor="ctr"/>
          <a:lstStyle/>
          <a:p>
            <a:pPr algn="ctr" indent="0" marL="0">
              <a:buNone/>
            </a:pPr>
            <a:r>
              <a:rPr lang="en-US" sz="1050" b="1" dirty="0">
                <a:solidFill>
                  <a:srgbClr val="A19786"/>
                </a:solidFill>
                <a:latin typeface="Nunito" pitchFamily="34" charset="0"/>
                <a:ea typeface="Nunito" pitchFamily="34" charset="-122"/>
                <a:cs typeface="Nunito" pitchFamily="34" charset="-120"/>
              </a:rPr>
              <a:t>3 · Dữ liệu</a:t>
            </a:r>
            <a:endParaRPr lang="en-US" sz="1050" dirty="0"/>
          </a:p>
        </p:txBody>
      </p:sp>
      <p:sp>
        <p:nvSpPr>
          <p:cNvPr id="26" name="Shape 24"/>
          <p:cNvSpPr/>
          <p:nvPr/>
        </p:nvSpPr>
        <p:spPr>
          <a:xfrm>
            <a:off x="6144768" y="5321808"/>
            <a:ext cx="1691640" cy="420624"/>
          </a:xfrm>
          <a:prstGeom prst="roundRect">
            <a:avLst>
              <a:gd name="adj" fmla="val 47826"/>
            </a:avLst>
          </a:prstGeom>
          <a:solidFill>
            <a:srgbClr val="3B362E"/>
          </a:solidFill>
          <a:ln w="12700">
            <a:solidFill>
              <a:srgbClr val="3B362E"/>
            </a:solidFill>
            <a:prstDash val="solid"/>
          </a:ln>
        </p:spPr>
      </p:sp>
      <p:sp>
        <p:nvSpPr>
          <p:cNvPr id="27" name="Text 25"/>
          <p:cNvSpPr txBox="1"/>
          <p:nvPr/>
        </p:nvSpPr>
        <p:spPr>
          <a:xfrm>
            <a:off x="6144768" y="5321808"/>
            <a:ext cx="1691640" cy="420624"/>
          </a:xfrm>
          <a:prstGeom prst="rect">
            <a:avLst/>
          </a:prstGeom>
          <a:noFill/>
          <a:ln/>
        </p:spPr>
        <p:txBody>
          <a:bodyPr wrap="square" lIns="0" tIns="0" rIns="0" bIns="0" rtlCol="0" anchor="ctr"/>
          <a:lstStyle/>
          <a:p>
            <a:pPr algn="ctr" indent="0" marL="0">
              <a:buNone/>
            </a:pPr>
            <a:r>
              <a:rPr lang="en-US" sz="1050" b="1" dirty="0">
                <a:solidFill>
                  <a:srgbClr val="A19786"/>
                </a:solidFill>
                <a:latin typeface="Nunito" pitchFamily="34" charset="0"/>
                <a:ea typeface="Nunito" pitchFamily="34" charset="-122"/>
                <a:cs typeface="Nunito" pitchFamily="34" charset="-120"/>
              </a:rPr>
              <a:t>4 · Phương pháp</a:t>
            </a:r>
            <a:endParaRPr lang="en-US" sz="1050" dirty="0"/>
          </a:p>
        </p:txBody>
      </p:sp>
      <p:sp>
        <p:nvSpPr>
          <p:cNvPr id="28" name="Shape 26"/>
          <p:cNvSpPr/>
          <p:nvPr/>
        </p:nvSpPr>
        <p:spPr>
          <a:xfrm>
            <a:off x="7964424" y="5321808"/>
            <a:ext cx="1691640" cy="420624"/>
          </a:xfrm>
          <a:prstGeom prst="roundRect">
            <a:avLst>
              <a:gd name="adj" fmla="val 47826"/>
            </a:avLst>
          </a:prstGeom>
          <a:solidFill>
            <a:srgbClr val="3B362E"/>
          </a:solidFill>
          <a:ln w="12700">
            <a:solidFill>
              <a:srgbClr val="3B362E"/>
            </a:solidFill>
            <a:prstDash val="solid"/>
          </a:ln>
        </p:spPr>
      </p:sp>
      <p:sp>
        <p:nvSpPr>
          <p:cNvPr id="29" name="Text 27"/>
          <p:cNvSpPr txBox="1"/>
          <p:nvPr/>
        </p:nvSpPr>
        <p:spPr>
          <a:xfrm>
            <a:off x="7964424" y="5321808"/>
            <a:ext cx="1691640" cy="420624"/>
          </a:xfrm>
          <a:prstGeom prst="rect">
            <a:avLst/>
          </a:prstGeom>
          <a:noFill/>
          <a:ln/>
        </p:spPr>
        <p:txBody>
          <a:bodyPr wrap="square" lIns="0" tIns="0" rIns="0" bIns="0" rtlCol="0" anchor="ctr"/>
          <a:lstStyle/>
          <a:p>
            <a:pPr algn="ctr" indent="0" marL="0">
              <a:buNone/>
            </a:pPr>
            <a:r>
              <a:rPr lang="en-US" sz="1050" b="1" dirty="0">
                <a:solidFill>
                  <a:srgbClr val="A19786"/>
                </a:solidFill>
                <a:latin typeface="Nunito" pitchFamily="34" charset="0"/>
                <a:ea typeface="Nunito" pitchFamily="34" charset="-122"/>
                <a:cs typeface="Nunito" pitchFamily="34" charset="-120"/>
              </a:rPr>
              <a:t>5 · Kết quả</a:t>
            </a:r>
            <a:endParaRPr lang="en-US" sz="1050" dirty="0"/>
          </a:p>
        </p:txBody>
      </p:sp>
      <p:sp>
        <p:nvSpPr>
          <p:cNvPr id="30" name="Shape 28"/>
          <p:cNvSpPr/>
          <p:nvPr/>
        </p:nvSpPr>
        <p:spPr>
          <a:xfrm>
            <a:off x="9784080" y="5321808"/>
            <a:ext cx="1691640" cy="420624"/>
          </a:xfrm>
          <a:prstGeom prst="roundRect">
            <a:avLst>
              <a:gd name="adj" fmla="val 47826"/>
            </a:avLst>
          </a:prstGeom>
          <a:solidFill>
            <a:srgbClr val="3B362E"/>
          </a:solidFill>
          <a:ln w="12700">
            <a:solidFill>
              <a:srgbClr val="3B362E"/>
            </a:solidFill>
            <a:prstDash val="solid"/>
          </a:ln>
        </p:spPr>
      </p:sp>
      <p:sp>
        <p:nvSpPr>
          <p:cNvPr id="31" name="Text 29"/>
          <p:cNvSpPr txBox="1"/>
          <p:nvPr/>
        </p:nvSpPr>
        <p:spPr>
          <a:xfrm>
            <a:off x="9784080" y="5321808"/>
            <a:ext cx="1691640" cy="420624"/>
          </a:xfrm>
          <a:prstGeom prst="rect">
            <a:avLst/>
          </a:prstGeom>
          <a:noFill/>
          <a:ln/>
        </p:spPr>
        <p:txBody>
          <a:bodyPr wrap="square" lIns="0" tIns="0" rIns="0" bIns="0" rtlCol="0" anchor="ctr"/>
          <a:lstStyle/>
          <a:p>
            <a:pPr algn="ctr" indent="0" marL="0">
              <a:buNone/>
            </a:pPr>
            <a:r>
              <a:rPr lang="en-US" sz="1050" b="1" dirty="0">
                <a:solidFill>
                  <a:srgbClr val="A19786"/>
                </a:solidFill>
                <a:latin typeface="Nunito" pitchFamily="34" charset="0"/>
                <a:ea typeface="Nunito" pitchFamily="34" charset="-122"/>
                <a:cs typeface="Nunito" pitchFamily="34" charset="-120"/>
              </a:rPr>
              <a:t>6 · Kết luận</a:t>
            </a:r>
            <a:endParaRPr lang="en-US" sz="1050" dirty="0"/>
          </a:p>
        </p:txBody>
      </p:sp>
      <p:sp>
        <p:nvSpPr>
          <p:cNvPr id="32" name="Text 30"/>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A19786"/>
                </a:solidFill>
                <a:latin typeface="Nunito" pitchFamily="34" charset="0"/>
                <a:ea typeface="Nunito" pitchFamily="34" charset="-122"/>
                <a:cs typeface="Nunito" pitchFamily="34" charset="-120"/>
              </a:rPr>
              <a:t>TP. Hồ Chí Minh · tháng 9 năm 2026</a:t>
            </a:r>
            <a:endParaRPr lang="en-US" sz="1000" dirty="0"/>
          </a:p>
        </p:txBody>
      </p:sp>
      <p:sp>
        <p:nvSpPr>
          <p:cNvPr id="33" name="Text 31"/>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A19786"/>
                </a:solidFill>
                <a:latin typeface="Nunito" pitchFamily="34" charset="0"/>
                <a:ea typeface="Nunito" pitchFamily="34" charset="-122"/>
                <a:cs typeface="Nunito"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1 · TỔNG QUAN</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808"/>
              </a:lnSpc>
              <a:buNone/>
            </a:pPr>
            <a:r>
              <a:rPr lang="en-US" sz="3400" b="1" dirty="0">
                <a:solidFill>
                  <a:srgbClr val="201E1D"/>
                </a:solidFill>
                <a:latin typeface="Baloo 2" pitchFamily="34" charset="0"/>
                <a:ea typeface="Baloo 2" pitchFamily="34" charset="-122"/>
                <a:cs typeface="Baloo 2" pitchFamily="34" charset="-120"/>
              </a:rPr>
              <a:t>Bối cảnh &amp; động lực — vì sao bài toán này quan trọng</a:t>
            </a:r>
            <a:endParaRPr lang="en-US" sz="3400" dirty="0"/>
          </a:p>
        </p:txBody>
      </p:sp>
      <p:sp>
        <p:nvSpPr>
          <p:cNvPr id="4" name="Shape 2"/>
          <p:cNvSpPr/>
          <p:nvPr/>
        </p:nvSpPr>
        <p:spPr>
          <a:xfrm>
            <a:off x="685800" y="1627632"/>
            <a:ext cx="5760720" cy="3611880"/>
          </a:xfrm>
          <a:prstGeom prst="roundRect">
            <a:avLst>
              <a:gd name="adj" fmla="val 4051"/>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5" name="Text 3"/>
          <p:cNvSpPr txBox="1"/>
          <p:nvPr/>
        </p:nvSpPr>
        <p:spPr>
          <a:xfrm>
            <a:off x="996696" y="1874520"/>
            <a:ext cx="5120640" cy="1005840"/>
          </a:xfrm>
          <a:prstGeom prst="rect">
            <a:avLst/>
          </a:prstGeom>
          <a:noFill/>
          <a:ln/>
        </p:spPr>
        <p:txBody>
          <a:bodyPr wrap="square" lIns="0" tIns="0" rIns="0" bIns="0" rtlCol="0" anchor="t"/>
          <a:lstStyle/>
          <a:p>
            <a:pPr algn="l" indent="0" marL="0">
              <a:lnSpc>
                <a:spcPts val="3045"/>
              </a:lnSpc>
              <a:buNone/>
            </a:pPr>
            <a:r>
              <a:rPr lang="en-US" sz="2100" b="1" dirty="0">
                <a:solidFill>
                  <a:srgbClr val="201E1D"/>
                </a:solidFill>
                <a:latin typeface="Nunito" pitchFamily="34" charset="0"/>
                <a:ea typeface="Nunito" pitchFamily="34" charset="-122"/>
                <a:cs typeface="Nunito" pitchFamily="34" charset="-120"/>
              </a:rPr>
              <a:t>Tìm kiếm trả về TÀI LIỆU.</a:t>
            </a:r>
            <a:endParaRPr lang="en-US" sz="2100" dirty="0"/>
          </a:p>
          <a:p>
            <a:pPr algn="l" indent="0" marL="0">
              <a:lnSpc>
                <a:spcPts val="3045"/>
              </a:lnSpc>
              <a:buNone/>
            </a:pPr>
            <a:r>
              <a:rPr lang="en-US" sz="2100" b="1" dirty="0">
                <a:solidFill>
                  <a:srgbClr val="201E1D"/>
                </a:solidFill>
                <a:latin typeface="Nunito" pitchFamily="34" charset="0"/>
                <a:ea typeface="Nunito" pitchFamily="34" charset="-122"/>
                <a:cs typeface="Nunito" pitchFamily="34" charset="-120"/>
              </a:rPr>
              <a:t>Đọc hiểu máy trả về CÂU TRẢ LỜI.</a:t>
            </a:r>
            <a:endParaRPr lang="en-US" sz="2100" dirty="0"/>
          </a:p>
        </p:txBody>
      </p:sp>
      <p:sp>
        <p:nvSpPr>
          <p:cNvPr id="6" name="Text 4"/>
          <p:cNvSpPr txBox="1"/>
          <p:nvPr/>
        </p:nvSpPr>
        <p:spPr>
          <a:xfrm>
            <a:off x="996696" y="2926080"/>
            <a:ext cx="5120640" cy="914400"/>
          </a:xfrm>
          <a:prstGeom prst="rect">
            <a:avLst/>
          </a:prstGeom>
          <a:noFill/>
          <a:ln/>
        </p:spPr>
        <p:txBody>
          <a:bodyPr wrap="square" lIns="0" tIns="0" rIns="0" bIns="0" rtlCol="0" anchor="t"/>
          <a:lstStyle/>
          <a:p>
            <a:pPr algn="l" indent="0" marL="0">
              <a:lnSpc>
                <a:spcPts val="1813"/>
              </a:lnSpc>
              <a:buNone/>
            </a:pPr>
            <a:r>
              <a:rPr lang="en-US" sz="1250" dirty="0">
                <a:solidFill>
                  <a:srgbClr val="645C50"/>
                </a:solidFill>
                <a:latin typeface="Nunito" pitchFamily="34" charset="0"/>
                <a:ea typeface="Nunito" pitchFamily="34" charset="-122"/>
                <a:cs typeface="Nunito" pitchFamily="34" charset="-120"/>
              </a:rPr>
              <a:t>Khối lượng văn bản một người phải đọc để tìm một thông tin cụ thể tăng nhanh hơn thời gian họ có. Công cụ tìm kiếm giải quyết một nửa: trả về tài liệu liên quan. MRC giải quyết nửa còn lại — chỉ thẳng vào đoạn chữ trả lời câu hỏi.</a:t>
            </a:r>
            <a:endParaRPr lang="en-US" sz="1250" dirty="0"/>
          </a:p>
        </p:txBody>
      </p:sp>
      <p:sp>
        <p:nvSpPr>
          <p:cNvPr id="7" name="Text 5"/>
          <p:cNvSpPr txBox="1"/>
          <p:nvPr/>
        </p:nvSpPr>
        <p:spPr>
          <a:xfrm>
            <a:off x="996696" y="3931920"/>
            <a:ext cx="512064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BA CHỖ DÙNG TRỰC TIẾP</a:t>
            </a:r>
            <a:endParaRPr lang="en-US" sz="950" dirty="0"/>
          </a:p>
        </p:txBody>
      </p:sp>
      <p:sp>
        <p:nvSpPr>
          <p:cNvPr id="8" name="Text 6"/>
          <p:cNvSpPr txBox="1"/>
          <p:nvPr/>
        </p:nvSpPr>
        <p:spPr>
          <a:xfrm>
            <a:off x="996696" y="4187952"/>
            <a:ext cx="5120640" cy="274320"/>
          </a:xfrm>
          <a:prstGeom prst="rect">
            <a:avLst/>
          </a:prstGeom>
          <a:noFill/>
          <a:ln/>
        </p:spPr>
        <p:txBody>
          <a:bodyPr wrap="square" lIns="0" tIns="0" rIns="0" bIns="0" rtlCol="0" anchor="ctr"/>
          <a:lstStyle/>
          <a:p>
            <a:pPr indent="0" marL="0">
              <a:buNone/>
            </a:pPr>
            <a:r>
              <a:rPr lang="en-US" sz="1200" dirty="0">
                <a:solidFill>
                  <a:srgbClr val="201E1D"/>
                </a:solidFill>
                <a:latin typeface="Nunito" pitchFamily="34" charset="0"/>
                <a:ea typeface="Nunito" pitchFamily="34" charset="-122"/>
                <a:cs typeface="Nunito" pitchFamily="34" charset="-120"/>
              </a:rPr>
              <a:t>·  Trợ lý học tập: hỏi trên giáo trình, quy chế, tài liệu môn học</a:t>
            </a:r>
            <a:endParaRPr lang="en-US" sz="1200" dirty="0"/>
          </a:p>
        </p:txBody>
      </p:sp>
      <p:sp>
        <p:nvSpPr>
          <p:cNvPr id="9" name="Text 7"/>
          <p:cNvSpPr txBox="1"/>
          <p:nvPr/>
        </p:nvSpPr>
        <p:spPr>
          <a:xfrm>
            <a:off x="996696" y="4489704"/>
            <a:ext cx="5120640" cy="274320"/>
          </a:xfrm>
          <a:prstGeom prst="rect">
            <a:avLst/>
          </a:prstGeom>
          <a:noFill/>
          <a:ln/>
        </p:spPr>
        <p:txBody>
          <a:bodyPr wrap="square" lIns="0" tIns="0" rIns="0" bIns="0" rtlCol="0" anchor="ctr"/>
          <a:lstStyle/>
          <a:p>
            <a:pPr indent="0" marL="0">
              <a:buNone/>
            </a:pPr>
            <a:r>
              <a:rPr lang="en-US" sz="1200" dirty="0">
                <a:solidFill>
                  <a:srgbClr val="201E1D"/>
                </a:solidFill>
                <a:latin typeface="Nunito" pitchFamily="34" charset="0"/>
                <a:ea typeface="Nunito" pitchFamily="34" charset="-122"/>
                <a:cs typeface="Nunito" pitchFamily="34" charset="-120"/>
              </a:rPr>
              <a:t>·  Hỏi đáp trên tài liệu nội bộ của doanh nghiệp</a:t>
            </a:r>
            <a:endParaRPr lang="en-US" sz="1200" dirty="0"/>
          </a:p>
        </p:txBody>
      </p:sp>
      <p:sp>
        <p:nvSpPr>
          <p:cNvPr id="10" name="Text 8"/>
          <p:cNvSpPr txBox="1"/>
          <p:nvPr/>
        </p:nvSpPr>
        <p:spPr>
          <a:xfrm>
            <a:off x="996696" y="4791456"/>
            <a:ext cx="5120640" cy="274320"/>
          </a:xfrm>
          <a:prstGeom prst="rect">
            <a:avLst/>
          </a:prstGeom>
          <a:noFill/>
          <a:ln/>
        </p:spPr>
        <p:txBody>
          <a:bodyPr wrap="square" lIns="0" tIns="0" rIns="0" bIns="0" rtlCol="0" anchor="ctr"/>
          <a:lstStyle/>
          <a:p>
            <a:pPr indent="0" marL="0">
              <a:buNone/>
            </a:pPr>
            <a:r>
              <a:rPr lang="en-US" sz="1200" dirty="0">
                <a:solidFill>
                  <a:srgbClr val="201E1D"/>
                </a:solidFill>
                <a:latin typeface="Nunito" pitchFamily="34" charset="0"/>
                <a:ea typeface="Nunito" pitchFamily="34" charset="-122"/>
                <a:cs typeface="Nunito" pitchFamily="34" charset="-120"/>
              </a:rPr>
              <a:t>·  Tầng “đọc” trong pipeline truy hồi rồi đọc (retrieve-then-read)</a:t>
            </a:r>
            <a:endParaRPr lang="en-US" sz="1200" dirty="0"/>
          </a:p>
        </p:txBody>
      </p:sp>
      <p:sp>
        <p:nvSpPr>
          <p:cNvPr id="11" name="Shape 9"/>
          <p:cNvSpPr/>
          <p:nvPr/>
        </p:nvSpPr>
        <p:spPr>
          <a:xfrm>
            <a:off x="6858000" y="1627632"/>
            <a:ext cx="4645152" cy="3611880"/>
          </a:xfrm>
          <a:prstGeom prst="roundRect">
            <a:avLst>
              <a:gd name="adj" fmla="val 4051"/>
            </a:avLst>
          </a:prstGeom>
          <a:solidFill>
            <a:srgbClr val="FFF2EB"/>
          </a:solidFill>
          <a:ln w="12700">
            <a:solidFill>
              <a:srgbClr val="FFF2EB"/>
            </a:solidFill>
            <a:prstDash val="solid"/>
          </a:ln>
          <a:effectLst>
            <a:outerShdw sx="100000" sy="100000" kx="0" ky="0" algn="bl" rotWithShape="0" blurRad="101600" dist="25400" dir="5400000">
              <a:srgbClr val="2E2B25">
                <a:alpha val="12000"/>
              </a:srgbClr>
            </a:outerShdw>
          </a:effectLst>
        </p:spPr>
      </p:sp>
      <p:sp>
        <p:nvSpPr>
          <p:cNvPr id="12" name="Text 10"/>
          <p:cNvSpPr txBox="1"/>
          <p:nvPr/>
        </p:nvSpPr>
        <p:spPr>
          <a:xfrm>
            <a:off x="7168896" y="1874520"/>
            <a:ext cx="4114800" cy="219456"/>
          </a:xfrm>
          <a:prstGeom prst="rect">
            <a:avLst/>
          </a:prstGeom>
          <a:noFill/>
          <a:ln/>
        </p:spPr>
        <p:txBody>
          <a:bodyPr wrap="square" lIns="0" tIns="0" rIns="0" bIns="0" rtlCol="0" anchor="ctr"/>
          <a:lstStyle/>
          <a:p>
            <a:pPr indent="0" marL="0">
              <a:buNone/>
            </a:pPr>
            <a:r>
              <a:rPr lang="en-US" sz="950" b="1" spc="160" kern="0" dirty="0">
                <a:solidFill>
                  <a:srgbClr val="8C491A"/>
                </a:solidFill>
                <a:latin typeface="Nunito" pitchFamily="34" charset="0"/>
                <a:ea typeface="Nunito" pitchFamily="34" charset="-122"/>
                <a:cs typeface="Nunito" pitchFamily="34" charset="-120"/>
              </a:rPr>
              <a:t>BỐN KHÓ KHĂN RIÊNG CỦA TIẾNG VIỆT</a:t>
            </a:r>
            <a:endParaRPr lang="en-US" sz="950" dirty="0"/>
          </a:p>
        </p:txBody>
      </p:sp>
      <p:sp>
        <p:nvSpPr>
          <p:cNvPr id="13" name="Text 11"/>
          <p:cNvSpPr txBox="1"/>
          <p:nvPr/>
        </p:nvSpPr>
        <p:spPr>
          <a:xfrm>
            <a:off x="7168896" y="2176272"/>
            <a:ext cx="274320" cy="274320"/>
          </a:xfrm>
          <a:prstGeom prst="rect">
            <a:avLst/>
          </a:prstGeom>
          <a:noFill/>
          <a:ln/>
        </p:spPr>
        <p:txBody>
          <a:bodyPr wrap="square" lIns="0" tIns="0" rIns="0" bIns="0" rtlCol="0" anchor="ctr"/>
          <a:lstStyle/>
          <a:p>
            <a:pPr indent="0" marL="0">
              <a:buNone/>
            </a:pPr>
            <a:r>
              <a:rPr lang="en-US" sz="1400" b="1" dirty="0">
                <a:solidFill>
                  <a:srgbClr val="C67139"/>
                </a:solidFill>
                <a:latin typeface="Baloo 2" pitchFamily="34" charset="0"/>
                <a:ea typeface="Baloo 2" pitchFamily="34" charset="-122"/>
                <a:cs typeface="Baloo 2" pitchFamily="34" charset="-120"/>
              </a:rPr>
              <a:t>1</a:t>
            </a:r>
            <a:endParaRPr lang="en-US" sz="1400" dirty="0"/>
          </a:p>
        </p:txBody>
      </p:sp>
      <p:sp>
        <p:nvSpPr>
          <p:cNvPr id="14" name="Text 12"/>
          <p:cNvSpPr txBox="1"/>
          <p:nvPr/>
        </p:nvSpPr>
        <p:spPr>
          <a:xfrm>
            <a:off x="7461504" y="2176272"/>
            <a:ext cx="3840480" cy="274320"/>
          </a:xfrm>
          <a:prstGeom prst="rect">
            <a:avLst/>
          </a:prstGeom>
          <a:noFill/>
          <a:ln/>
        </p:spPr>
        <p:txBody>
          <a:bodyPr wrap="square" lIns="0" tIns="0" rIns="0" bIns="0" rtlCol="0" anchor="ctr"/>
          <a:lstStyle/>
          <a:p>
            <a:pPr algn="l" indent="0" marL="0">
              <a:lnSpc>
                <a:spcPts val="1813"/>
              </a:lnSpc>
              <a:buNone/>
            </a:pPr>
            <a:r>
              <a:rPr lang="en-US" sz="1250" b="1" dirty="0">
                <a:solidFill>
                  <a:srgbClr val="8C491A"/>
                </a:solidFill>
                <a:latin typeface="Nunito" pitchFamily="34" charset="0"/>
                <a:ea typeface="Nunito" pitchFamily="34" charset="-122"/>
                <a:cs typeface="Nunito" pitchFamily="34" charset="-120"/>
              </a:rPr>
              <a:t>Đơn vị chữ viết là âm tiết, không phải từ</a:t>
            </a:r>
            <a:endParaRPr lang="en-US" sz="1250" dirty="0"/>
          </a:p>
        </p:txBody>
      </p:sp>
      <p:sp>
        <p:nvSpPr>
          <p:cNvPr id="15" name="Text 13"/>
          <p:cNvSpPr txBox="1"/>
          <p:nvPr/>
        </p:nvSpPr>
        <p:spPr>
          <a:xfrm>
            <a:off x="7461504" y="2450592"/>
            <a:ext cx="3840480" cy="457200"/>
          </a:xfrm>
          <a:prstGeom prst="rect">
            <a:avLst/>
          </a:prstGeom>
          <a:noFill/>
          <a:ln/>
        </p:spPr>
        <p:txBody>
          <a:bodyPr wrap="square" lIns="0" tIns="0" rIns="0" bIns="0" rtlCol="0" anchor="t"/>
          <a:lstStyle/>
          <a:p>
            <a:pPr algn="l" indent="0" marL="0">
              <a:lnSpc>
                <a:spcPts val="1523"/>
              </a:lnSpc>
              <a:buNone/>
            </a:pPr>
            <a:r>
              <a:rPr lang="en-US" sz="1050" dirty="0">
                <a:solidFill>
                  <a:srgbClr val="8C491A"/>
                </a:solidFill>
                <a:latin typeface="Nunito" pitchFamily="34" charset="0"/>
                <a:ea typeface="Nunito" pitchFamily="34" charset="-122"/>
                <a:cs typeface="Nunito" pitchFamily="34" charset="-120"/>
              </a:rPr>
              <a:t>“Hà Nội”, “thủ đô” là từ gồm hai âm tiết cách nhau bởi khoảng trắng</a:t>
            </a:r>
            <a:endParaRPr lang="en-US" sz="1050" dirty="0"/>
          </a:p>
        </p:txBody>
      </p:sp>
      <p:sp>
        <p:nvSpPr>
          <p:cNvPr id="16" name="Text 14"/>
          <p:cNvSpPr txBox="1"/>
          <p:nvPr/>
        </p:nvSpPr>
        <p:spPr>
          <a:xfrm>
            <a:off x="7168896" y="2944368"/>
            <a:ext cx="274320" cy="274320"/>
          </a:xfrm>
          <a:prstGeom prst="rect">
            <a:avLst/>
          </a:prstGeom>
          <a:noFill/>
          <a:ln/>
        </p:spPr>
        <p:txBody>
          <a:bodyPr wrap="square" lIns="0" tIns="0" rIns="0" bIns="0" rtlCol="0" anchor="ctr"/>
          <a:lstStyle/>
          <a:p>
            <a:pPr indent="0" marL="0">
              <a:buNone/>
            </a:pPr>
            <a:r>
              <a:rPr lang="en-US" sz="1400" b="1" dirty="0">
                <a:solidFill>
                  <a:srgbClr val="C67139"/>
                </a:solidFill>
                <a:latin typeface="Baloo 2" pitchFamily="34" charset="0"/>
                <a:ea typeface="Baloo 2" pitchFamily="34" charset="-122"/>
                <a:cs typeface="Baloo 2" pitchFamily="34" charset="-120"/>
              </a:rPr>
              <a:t>2</a:t>
            </a:r>
            <a:endParaRPr lang="en-US" sz="1400" dirty="0"/>
          </a:p>
        </p:txBody>
      </p:sp>
      <p:sp>
        <p:nvSpPr>
          <p:cNvPr id="17" name="Text 15"/>
          <p:cNvSpPr txBox="1"/>
          <p:nvPr/>
        </p:nvSpPr>
        <p:spPr>
          <a:xfrm>
            <a:off x="7461504" y="2944368"/>
            <a:ext cx="3840480" cy="274320"/>
          </a:xfrm>
          <a:prstGeom prst="rect">
            <a:avLst/>
          </a:prstGeom>
          <a:noFill/>
          <a:ln/>
        </p:spPr>
        <p:txBody>
          <a:bodyPr wrap="square" lIns="0" tIns="0" rIns="0" bIns="0" rtlCol="0" anchor="ctr"/>
          <a:lstStyle/>
          <a:p>
            <a:pPr algn="l" indent="0" marL="0">
              <a:lnSpc>
                <a:spcPts val="1813"/>
              </a:lnSpc>
              <a:buNone/>
            </a:pPr>
            <a:r>
              <a:rPr lang="en-US" sz="1250" b="1" dirty="0">
                <a:solidFill>
                  <a:srgbClr val="8C491A"/>
                </a:solidFill>
                <a:latin typeface="Nunito" pitchFamily="34" charset="0"/>
                <a:ea typeface="Nunito" pitchFamily="34" charset="-122"/>
                <a:cs typeface="Nunito" pitchFamily="34" charset="-120"/>
              </a:rPr>
              <a:t>Dấu thanh mang nghĩa</a:t>
            </a:r>
            <a:endParaRPr lang="en-US" sz="1250" dirty="0"/>
          </a:p>
        </p:txBody>
      </p:sp>
      <p:sp>
        <p:nvSpPr>
          <p:cNvPr id="18" name="Text 16"/>
          <p:cNvSpPr txBox="1"/>
          <p:nvPr/>
        </p:nvSpPr>
        <p:spPr>
          <a:xfrm>
            <a:off x="7461504" y="3218688"/>
            <a:ext cx="3840480" cy="457200"/>
          </a:xfrm>
          <a:prstGeom prst="rect">
            <a:avLst/>
          </a:prstGeom>
          <a:noFill/>
          <a:ln/>
        </p:spPr>
        <p:txBody>
          <a:bodyPr wrap="square" lIns="0" tIns="0" rIns="0" bIns="0" rtlCol="0" anchor="t"/>
          <a:lstStyle/>
          <a:p>
            <a:pPr algn="l" indent="0" marL="0">
              <a:lnSpc>
                <a:spcPts val="1523"/>
              </a:lnSpc>
              <a:buNone/>
            </a:pPr>
            <a:r>
              <a:rPr lang="en-US" sz="1050" dirty="0">
                <a:solidFill>
                  <a:srgbClr val="8C491A"/>
                </a:solidFill>
                <a:latin typeface="Nunito" pitchFamily="34" charset="0"/>
                <a:ea typeface="Nunito" pitchFamily="34" charset="-122"/>
                <a:cs typeface="Nunito" pitchFamily="34" charset="-120"/>
              </a:rPr>
              <a:t>“hoà” ≠ “hoa”; một bước chuẩn hoá làm mất dấu là sai EM mà không báo lỗi</a:t>
            </a:r>
            <a:endParaRPr lang="en-US" sz="1050" dirty="0"/>
          </a:p>
        </p:txBody>
      </p:sp>
      <p:sp>
        <p:nvSpPr>
          <p:cNvPr id="19" name="Text 17"/>
          <p:cNvSpPr txBox="1"/>
          <p:nvPr/>
        </p:nvSpPr>
        <p:spPr>
          <a:xfrm>
            <a:off x="7168896" y="3712464"/>
            <a:ext cx="274320" cy="274320"/>
          </a:xfrm>
          <a:prstGeom prst="rect">
            <a:avLst/>
          </a:prstGeom>
          <a:noFill/>
          <a:ln/>
        </p:spPr>
        <p:txBody>
          <a:bodyPr wrap="square" lIns="0" tIns="0" rIns="0" bIns="0" rtlCol="0" anchor="ctr"/>
          <a:lstStyle/>
          <a:p>
            <a:pPr indent="0" marL="0">
              <a:buNone/>
            </a:pPr>
            <a:r>
              <a:rPr lang="en-US" sz="1400" b="1" dirty="0">
                <a:solidFill>
                  <a:srgbClr val="C67139"/>
                </a:solidFill>
                <a:latin typeface="Baloo 2" pitchFamily="34" charset="0"/>
                <a:ea typeface="Baloo 2" pitchFamily="34" charset="-122"/>
                <a:cs typeface="Baloo 2" pitchFamily="34" charset="-120"/>
              </a:rPr>
              <a:t>3</a:t>
            </a:r>
            <a:endParaRPr lang="en-US" sz="1400" dirty="0"/>
          </a:p>
        </p:txBody>
      </p:sp>
      <p:sp>
        <p:nvSpPr>
          <p:cNvPr id="20" name="Text 18"/>
          <p:cNvSpPr txBox="1"/>
          <p:nvPr/>
        </p:nvSpPr>
        <p:spPr>
          <a:xfrm>
            <a:off x="7461504" y="3712464"/>
            <a:ext cx="3840480" cy="274320"/>
          </a:xfrm>
          <a:prstGeom prst="rect">
            <a:avLst/>
          </a:prstGeom>
          <a:noFill/>
          <a:ln/>
        </p:spPr>
        <p:txBody>
          <a:bodyPr wrap="square" lIns="0" tIns="0" rIns="0" bIns="0" rtlCol="0" anchor="ctr"/>
          <a:lstStyle/>
          <a:p>
            <a:pPr algn="l" indent="0" marL="0">
              <a:lnSpc>
                <a:spcPts val="1813"/>
              </a:lnSpc>
              <a:buNone/>
            </a:pPr>
            <a:r>
              <a:rPr lang="en-US" sz="1250" b="1" dirty="0">
                <a:solidFill>
                  <a:srgbClr val="8C491A"/>
                </a:solidFill>
                <a:latin typeface="Nunito" pitchFamily="34" charset="0"/>
                <a:ea typeface="Nunito" pitchFamily="34" charset="-122"/>
                <a:cs typeface="Nunito" pitchFamily="34" charset="-120"/>
              </a:rPr>
              <a:t>Không có mạo từ</a:t>
            </a:r>
            <a:endParaRPr lang="en-US" sz="1250" dirty="0"/>
          </a:p>
        </p:txBody>
      </p:sp>
      <p:sp>
        <p:nvSpPr>
          <p:cNvPr id="21" name="Text 19"/>
          <p:cNvSpPr txBox="1"/>
          <p:nvPr/>
        </p:nvSpPr>
        <p:spPr>
          <a:xfrm>
            <a:off x="7461504" y="3986784"/>
            <a:ext cx="3840480" cy="457200"/>
          </a:xfrm>
          <a:prstGeom prst="rect">
            <a:avLst/>
          </a:prstGeom>
          <a:noFill/>
          <a:ln/>
        </p:spPr>
        <p:txBody>
          <a:bodyPr wrap="square" lIns="0" tIns="0" rIns="0" bIns="0" rtlCol="0" anchor="t"/>
          <a:lstStyle/>
          <a:p>
            <a:pPr algn="l" indent="0" marL="0">
              <a:lnSpc>
                <a:spcPts val="1523"/>
              </a:lnSpc>
              <a:buNone/>
            </a:pPr>
            <a:r>
              <a:rPr lang="en-US" sz="1050" dirty="0">
                <a:solidFill>
                  <a:srgbClr val="8C491A"/>
                </a:solidFill>
                <a:latin typeface="Nunito" pitchFamily="34" charset="0"/>
                <a:ea typeface="Nunito" pitchFamily="34" charset="-122"/>
                <a:cs typeface="Nunito" pitchFamily="34" charset="-120"/>
              </a:rPr>
              <a:t>quy tắc bỏ a/an/the của SQuAD không áp được: “các”, “những” có thể thuộc đáp án</a:t>
            </a:r>
            <a:endParaRPr lang="en-US" sz="1050" dirty="0"/>
          </a:p>
        </p:txBody>
      </p:sp>
      <p:sp>
        <p:nvSpPr>
          <p:cNvPr id="22" name="Text 20"/>
          <p:cNvSpPr txBox="1"/>
          <p:nvPr/>
        </p:nvSpPr>
        <p:spPr>
          <a:xfrm>
            <a:off x="7168896" y="4480560"/>
            <a:ext cx="274320" cy="274320"/>
          </a:xfrm>
          <a:prstGeom prst="rect">
            <a:avLst/>
          </a:prstGeom>
          <a:noFill/>
          <a:ln/>
        </p:spPr>
        <p:txBody>
          <a:bodyPr wrap="square" lIns="0" tIns="0" rIns="0" bIns="0" rtlCol="0" anchor="ctr"/>
          <a:lstStyle/>
          <a:p>
            <a:pPr indent="0" marL="0">
              <a:buNone/>
            </a:pPr>
            <a:r>
              <a:rPr lang="en-US" sz="1400" b="1" dirty="0">
                <a:solidFill>
                  <a:srgbClr val="C67139"/>
                </a:solidFill>
                <a:latin typeface="Baloo 2" pitchFamily="34" charset="0"/>
                <a:ea typeface="Baloo 2" pitchFamily="34" charset="-122"/>
                <a:cs typeface="Baloo 2" pitchFamily="34" charset="-120"/>
              </a:rPr>
              <a:t>4</a:t>
            </a:r>
            <a:endParaRPr lang="en-US" sz="1400" dirty="0"/>
          </a:p>
        </p:txBody>
      </p:sp>
      <p:sp>
        <p:nvSpPr>
          <p:cNvPr id="23" name="Text 21"/>
          <p:cNvSpPr txBox="1"/>
          <p:nvPr/>
        </p:nvSpPr>
        <p:spPr>
          <a:xfrm>
            <a:off x="7461504" y="4480560"/>
            <a:ext cx="3840480" cy="274320"/>
          </a:xfrm>
          <a:prstGeom prst="rect">
            <a:avLst/>
          </a:prstGeom>
          <a:noFill/>
          <a:ln/>
        </p:spPr>
        <p:txBody>
          <a:bodyPr wrap="square" lIns="0" tIns="0" rIns="0" bIns="0" rtlCol="0" anchor="ctr"/>
          <a:lstStyle/>
          <a:p>
            <a:pPr algn="l" indent="0" marL="0">
              <a:lnSpc>
                <a:spcPts val="1813"/>
              </a:lnSpc>
              <a:buNone/>
            </a:pPr>
            <a:r>
              <a:rPr lang="en-US" sz="1250" b="1" dirty="0">
                <a:solidFill>
                  <a:srgbClr val="8C491A"/>
                </a:solidFill>
                <a:latin typeface="Nunito" pitchFamily="34" charset="0"/>
                <a:ea typeface="Nunito" pitchFamily="34" charset="-122"/>
                <a:cs typeface="Nunito" pitchFamily="34" charset="-120"/>
              </a:rPr>
              <a:t>Khoảng một phần ba câu hỏi không có đáp án</a:t>
            </a:r>
            <a:endParaRPr lang="en-US" sz="1250" dirty="0"/>
          </a:p>
        </p:txBody>
      </p:sp>
      <p:sp>
        <p:nvSpPr>
          <p:cNvPr id="24" name="Text 22"/>
          <p:cNvSpPr txBox="1"/>
          <p:nvPr/>
        </p:nvSpPr>
        <p:spPr>
          <a:xfrm>
            <a:off x="7461504" y="4754880"/>
            <a:ext cx="3840480" cy="457200"/>
          </a:xfrm>
          <a:prstGeom prst="rect">
            <a:avLst/>
          </a:prstGeom>
          <a:noFill/>
          <a:ln/>
        </p:spPr>
        <p:txBody>
          <a:bodyPr wrap="square" lIns="0" tIns="0" rIns="0" bIns="0" rtlCol="0" anchor="t"/>
          <a:lstStyle/>
          <a:p>
            <a:pPr algn="l" indent="0" marL="0">
              <a:lnSpc>
                <a:spcPts val="1523"/>
              </a:lnSpc>
              <a:buNone/>
            </a:pPr>
            <a:r>
              <a:rPr lang="en-US" sz="1050" dirty="0">
                <a:solidFill>
                  <a:srgbClr val="8C491A"/>
                </a:solidFill>
                <a:latin typeface="Nunito" pitchFamily="34" charset="0"/>
                <a:ea typeface="Nunito" pitchFamily="34" charset="-122"/>
                <a:cs typeface="Nunito" pitchFamily="34" charset="-120"/>
              </a:rPr>
              <a:t>hệ thống phải biết TỪ CHỐI, không chỉ biết tìm</a:t>
            </a:r>
            <a:endParaRPr lang="en-US" sz="1050" dirty="0"/>
          </a:p>
        </p:txBody>
      </p:sp>
      <p:sp>
        <p:nvSpPr>
          <p:cNvPr id="25" name="Shape 23"/>
          <p:cNvSpPr/>
          <p:nvPr/>
        </p:nvSpPr>
        <p:spPr>
          <a:xfrm>
            <a:off x="685800" y="5394960"/>
            <a:ext cx="10820095" cy="822960"/>
          </a:xfrm>
          <a:prstGeom prst="roundRect">
            <a:avLst>
              <a:gd name="adj" fmla="val 17778"/>
            </a:avLst>
          </a:prstGeom>
          <a:solidFill>
            <a:srgbClr val="FFF2EB"/>
          </a:solidFill>
          <a:ln w="12700">
            <a:solidFill>
              <a:srgbClr val="FFF2EB"/>
            </a:solidFill>
            <a:prstDash val="solid"/>
          </a:ln>
        </p:spPr>
      </p:sp>
      <p:sp>
        <p:nvSpPr>
          <p:cNvPr id="26" name="Text 24"/>
          <p:cNvSpPr txBox="1"/>
          <p:nvPr/>
        </p:nvSpPr>
        <p:spPr>
          <a:xfrm>
            <a:off x="1005840" y="5513832"/>
            <a:ext cx="10180015" cy="310896"/>
          </a:xfrm>
          <a:prstGeom prst="rect">
            <a:avLst/>
          </a:prstGeom>
          <a:noFill/>
          <a:ln/>
        </p:spPr>
        <p:txBody>
          <a:bodyPr wrap="square" lIns="0" tIns="0" rIns="0" bIns="0" rtlCol="0" anchor="t"/>
          <a:lstStyle/>
          <a:p>
            <a:pPr algn="l" indent="0" marL="0">
              <a:lnSpc>
                <a:spcPts val="2103"/>
              </a:lnSpc>
              <a:buNone/>
            </a:pPr>
            <a:r>
              <a:rPr lang="en-US" sz="1450" b="1" dirty="0">
                <a:solidFill>
                  <a:srgbClr val="8C491A"/>
                </a:solidFill>
                <a:latin typeface="Nunito" pitchFamily="34" charset="0"/>
                <a:ea typeface="Nunito" pitchFamily="34" charset="-122"/>
                <a:cs typeface="Nunito" pitchFamily="34" charset="-120"/>
              </a:rPr>
              <a:t>Hướng dẫn môn học: “Kết quả cao trên benchmark không đồng nghĩa với khả năng triển khai thực tế.”</a:t>
            </a:r>
            <a:endParaRPr lang="en-US" sz="1450" dirty="0"/>
          </a:p>
        </p:txBody>
      </p:sp>
      <p:sp>
        <p:nvSpPr>
          <p:cNvPr id="27" name="Text 25"/>
          <p:cNvSpPr txBox="1"/>
          <p:nvPr/>
        </p:nvSpPr>
        <p:spPr>
          <a:xfrm>
            <a:off x="1005840" y="5797296"/>
            <a:ext cx="10180015" cy="365760"/>
          </a:xfrm>
          <a:prstGeom prst="rect">
            <a:avLst/>
          </a:prstGeom>
          <a:noFill/>
          <a:ln/>
        </p:spPr>
        <p:txBody>
          <a:bodyPr wrap="square" lIns="0" tIns="0" rIns="0" bIns="0" rtlCol="0" anchor="t"/>
          <a:lstStyle/>
          <a:p>
            <a:pPr algn="l" indent="0" marL="0">
              <a:lnSpc>
                <a:spcPts val="1668"/>
              </a:lnSpc>
              <a:buNone/>
            </a:pPr>
            <a:r>
              <a:rPr lang="en-US" sz="1150" dirty="0">
                <a:solidFill>
                  <a:srgbClr val="8C491A"/>
                </a:solidFill>
                <a:latin typeface="Nunito" pitchFamily="34" charset="0"/>
                <a:ea typeface="Nunito" pitchFamily="34" charset="-122"/>
                <a:cs typeface="Nunito" pitchFamily="34" charset="-120"/>
              </a:rPr>
              <a:t>Nên mục tiêu của đồ án không phải điểm cao nhất, mà: mọi con số được trình bày đều đúng, truy vết được, và được diễn giải đúng phạm vi thực nghiệm.</a:t>
            </a:r>
            <a:endParaRPr lang="en-US" sz="1150" dirty="0"/>
          </a:p>
        </p:txBody>
      </p:sp>
      <p:sp>
        <p:nvSpPr>
          <p:cNvPr id="28" name="Text 26"/>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1 · Tổng quan · Bối cảnh &amp; động lực</a:t>
            </a:r>
            <a:endParaRPr lang="en-US" sz="1000" dirty="0"/>
          </a:p>
        </p:txBody>
      </p:sp>
      <p:sp>
        <p:nvSpPr>
          <p:cNvPr id="29" name="Text 27"/>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1 · TỔNG QUAN</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808"/>
              </a:lnSpc>
              <a:buNone/>
            </a:pPr>
            <a:r>
              <a:rPr lang="en-US" sz="3400" b="1" dirty="0">
                <a:solidFill>
                  <a:srgbClr val="201E1D"/>
                </a:solidFill>
                <a:latin typeface="Baloo 2" pitchFamily="34" charset="0"/>
                <a:ea typeface="Baloo 2" pitchFamily="34" charset="-122"/>
                <a:cs typeface="Baloo 2" pitchFamily="34" charset="-120"/>
              </a:rPr>
              <a:t>Phát biểu bài toán — trích xuất, không phải sinh</a:t>
            </a:r>
            <a:endParaRPr lang="en-US" sz="3400" dirty="0"/>
          </a:p>
        </p:txBody>
      </p:sp>
      <p:sp>
        <p:nvSpPr>
          <p:cNvPr id="4" name="Shape 2"/>
          <p:cNvSpPr/>
          <p:nvPr/>
        </p:nvSpPr>
        <p:spPr>
          <a:xfrm>
            <a:off x="685800" y="1627632"/>
            <a:ext cx="5989320" cy="1371600"/>
          </a:xfrm>
          <a:prstGeom prst="roundRect">
            <a:avLst>
              <a:gd name="adj" fmla="val 10667"/>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5" name="Text 3"/>
          <p:cNvSpPr txBox="1"/>
          <p:nvPr/>
        </p:nvSpPr>
        <p:spPr>
          <a:xfrm>
            <a:off x="978408" y="1810512"/>
            <a:ext cx="457200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ĐỊNH NGHĨA HÌNH THỨC</a:t>
            </a:r>
            <a:endParaRPr lang="en-US" sz="950" dirty="0"/>
          </a:p>
        </p:txBody>
      </p:sp>
      <p:sp>
        <p:nvSpPr>
          <p:cNvPr id="6" name="Text 4"/>
          <p:cNvSpPr txBox="1"/>
          <p:nvPr/>
        </p:nvSpPr>
        <p:spPr>
          <a:xfrm>
            <a:off x="978408" y="2048256"/>
            <a:ext cx="5394960" cy="274320"/>
          </a:xfrm>
          <a:prstGeom prst="rect">
            <a:avLst/>
          </a:prstGeom>
          <a:noFill/>
          <a:ln/>
        </p:spPr>
        <p:txBody>
          <a:bodyPr wrap="square" lIns="0" tIns="0" rIns="0" bIns="0" rtlCol="0" anchor="t"/>
          <a:lstStyle/>
          <a:p>
            <a:pPr algn="l" indent="0" marL="0">
              <a:lnSpc>
                <a:spcPts val="1740"/>
              </a:lnSpc>
              <a:buNone/>
            </a:pPr>
            <a:r>
              <a:rPr lang="en-US" sz="1200" dirty="0">
                <a:solidFill>
                  <a:srgbClr val="645C50"/>
                </a:solidFill>
                <a:latin typeface="Nunito" pitchFamily="34" charset="0"/>
                <a:ea typeface="Nunito" pitchFamily="34" charset="-122"/>
                <a:cs typeface="Nunito" pitchFamily="34" charset="-120"/>
              </a:rPr>
              <a:t>Cho đoạn văn C là chuỗi ký tự và câu hỏi Q, tìm cặp chỉ số ký tự (s, e):</a:t>
            </a:r>
            <a:endParaRPr lang="en-US" sz="1200" dirty="0"/>
          </a:p>
        </p:txBody>
      </p:sp>
      <p:sp>
        <p:nvSpPr>
          <p:cNvPr id="7" name="Text 5"/>
          <p:cNvSpPr txBox="1"/>
          <p:nvPr/>
        </p:nvSpPr>
        <p:spPr>
          <a:xfrm>
            <a:off x="978408" y="2340864"/>
            <a:ext cx="5394960" cy="292608"/>
          </a:xfrm>
          <a:prstGeom prst="rect">
            <a:avLst/>
          </a:prstGeom>
          <a:noFill/>
          <a:ln/>
        </p:spPr>
        <p:txBody>
          <a:bodyPr wrap="square" lIns="0" tIns="0" rIns="0" bIns="0" rtlCol="0" anchor="ctr"/>
          <a:lstStyle/>
          <a:p>
            <a:pPr algn="l" indent="0" marL="0">
              <a:buNone/>
            </a:pPr>
            <a:r>
              <a:rPr lang="en-US" sz="1300" b="1" dirty="0">
                <a:solidFill>
                  <a:srgbClr val="8C491A"/>
                </a:solidFill>
                <a:latin typeface="Courier New" pitchFamily="34" charset="0"/>
                <a:ea typeface="Courier New" pitchFamily="34" charset="-122"/>
                <a:cs typeface="Courier New" pitchFamily="34" charset="-120"/>
              </a:rPr>
              <a:t>0 ≤ s &lt; e ≤ |C|      sao cho      C[s:e]  trả lời  Q</a:t>
            </a:r>
            <a:endParaRPr lang="en-US" sz="1300" dirty="0"/>
          </a:p>
        </p:txBody>
      </p:sp>
      <p:sp>
        <p:nvSpPr>
          <p:cNvPr id="8" name="Text 6"/>
          <p:cNvSpPr txBox="1"/>
          <p:nvPr/>
        </p:nvSpPr>
        <p:spPr>
          <a:xfrm>
            <a:off x="978408" y="2670048"/>
            <a:ext cx="5394960" cy="274320"/>
          </a:xfrm>
          <a:prstGeom prst="rect">
            <a:avLst/>
          </a:prstGeom>
          <a:noFill/>
          <a:ln/>
        </p:spPr>
        <p:txBody>
          <a:bodyPr wrap="square" lIns="0" tIns="0" rIns="0" bIns="0" rtlCol="0" anchor="t"/>
          <a:lstStyle/>
          <a:p>
            <a:pPr algn="l" indent="0" marL="0">
              <a:lnSpc>
                <a:spcPts val="1740"/>
              </a:lnSpc>
              <a:buNone/>
            </a:pPr>
            <a:r>
              <a:rPr lang="en-US" sz="1200" i="1" dirty="0">
                <a:solidFill>
                  <a:srgbClr val="645C50"/>
                </a:solidFill>
                <a:latin typeface="Nunito" pitchFamily="34" charset="0"/>
                <a:ea typeface="Nunito" pitchFamily="34" charset="-122"/>
                <a:cs typeface="Nunito" pitchFamily="34" charset="-120"/>
              </a:rPr>
              <a:t>hoặc trả về chuỗi rỗng khi C không chứa câu trả lời.</a:t>
            </a:r>
            <a:endParaRPr lang="en-US" sz="1200" dirty="0"/>
          </a:p>
        </p:txBody>
      </p:sp>
      <p:sp>
        <p:nvSpPr>
          <p:cNvPr id="9" name="Shape 7"/>
          <p:cNvSpPr/>
          <p:nvPr/>
        </p:nvSpPr>
        <p:spPr>
          <a:xfrm>
            <a:off x="685800" y="3108960"/>
            <a:ext cx="5989320" cy="2148840"/>
          </a:xfrm>
          <a:prstGeom prst="roundRect">
            <a:avLst>
              <a:gd name="adj" fmla="val 6809"/>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10" name="Text 8"/>
          <p:cNvSpPr txBox="1"/>
          <p:nvPr/>
        </p:nvSpPr>
        <p:spPr>
          <a:xfrm>
            <a:off x="960120" y="3291840"/>
            <a:ext cx="5394960" cy="219456"/>
          </a:xfrm>
          <a:prstGeom prst="rect">
            <a:avLst/>
          </a:prstGeom>
          <a:noFill/>
          <a:ln/>
        </p:spPr>
        <p:txBody>
          <a:bodyPr wrap="square" lIns="0" tIns="0" rIns="0" bIns="0" rtlCol="0" anchor="ctr"/>
          <a:lstStyle/>
          <a:p>
            <a:pPr indent="0" marL="0">
              <a:buNone/>
            </a:pPr>
            <a:r>
              <a:rPr lang="en-US" sz="950" b="1" spc="160" kern="0" dirty="0">
                <a:solidFill>
                  <a:srgbClr val="645C50"/>
                </a:solidFill>
                <a:latin typeface="Nunito" pitchFamily="34" charset="0"/>
                <a:ea typeface="Nunito" pitchFamily="34" charset="-122"/>
                <a:cs typeface="Nunito" pitchFamily="34" charset="-120"/>
              </a:rPr>
              <a:t>VÍ DỤ</a:t>
            </a:r>
            <a:endParaRPr lang="en-US" sz="950" dirty="0"/>
          </a:p>
        </p:txBody>
      </p:sp>
      <p:sp>
        <p:nvSpPr>
          <p:cNvPr id="11" name="Text 9"/>
          <p:cNvSpPr txBox="1"/>
          <p:nvPr/>
        </p:nvSpPr>
        <p:spPr>
          <a:xfrm>
            <a:off x="960120" y="3529584"/>
            <a:ext cx="5394960" cy="685800"/>
          </a:xfrm>
          <a:prstGeom prst="rect">
            <a:avLst/>
          </a:prstGeom>
          <a:noFill/>
          <a:ln/>
        </p:spPr>
        <p:txBody>
          <a:bodyPr wrap="square" lIns="0" tIns="0" rIns="0" bIns="0" rtlCol="0" anchor="ctr"/>
          <a:lstStyle/>
          <a:p>
            <a:pPr indent="0" marL="0">
              <a:lnSpc>
                <a:spcPts val="1900"/>
              </a:lnSpc>
              <a:buNone/>
            </a:pPr>
            <a:r>
              <a:rPr lang="en-US" sz="1300" dirty="0">
                <a:solidFill>
                  <a:srgbClr val="201E1D"/>
                </a:solidFill>
                <a:latin typeface="Nunito" pitchFamily="34" charset="0"/>
                <a:ea typeface="Nunito" pitchFamily="34" charset="-122"/>
                <a:cs typeface="Nunito" pitchFamily="34" charset="-120"/>
              </a:rPr>
              <a:t>Hà Nội là thủ đô của Việt Nam. Hà Nội được UNESCO công nhận là Thành phố vì hoà bình vào </a:t>
            </a:r>
            <a:pPr indent="0" marL="0">
              <a:lnSpc>
                <a:spcPts val="1900"/>
              </a:lnSpc>
              <a:buNone/>
            </a:pPr>
            <a:r>
              <a:rPr lang="en-US" sz="1300" b="1" dirty="0">
                <a:solidFill>
                  <a:srgbClr val="8C491A"/>
                </a:solidFill>
                <a:highlight>
                  <a:srgbClr val="FFF2EB"/>
                </a:highlight>
                <a:latin typeface="Nunito" pitchFamily="34" charset="0"/>
                <a:ea typeface="Nunito" pitchFamily="34" charset="-122"/>
                <a:cs typeface="Nunito" pitchFamily="34" charset="-120"/>
              </a:rPr>
              <a:t>năm 1999</a:t>
            </a:r>
            <a:pPr indent="0" marL="0">
              <a:lnSpc>
                <a:spcPts val="1900"/>
              </a:lnSpc>
              <a:buNone/>
            </a:pPr>
            <a:r>
              <a:rPr lang="en-US" sz="1300" dirty="0">
                <a:solidFill>
                  <a:srgbClr val="201E1D"/>
                </a:solidFill>
                <a:latin typeface="Nunito" pitchFamily="34" charset="0"/>
                <a:ea typeface="Nunito" pitchFamily="34" charset="-122"/>
                <a:cs typeface="Nunito" pitchFamily="34" charset="-120"/>
              </a:rPr>
              <a:t>.</a:t>
            </a:r>
            <a:endParaRPr lang="en-US" sz="1300" dirty="0"/>
          </a:p>
        </p:txBody>
      </p:sp>
      <p:sp>
        <p:nvSpPr>
          <p:cNvPr id="12" name="Text 10"/>
          <p:cNvSpPr txBox="1"/>
          <p:nvPr/>
        </p:nvSpPr>
        <p:spPr>
          <a:xfrm>
            <a:off x="960120" y="4261104"/>
            <a:ext cx="5394960" cy="219456"/>
          </a:xfrm>
          <a:prstGeom prst="rect">
            <a:avLst/>
          </a:prstGeom>
          <a:noFill/>
          <a:ln/>
        </p:spPr>
        <p:txBody>
          <a:bodyPr wrap="square" lIns="0" tIns="0" rIns="0" bIns="0" rtlCol="0" anchor="ctr"/>
          <a:lstStyle/>
          <a:p>
            <a:pPr indent="0" marL="0">
              <a:buNone/>
            </a:pPr>
            <a:r>
              <a:rPr lang="en-US" sz="950" b="1" spc="160" kern="0" dirty="0">
                <a:solidFill>
                  <a:srgbClr val="645C50"/>
                </a:solidFill>
                <a:latin typeface="Nunito" pitchFamily="34" charset="0"/>
                <a:ea typeface="Nunito" pitchFamily="34" charset="-122"/>
                <a:cs typeface="Nunito" pitchFamily="34" charset="-120"/>
              </a:rPr>
              <a:t>CÂU HỎI</a:t>
            </a:r>
            <a:endParaRPr lang="en-US" sz="950" dirty="0"/>
          </a:p>
        </p:txBody>
      </p:sp>
      <p:sp>
        <p:nvSpPr>
          <p:cNvPr id="13" name="Text 11"/>
          <p:cNvSpPr txBox="1"/>
          <p:nvPr/>
        </p:nvSpPr>
        <p:spPr>
          <a:xfrm>
            <a:off x="960120" y="4480560"/>
            <a:ext cx="5394960" cy="274320"/>
          </a:xfrm>
          <a:prstGeom prst="rect">
            <a:avLst/>
          </a:prstGeom>
          <a:noFill/>
          <a:ln/>
        </p:spPr>
        <p:txBody>
          <a:bodyPr wrap="square" lIns="0" tIns="0" rIns="0" bIns="0" rtlCol="0" anchor="t"/>
          <a:lstStyle/>
          <a:p>
            <a:pPr algn="l" indent="0" marL="0">
              <a:lnSpc>
                <a:spcPts val="1885"/>
              </a:lnSpc>
              <a:buNone/>
            </a:pPr>
            <a:r>
              <a:rPr lang="en-US" sz="1300" dirty="0">
                <a:solidFill>
                  <a:srgbClr val="201E1D"/>
                </a:solidFill>
                <a:latin typeface="Nunito" pitchFamily="34" charset="0"/>
                <a:ea typeface="Nunito" pitchFamily="34" charset="-122"/>
                <a:cs typeface="Nunito" pitchFamily="34" charset="-120"/>
              </a:rPr>
              <a:t>Hà Nội được UNESCO công nhận vào năm nào?</a:t>
            </a:r>
            <a:endParaRPr lang="en-US" sz="1300" dirty="0"/>
          </a:p>
        </p:txBody>
      </p:sp>
      <p:sp>
        <p:nvSpPr>
          <p:cNvPr id="14" name="Shape 12"/>
          <p:cNvSpPr/>
          <p:nvPr/>
        </p:nvSpPr>
        <p:spPr>
          <a:xfrm>
            <a:off x="960120" y="4773168"/>
            <a:ext cx="2286000" cy="411480"/>
          </a:xfrm>
          <a:prstGeom prst="roundRect">
            <a:avLst>
              <a:gd name="adj" fmla="val 48889"/>
            </a:avLst>
          </a:prstGeom>
          <a:solidFill>
            <a:srgbClr val="F0FAE1"/>
          </a:solidFill>
          <a:ln w="12700">
            <a:solidFill>
              <a:srgbClr val="F0FAE1"/>
            </a:solidFill>
            <a:prstDash val="solid"/>
          </a:ln>
        </p:spPr>
      </p:sp>
      <p:sp>
        <p:nvSpPr>
          <p:cNvPr id="15" name="Text 13"/>
          <p:cNvSpPr txBox="1"/>
          <p:nvPr/>
        </p:nvSpPr>
        <p:spPr>
          <a:xfrm>
            <a:off x="1097280" y="4773168"/>
            <a:ext cx="2103120" cy="411480"/>
          </a:xfrm>
          <a:prstGeom prst="rect">
            <a:avLst/>
          </a:prstGeom>
          <a:noFill/>
          <a:ln/>
        </p:spPr>
        <p:txBody>
          <a:bodyPr wrap="square" lIns="0" tIns="0" rIns="0" bIns="0" rtlCol="0" anchor="ctr"/>
          <a:lstStyle/>
          <a:p>
            <a:pPr indent="0" marL="0">
              <a:buNone/>
            </a:pPr>
            <a:r>
              <a:rPr lang="en-US" sz="1300" b="1" dirty="0">
                <a:solidFill>
                  <a:srgbClr val="3D472B"/>
                </a:solidFill>
                <a:latin typeface="Nunito" pitchFamily="34" charset="0"/>
                <a:ea typeface="Nunito" pitchFamily="34" charset="-122"/>
                <a:cs typeface="Nunito" pitchFamily="34" charset="-120"/>
              </a:rPr>
              <a:t>Đáp án:  </a:t>
            </a:r>
            <a:pPr indent="0" marL="0">
              <a:buNone/>
            </a:pPr>
            <a:r>
              <a:rPr lang="en-US" sz="1300" dirty="0">
                <a:solidFill>
                  <a:srgbClr val="3D472B"/>
                </a:solidFill>
                <a:latin typeface="Nunito" pitchFamily="34" charset="0"/>
                <a:ea typeface="Nunito" pitchFamily="34" charset="-122"/>
                <a:cs typeface="Nunito" pitchFamily="34" charset="-120"/>
              </a:rPr>
              <a:t>năm 1999</a:t>
            </a:r>
            <a:endParaRPr lang="en-US" sz="1300" dirty="0"/>
          </a:p>
        </p:txBody>
      </p:sp>
      <p:sp>
        <p:nvSpPr>
          <p:cNvPr id="16" name="Text 14"/>
          <p:cNvSpPr txBox="1"/>
          <p:nvPr/>
        </p:nvSpPr>
        <p:spPr>
          <a:xfrm>
            <a:off x="3291840" y="4791456"/>
            <a:ext cx="3291840" cy="365760"/>
          </a:xfrm>
          <a:prstGeom prst="rect">
            <a:avLst/>
          </a:prstGeom>
          <a:noFill/>
          <a:ln/>
        </p:spPr>
        <p:txBody>
          <a:bodyPr wrap="square" lIns="0" tIns="0" rIns="0" bIns="0" rtlCol="0" anchor="ctr"/>
          <a:lstStyle/>
          <a:p>
            <a:pPr algn="l" indent="0" marL="0">
              <a:lnSpc>
                <a:spcPts val="1813"/>
              </a:lnSpc>
              <a:buNone/>
            </a:pPr>
            <a:r>
              <a:rPr lang="en-US" sz="1250" b="1" dirty="0">
                <a:solidFill>
                  <a:srgbClr val="8C491A"/>
                </a:solidFill>
                <a:latin typeface="Nunito" pitchFamily="34" charset="0"/>
                <a:ea typeface="Nunito" pitchFamily="34" charset="-122"/>
                <a:cs typeface="Nunito" pitchFamily="34" charset="-120"/>
              </a:rPr>
              <a:t>Mô hình không sinh chữ mới — nó chỉ ra vị trí.</a:t>
            </a:r>
            <a:endParaRPr lang="en-US" sz="1250" dirty="0"/>
          </a:p>
        </p:txBody>
      </p:sp>
      <p:sp>
        <p:nvSpPr>
          <p:cNvPr id="17" name="Shape 15"/>
          <p:cNvSpPr/>
          <p:nvPr/>
        </p:nvSpPr>
        <p:spPr>
          <a:xfrm>
            <a:off x="6858000" y="1627632"/>
            <a:ext cx="4645152" cy="3630168"/>
          </a:xfrm>
          <a:prstGeom prst="roundRect">
            <a:avLst>
              <a:gd name="adj" fmla="val 4030"/>
            </a:avLst>
          </a:prstGeom>
          <a:solidFill>
            <a:srgbClr val="FFF2EB"/>
          </a:solidFill>
          <a:ln w="12700">
            <a:solidFill>
              <a:srgbClr val="FFF2EB"/>
            </a:solidFill>
            <a:prstDash val="solid"/>
          </a:ln>
          <a:effectLst>
            <a:outerShdw sx="100000" sy="100000" kx="0" ky="0" algn="bl" rotWithShape="0" blurRad="101600" dist="25400" dir="5400000">
              <a:srgbClr val="2E2B25">
                <a:alpha val="12000"/>
              </a:srgbClr>
            </a:outerShdw>
          </a:effectLst>
        </p:spPr>
      </p:sp>
      <p:sp>
        <p:nvSpPr>
          <p:cNvPr id="18" name="Text 16"/>
          <p:cNvSpPr txBox="1"/>
          <p:nvPr/>
        </p:nvSpPr>
        <p:spPr>
          <a:xfrm>
            <a:off x="7150608" y="1810512"/>
            <a:ext cx="4114800" cy="219456"/>
          </a:xfrm>
          <a:prstGeom prst="rect">
            <a:avLst/>
          </a:prstGeom>
          <a:noFill/>
          <a:ln/>
        </p:spPr>
        <p:txBody>
          <a:bodyPr wrap="square" lIns="0" tIns="0" rIns="0" bIns="0" rtlCol="0" anchor="ctr"/>
          <a:lstStyle/>
          <a:p>
            <a:pPr indent="0" marL="0">
              <a:buNone/>
            </a:pPr>
            <a:r>
              <a:rPr lang="en-US" sz="950" b="1" spc="160" kern="0" dirty="0">
                <a:solidFill>
                  <a:srgbClr val="8C491A"/>
                </a:solidFill>
                <a:latin typeface="Nunito" pitchFamily="34" charset="0"/>
                <a:ea typeface="Nunito" pitchFamily="34" charset="-122"/>
                <a:cs typeface="Nunito" pitchFamily="34" charset="-120"/>
              </a:rPr>
              <a:t>ĐẶC TẢ ĐẦU VÀO / ĐẦU RA</a:t>
            </a:r>
            <a:endParaRPr lang="en-US" sz="950" dirty="0"/>
          </a:p>
        </p:txBody>
      </p:sp>
      <p:sp>
        <p:nvSpPr>
          <p:cNvPr id="19" name="Text 17"/>
          <p:cNvSpPr txBox="1"/>
          <p:nvPr/>
        </p:nvSpPr>
        <p:spPr>
          <a:xfrm>
            <a:off x="7150608" y="2103120"/>
            <a:ext cx="411480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ĐẦU VÀO</a:t>
            </a:r>
            <a:endParaRPr lang="en-US" sz="950" dirty="0"/>
          </a:p>
        </p:txBody>
      </p:sp>
      <p:sp>
        <p:nvSpPr>
          <p:cNvPr id="20" name="Text 18"/>
          <p:cNvSpPr txBox="1"/>
          <p:nvPr/>
        </p:nvSpPr>
        <p:spPr>
          <a:xfrm>
            <a:off x="7150608" y="2304288"/>
            <a:ext cx="4114800" cy="365760"/>
          </a:xfrm>
          <a:prstGeom prst="rect">
            <a:avLst/>
          </a:prstGeom>
          <a:noFill/>
          <a:ln/>
        </p:spPr>
        <p:txBody>
          <a:bodyPr wrap="square" lIns="0" tIns="0" rIns="0" bIns="0" rtlCol="0" anchor="t"/>
          <a:lstStyle/>
          <a:p>
            <a:pPr algn="l" indent="0" marL="0">
              <a:lnSpc>
                <a:spcPts val="1595"/>
              </a:lnSpc>
              <a:buNone/>
            </a:pPr>
            <a:r>
              <a:rPr lang="en-US" sz="1100" dirty="0">
                <a:solidFill>
                  <a:srgbClr val="8C491A"/>
                </a:solidFill>
                <a:latin typeface="Nunito" pitchFamily="34" charset="0"/>
                <a:ea typeface="Nunito" pitchFamily="34" charset="-122"/>
                <a:cs typeface="Nunito" pitchFamily="34" charset="-120"/>
              </a:rPr>
              <a:t>context: đoạn văn Wikipedia tiếng Việt · question: câu hỏi tự nhiên</a:t>
            </a:r>
            <a:endParaRPr lang="en-US" sz="1100" dirty="0"/>
          </a:p>
        </p:txBody>
      </p:sp>
      <p:sp>
        <p:nvSpPr>
          <p:cNvPr id="21" name="Text 19"/>
          <p:cNvSpPr txBox="1"/>
          <p:nvPr/>
        </p:nvSpPr>
        <p:spPr>
          <a:xfrm>
            <a:off x="7150608" y="2651760"/>
            <a:ext cx="411480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ĐẦU RA</a:t>
            </a:r>
            <a:endParaRPr lang="en-US" sz="950" dirty="0"/>
          </a:p>
        </p:txBody>
      </p:sp>
      <p:sp>
        <p:nvSpPr>
          <p:cNvPr id="22" name="Text 20"/>
          <p:cNvSpPr txBox="1"/>
          <p:nvPr/>
        </p:nvSpPr>
        <p:spPr>
          <a:xfrm>
            <a:off x="7150608" y="2852928"/>
            <a:ext cx="4114800" cy="365760"/>
          </a:xfrm>
          <a:prstGeom prst="rect">
            <a:avLst/>
          </a:prstGeom>
          <a:noFill/>
          <a:ln/>
        </p:spPr>
        <p:txBody>
          <a:bodyPr wrap="square" lIns="0" tIns="0" rIns="0" bIns="0" rtlCol="0" anchor="t"/>
          <a:lstStyle/>
          <a:p>
            <a:pPr algn="l" indent="0" marL="0">
              <a:lnSpc>
                <a:spcPts val="1595"/>
              </a:lnSpc>
              <a:buNone/>
            </a:pPr>
            <a:r>
              <a:rPr lang="en-US" sz="1100" dirty="0">
                <a:solidFill>
                  <a:srgbClr val="8C491A"/>
                </a:solidFill>
                <a:latin typeface="Nunito" pitchFamily="34" charset="0"/>
                <a:ea typeface="Nunito" pitchFamily="34" charset="-122"/>
                <a:cs typeface="Nunito" pitchFamily="34" charset="-120"/>
              </a:rPr>
              <a:t>answer: một chuỗi CON của context, hoặc chuỗi rỗng khi không có đáp án</a:t>
            </a:r>
            <a:endParaRPr lang="en-US" sz="1100" dirty="0"/>
          </a:p>
        </p:txBody>
      </p:sp>
      <p:sp>
        <p:nvSpPr>
          <p:cNvPr id="23" name="Text 21"/>
          <p:cNvSpPr txBox="1"/>
          <p:nvPr/>
        </p:nvSpPr>
        <p:spPr>
          <a:xfrm>
            <a:off x="7150608" y="3200400"/>
            <a:ext cx="411480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LOẠI BÀI TOÁN</a:t>
            </a:r>
            <a:endParaRPr lang="en-US" sz="950" dirty="0"/>
          </a:p>
        </p:txBody>
      </p:sp>
      <p:sp>
        <p:nvSpPr>
          <p:cNvPr id="24" name="Text 22"/>
          <p:cNvSpPr txBox="1"/>
          <p:nvPr/>
        </p:nvSpPr>
        <p:spPr>
          <a:xfrm>
            <a:off x="7150608" y="3401568"/>
            <a:ext cx="4114800" cy="365760"/>
          </a:xfrm>
          <a:prstGeom prst="rect">
            <a:avLst/>
          </a:prstGeom>
          <a:noFill/>
          <a:ln/>
        </p:spPr>
        <p:txBody>
          <a:bodyPr wrap="square" lIns="0" tIns="0" rIns="0" bIns="0" rtlCol="0" anchor="t"/>
          <a:lstStyle/>
          <a:p>
            <a:pPr algn="l" indent="0" marL="0">
              <a:lnSpc>
                <a:spcPts val="1595"/>
              </a:lnSpc>
              <a:buNone/>
            </a:pPr>
            <a:r>
              <a:rPr lang="en-US" sz="1100" dirty="0">
                <a:solidFill>
                  <a:srgbClr val="8C491A"/>
                </a:solidFill>
                <a:latin typeface="Nunito" pitchFamily="34" charset="0"/>
                <a:ea typeface="Nunito" pitchFamily="34" charset="-122"/>
                <a:cs typeface="Nunito" pitchFamily="34" charset="-120"/>
              </a:rPr>
              <a:t>trích xuất (extractive) — không sinh văn bản</a:t>
            </a:r>
            <a:endParaRPr lang="en-US" sz="1100" dirty="0"/>
          </a:p>
        </p:txBody>
      </p:sp>
      <p:sp>
        <p:nvSpPr>
          <p:cNvPr id="25" name="Text 23"/>
          <p:cNvSpPr txBox="1"/>
          <p:nvPr/>
        </p:nvSpPr>
        <p:spPr>
          <a:xfrm>
            <a:off x="7150608" y="3749040"/>
            <a:ext cx="411480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BỘ DỮ LIỆU</a:t>
            </a:r>
            <a:endParaRPr lang="en-US" sz="950" dirty="0"/>
          </a:p>
        </p:txBody>
      </p:sp>
      <p:sp>
        <p:nvSpPr>
          <p:cNvPr id="26" name="Text 24"/>
          <p:cNvSpPr txBox="1"/>
          <p:nvPr/>
        </p:nvSpPr>
        <p:spPr>
          <a:xfrm>
            <a:off x="7150608" y="3950208"/>
            <a:ext cx="4114800" cy="365760"/>
          </a:xfrm>
          <a:prstGeom prst="rect">
            <a:avLst/>
          </a:prstGeom>
          <a:noFill/>
          <a:ln/>
        </p:spPr>
        <p:txBody>
          <a:bodyPr wrap="square" lIns="0" tIns="0" rIns="0" bIns="0" rtlCol="0" anchor="t"/>
          <a:lstStyle/>
          <a:p>
            <a:pPr algn="l" indent="0" marL="0">
              <a:lnSpc>
                <a:spcPts val="1595"/>
              </a:lnSpc>
              <a:buNone/>
            </a:pPr>
            <a:r>
              <a:rPr lang="en-US" sz="1100" dirty="0">
                <a:solidFill>
                  <a:srgbClr val="8C491A"/>
                </a:solidFill>
                <a:latin typeface="Nunito" pitchFamily="34" charset="0"/>
                <a:ea typeface="Nunito" pitchFamily="34" charset="-122"/>
                <a:cs typeface="Nunito" pitchFamily="34" charset="-120"/>
              </a:rPr>
              <a:t>UIT-ViQuAD 2.0, định dạng SQuAD-2.0</a:t>
            </a:r>
            <a:endParaRPr lang="en-US" sz="1100" dirty="0"/>
          </a:p>
        </p:txBody>
      </p:sp>
      <p:sp>
        <p:nvSpPr>
          <p:cNvPr id="27" name="Text 25"/>
          <p:cNvSpPr txBox="1"/>
          <p:nvPr/>
        </p:nvSpPr>
        <p:spPr>
          <a:xfrm>
            <a:off x="7150608" y="4297680"/>
            <a:ext cx="411480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THANG ĐO</a:t>
            </a:r>
            <a:endParaRPr lang="en-US" sz="950" dirty="0"/>
          </a:p>
        </p:txBody>
      </p:sp>
      <p:sp>
        <p:nvSpPr>
          <p:cNvPr id="28" name="Text 26"/>
          <p:cNvSpPr txBox="1"/>
          <p:nvPr/>
        </p:nvSpPr>
        <p:spPr>
          <a:xfrm>
            <a:off x="7150608" y="4498848"/>
            <a:ext cx="4114800" cy="365760"/>
          </a:xfrm>
          <a:prstGeom prst="rect">
            <a:avLst/>
          </a:prstGeom>
          <a:noFill/>
          <a:ln/>
        </p:spPr>
        <p:txBody>
          <a:bodyPr wrap="square" lIns="0" tIns="0" rIns="0" bIns="0" rtlCol="0" anchor="t"/>
          <a:lstStyle/>
          <a:p>
            <a:pPr algn="l" indent="0" marL="0">
              <a:lnSpc>
                <a:spcPts val="1595"/>
              </a:lnSpc>
              <a:buNone/>
            </a:pPr>
            <a:r>
              <a:rPr lang="en-US" sz="1100" dirty="0">
                <a:solidFill>
                  <a:srgbClr val="8C491A"/>
                </a:solidFill>
                <a:latin typeface="Nunito" pitchFamily="34" charset="0"/>
                <a:ea typeface="Nunito" pitchFamily="34" charset="-122"/>
                <a:cs typeface="Nunito" pitchFamily="34" charset="-120"/>
              </a:rPr>
              <a:t>Exact Match và F1 trên token (âm tiết)</a:t>
            </a:r>
            <a:endParaRPr lang="en-US" sz="1100" dirty="0"/>
          </a:p>
        </p:txBody>
      </p:sp>
      <p:sp>
        <p:nvSpPr>
          <p:cNvPr id="29" name="Text 27"/>
          <p:cNvSpPr txBox="1"/>
          <p:nvPr/>
        </p:nvSpPr>
        <p:spPr>
          <a:xfrm>
            <a:off x="7150608" y="4846320"/>
            <a:ext cx="4114800" cy="310896"/>
          </a:xfrm>
          <a:prstGeom prst="rect">
            <a:avLst/>
          </a:prstGeom>
          <a:noFill/>
          <a:ln/>
        </p:spPr>
        <p:txBody>
          <a:bodyPr wrap="square" lIns="0" tIns="0" rIns="0" bIns="0" rtlCol="0" anchor="ctr"/>
          <a:lstStyle/>
          <a:p>
            <a:pPr algn="l" indent="0" marL="0">
              <a:buNone/>
            </a:pPr>
            <a:r>
              <a:rPr lang="en-US" sz="1400" b="1" dirty="0">
                <a:solidFill>
                  <a:srgbClr val="8C491A"/>
                </a:solidFill>
                <a:latin typeface="Courier New" pitchFamily="34" charset="0"/>
                <a:ea typeface="Courier New" pitchFamily="34" charset="-122"/>
                <a:cs typeface="Courier New" pitchFamily="34" charset="-120"/>
              </a:rPr>
              <a:t>predict(ctx, q)  ⊂  ctx</a:t>
            </a:r>
            <a:endParaRPr lang="en-US" sz="1400" dirty="0"/>
          </a:p>
        </p:txBody>
      </p:sp>
      <p:sp>
        <p:nvSpPr>
          <p:cNvPr id="30" name="Shape 28"/>
          <p:cNvSpPr/>
          <p:nvPr/>
        </p:nvSpPr>
        <p:spPr>
          <a:xfrm>
            <a:off x="685800" y="5394960"/>
            <a:ext cx="10820095" cy="822960"/>
          </a:xfrm>
          <a:prstGeom prst="roundRect">
            <a:avLst>
              <a:gd name="adj" fmla="val 17778"/>
            </a:avLst>
          </a:prstGeom>
          <a:solidFill>
            <a:srgbClr val="F0FAE1"/>
          </a:solidFill>
          <a:ln w="12700">
            <a:solidFill>
              <a:srgbClr val="F0FAE1"/>
            </a:solidFill>
            <a:prstDash val="solid"/>
          </a:ln>
        </p:spPr>
      </p:sp>
      <p:sp>
        <p:nvSpPr>
          <p:cNvPr id="31" name="Text 29"/>
          <p:cNvSpPr txBox="1"/>
          <p:nvPr/>
        </p:nvSpPr>
        <p:spPr>
          <a:xfrm>
            <a:off x="1005840" y="5513832"/>
            <a:ext cx="10180015" cy="310896"/>
          </a:xfrm>
          <a:prstGeom prst="rect">
            <a:avLst/>
          </a:prstGeom>
          <a:noFill/>
          <a:ln/>
        </p:spPr>
        <p:txBody>
          <a:bodyPr wrap="square" lIns="0" tIns="0" rIns="0" bIns="0" rtlCol="0" anchor="t"/>
          <a:lstStyle/>
          <a:p>
            <a:pPr algn="l" indent="0" marL="0">
              <a:lnSpc>
                <a:spcPts val="2103"/>
              </a:lnSpc>
              <a:buNone/>
            </a:pPr>
            <a:r>
              <a:rPr lang="en-US" sz="1450" b="1" dirty="0">
                <a:solidFill>
                  <a:srgbClr val="3D472B"/>
                </a:solidFill>
                <a:latin typeface="Nunito" pitchFamily="34" charset="0"/>
                <a:ea typeface="Nunito" pitchFamily="34" charset="-122"/>
                <a:cs typeface="Nunito" pitchFamily="34" charset="-120"/>
              </a:rPr>
              <a:t>Tính trích xuất không phải chi tiết phụ — nó cho một bất biến kiểm được bằng máy.</a:t>
            </a:r>
            <a:endParaRPr lang="en-US" sz="1450" dirty="0"/>
          </a:p>
        </p:txBody>
      </p:sp>
      <p:sp>
        <p:nvSpPr>
          <p:cNvPr id="32" name="Text 30"/>
          <p:cNvSpPr txBox="1"/>
          <p:nvPr/>
        </p:nvSpPr>
        <p:spPr>
          <a:xfrm>
            <a:off x="1005840" y="5797296"/>
            <a:ext cx="10180015" cy="365760"/>
          </a:xfrm>
          <a:prstGeom prst="rect">
            <a:avLst/>
          </a:prstGeom>
          <a:noFill/>
          <a:ln/>
        </p:spPr>
        <p:txBody>
          <a:bodyPr wrap="square" lIns="0" tIns="0" rIns="0" bIns="0" rtlCol="0" anchor="t"/>
          <a:lstStyle/>
          <a:p>
            <a:pPr algn="l" indent="0" marL="0">
              <a:lnSpc>
                <a:spcPts val="1668"/>
              </a:lnSpc>
              <a:buNone/>
            </a:pPr>
            <a:r>
              <a:rPr lang="en-US" sz="1150" dirty="0">
                <a:solidFill>
                  <a:srgbClr val="3D472B"/>
                </a:solidFill>
                <a:latin typeface="Nunito" pitchFamily="34" charset="0"/>
                <a:ea typeface="Nunito" pitchFamily="34" charset="-122"/>
                <a:cs typeface="Nunito" pitchFamily="34" charset="-120"/>
              </a:rPr>
              <a:t>Với mọi mô hình và mọi đầu vào, đầu ra phải là chuỗi con của context. Bất biến này được test tự động và bắt được cả lỗi lệch offset của tokenizer lẫn trường hợp mô hình “bịa” chữ không có trong văn bản.</a:t>
            </a:r>
            <a:endParaRPr lang="en-US" sz="1150" dirty="0"/>
          </a:p>
        </p:txBody>
      </p:sp>
      <p:sp>
        <p:nvSpPr>
          <p:cNvPr id="33" name="Text 31"/>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1 · Tổng quan · Phát biểu bài toán</a:t>
            </a:r>
            <a:endParaRPr lang="en-US" sz="1000" dirty="0"/>
          </a:p>
        </p:txBody>
      </p:sp>
      <p:sp>
        <p:nvSpPr>
          <p:cNvPr id="34" name="Text 32"/>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1 · TỔNG QUAN</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808"/>
              </a:lnSpc>
              <a:buNone/>
            </a:pPr>
            <a:r>
              <a:rPr lang="en-US" sz="3400" b="1" dirty="0">
                <a:solidFill>
                  <a:srgbClr val="201E1D"/>
                </a:solidFill>
                <a:latin typeface="Baloo 2" pitchFamily="34" charset="0"/>
                <a:ea typeface="Baloo 2" pitchFamily="34" charset="-122"/>
                <a:cs typeface="Baloo 2" pitchFamily="34" charset="-120"/>
              </a:rPr>
              <a:t>Đóng góp của nhóm</a:t>
            </a:r>
            <a:endParaRPr lang="en-US" sz="3400" dirty="0"/>
          </a:p>
        </p:txBody>
      </p:sp>
      <p:sp>
        <p:nvSpPr>
          <p:cNvPr id="4" name="Shape 2"/>
          <p:cNvSpPr/>
          <p:nvPr/>
        </p:nvSpPr>
        <p:spPr>
          <a:xfrm>
            <a:off x="685800" y="1664208"/>
            <a:ext cx="5285232" cy="1591056"/>
          </a:xfrm>
          <a:prstGeom prst="roundRect">
            <a:avLst>
              <a:gd name="adj" fmla="val 9195"/>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5" name="Shape 3"/>
          <p:cNvSpPr/>
          <p:nvPr/>
        </p:nvSpPr>
        <p:spPr>
          <a:xfrm>
            <a:off x="978408" y="1938528"/>
            <a:ext cx="329184" cy="329184"/>
          </a:xfrm>
          <a:prstGeom prst="ellipse">
            <a:avLst/>
          </a:prstGeom>
          <a:solidFill>
            <a:srgbClr val="C67139"/>
          </a:solidFill>
          <a:ln w="12700">
            <a:solidFill>
              <a:srgbClr val="C67139"/>
            </a:solidFill>
            <a:prstDash val="solid"/>
          </a:ln>
        </p:spPr>
      </p:sp>
      <p:sp>
        <p:nvSpPr>
          <p:cNvPr id="6" name="Text 4"/>
          <p:cNvSpPr txBox="1"/>
          <p:nvPr/>
        </p:nvSpPr>
        <p:spPr>
          <a:xfrm>
            <a:off x="978408" y="193852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Baloo 2" pitchFamily="34" charset="0"/>
                <a:ea typeface="Baloo 2" pitchFamily="34" charset="-122"/>
                <a:cs typeface="Baloo 2" pitchFamily="34" charset="-120"/>
              </a:rPr>
              <a:t>1</a:t>
            </a:r>
            <a:endParaRPr lang="en-US" sz="1400" dirty="0"/>
          </a:p>
        </p:txBody>
      </p:sp>
      <p:sp>
        <p:nvSpPr>
          <p:cNvPr id="7" name="Text 5"/>
          <p:cNvSpPr txBox="1"/>
          <p:nvPr/>
        </p:nvSpPr>
        <p:spPr>
          <a:xfrm>
            <a:off x="1435608" y="1920240"/>
            <a:ext cx="4206240" cy="365760"/>
          </a:xfrm>
          <a:prstGeom prst="rect">
            <a:avLst/>
          </a:prstGeom>
          <a:noFill/>
          <a:ln/>
        </p:spPr>
        <p:txBody>
          <a:bodyPr wrap="square" lIns="0" tIns="0" rIns="0" bIns="0" rtlCol="0" anchor="ctr"/>
          <a:lstStyle/>
          <a:p>
            <a:pPr algn="l" indent="0" marL="0">
              <a:lnSpc>
                <a:spcPts val="2393"/>
              </a:lnSpc>
              <a:buNone/>
            </a:pPr>
            <a:r>
              <a:rPr lang="en-US" sz="1650" b="1" dirty="0">
                <a:solidFill>
                  <a:srgbClr val="201E1D"/>
                </a:solidFill>
                <a:latin typeface="Nunito" pitchFamily="34" charset="0"/>
                <a:ea typeface="Nunito" pitchFamily="34" charset="-122"/>
                <a:cs typeface="Nunito" pitchFamily="34" charset="-120"/>
              </a:rPr>
              <a:t>Pipeline MRC tiếng Việt hoàn chỉnh</a:t>
            </a:r>
            <a:endParaRPr lang="en-US" sz="1650" dirty="0"/>
          </a:p>
        </p:txBody>
      </p:sp>
      <p:sp>
        <p:nvSpPr>
          <p:cNvPr id="8" name="Text 6"/>
          <p:cNvSpPr txBox="1"/>
          <p:nvPr/>
        </p:nvSpPr>
        <p:spPr>
          <a:xfrm>
            <a:off x="978408" y="2414016"/>
            <a:ext cx="4709160" cy="731520"/>
          </a:xfrm>
          <a:prstGeom prst="rect">
            <a:avLst/>
          </a:prstGeom>
          <a:noFill/>
          <a:ln/>
        </p:spPr>
        <p:txBody>
          <a:bodyPr wrap="square" lIns="0" tIns="0" rIns="0" bIns="0" rtlCol="0" anchor="t"/>
          <a:lstStyle/>
          <a:p>
            <a:pPr algn="l" indent="0" marL="0">
              <a:lnSpc>
                <a:spcPts val="1740"/>
              </a:lnSpc>
              <a:buNone/>
            </a:pPr>
            <a:r>
              <a:rPr lang="en-US" sz="1200" dirty="0">
                <a:solidFill>
                  <a:srgbClr val="645C50"/>
                </a:solidFill>
                <a:latin typeface="Nunito" pitchFamily="34" charset="0"/>
                <a:ea typeface="Nunito" pitchFamily="34" charset="-122"/>
                <a:cs typeface="Nunito" pitchFamily="34" charset="-120"/>
              </a:rPr>
              <a:t>Từ nạp dữ liệu đến ứng dụng web, tổ chức thành module có kiểm thử — 474 test, 20 tệp.</a:t>
            </a:r>
            <a:endParaRPr lang="en-US" sz="1200" dirty="0"/>
          </a:p>
        </p:txBody>
      </p:sp>
      <p:sp>
        <p:nvSpPr>
          <p:cNvPr id="9" name="Shape 7"/>
          <p:cNvSpPr/>
          <p:nvPr/>
        </p:nvSpPr>
        <p:spPr>
          <a:xfrm>
            <a:off x="6217920" y="1664208"/>
            <a:ext cx="5285232" cy="1591056"/>
          </a:xfrm>
          <a:prstGeom prst="roundRect">
            <a:avLst>
              <a:gd name="adj" fmla="val 9195"/>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10" name="Shape 8"/>
          <p:cNvSpPr/>
          <p:nvPr/>
        </p:nvSpPr>
        <p:spPr>
          <a:xfrm>
            <a:off x="6510528" y="1938528"/>
            <a:ext cx="329184" cy="329184"/>
          </a:xfrm>
          <a:prstGeom prst="ellipse">
            <a:avLst/>
          </a:prstGeom>
          <a:solidFill>
            <a:srgbClr val="7A8A5E"/>
          </a:solidFill>
          <a:ln w="12700">
            <a:solidFill>
              <a:srgbClr val="7A8A5E"/>
            </a:solidFill>
            <a:prstDash val="solid"/>
          </a:ln>
        </p:spPr>
      </p:sp>
      <p:sp>
        <p:nvSpPr>
          <p:cNvPr id="11" name="Text 9"/>
          <p:cNvSpPr txBox="1"/>
          <p:nvPr/>
        </p:nvSpPr>
        <p:spPr>
          <a:xfrm>
            <a:off x="6510528" y="1938528"/>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Baloo 2" pitchFamily="34" charset="0"/>
                <a:ea typeface="Baloo 2" pitchFamily="34" charset="-122"/>
                <a:cs typeface="Baloo 2" pitchFamily="34" charset="-120"/>
              </a:rPr>
              <a:t>2</a:t>
            </a:r>
            <a:endParaRPr lang="en-US" sz="1400" dirty="0"/>
          </a:p>
        </p:txBody>
      </p:sp>
      <p:sp>
        <p:nvSpPr>
          <p:cNvPr id="12" name="Text 10"/>
          <p:cNvSpPr txBox="1"/>
          <p:nvPr/>
        </p:nvSpPr>
        <p:spPr>
          <a:xfrm>
            <a:off x="6967728" y="1920240"/>
            <a:ext cx="4206240" cy="365760"/>
          </a:xfrm>
          <a:prstGeom prst="rect">
            <a:avLst/>
          </a:prstGeom>
          <a:noFill/>
          <a:ln/>
        </p:spPr>
        <p:txBody>
          <a:bodyPr wrap="square" lIns="0" tIns="0" rIns="0" bIns="0" rtlCol="0" anchor="ctr"/>
          <a:lstStyle/>
          <a:p>
            <a:pPr algn="l" indent="0" marL="0">
              <a:lnSpc>
                <a:spcPts val="2393"/>
              </a:lnSpc>
              <a:buNone/>
            </a:pPr>
            <a:r>
              <a:rPr lang="en-US" sz="1650" b="1" dirty="0">
                <a:solidFill>
                  <a:srgbClr val="201E1D"/>
                </a:solidFill>
                <a:latin typeface="Nunito" pitchFamily="34" charset="0"/>
                <a:ea typeface="Nunito" pitchFamily="34" charset="-122"/>
                <a:cs typeface="Nunito" pitchFamily="34" charset="-120"/>
              </a:rPr>
              <a:t>So sánh có kiểm soát bốn mô hình</a:t>
            </a:r>
            <a:endParaRPr lang="en-US" sz="1650" dirty="0"/>
          </a:p>
        </p:txBody>
      </p:sp>
      <p:sp>
        <p:nvSpPr>
          <p:cNvPr id="13" name="Text 11"/>
          <p:cNvSpPr txBox="1"/>
          <p:nvPr/>
        </p:nvSpPr>
        <p:spPr>
          <a:xfrm>
            <a:off x="6510528" y="2414016"/>
            <a:ext cx="4709160" cy="731520"/>
          </a:xfrm>
          <a:prstGeom prst="rect">
            <a:avLst/>
          </a:prstGeom>
          <a:noFill/>
          <a:ln/>
        </p:spPr>
        <p:txBody>
          <a:bodyPr wrap="square" lIns="0" tIns="0" rIns="0" bIns="0" rtlCol="0" anchor="t"/>
          <a:lstStyle/>
          <a:p>
            <a:pPr algn="l" indent="0" marL="0">
              <a:lnSpc>
                <a:spcPts val="1740"/>
              </a:lnSpc>
              <a:buNone/>
            </a:pPr>
            <a:r>
              <a:rPr lang="en-US" sz="1200" dirty="0">
                <a:solidFill>
                  <a:srgbClr val="645C50"/>
                </a:solidFill>
                <a:latin typeface="Nunito" pitchFamily="34" charset="0"/>
                <a:ea typeface="Nunito" pitchFamily="34" charset="-122"/>
                <a:cs typeface="Nunito" pitchFamily="34" charset="-120"/>
              </a:rPr>
              <a:t>Mỗi bước cô lập đúng một biến: so khớp từ khoá → chuyển giao đa ngữ zero-shot → fine-tune trong miền → pretraining chuyên tiếng Việt.</a:t>
            </a:r>
            <a:endParaRPr lang="en-US" sz="1200" dirty="0"/>
          </a:p>
        </p:txBody>
      </p:sp>
      <p:sp>
        <p:nvSpPr>
          <p:cNvPr id="14" name="Shape 12"/>
          <p:cNvSpPr/>
          <p:nvPr/>
        </p:nvSpPr>
        <p:spPr>
          <a:xfrm>
            <a:off x="685800" y="3474720"/>
            <a:ext cx="5285232" cy="1591056"/>
          </a:xfrm>
          <a:prstGeom prst="roundRect">
            <a:avLst>
              <a:gd name="adj" fmla="val 9195"/>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15" name="Shape 13"/>
          <p:cNvSpPr/>
          <p:nvPr/>
        </p:nvSpPr>
        <p:spPr>
          <a:xfrm>
            <a:off x="978408" y="3749040"/>
            <a:ext cx="329184" cy="329184"/>
          </a:xfrm>
          <a:prstGeom prst="ellipse">
            <a:avLst/>
          </a:prstGeom>
          <a:solidFill>
            <a:srgbClr val="C67139"/>
          </a:solidFill>
          <a:ln w="12700">
            <a:solidFill>
              <a:srgbClr val="C67139"/>
            </a:solidFill>
            <a:prstDash val="solid"/>
          </a:ln>
        </p:spPr>
      </p:sp>
      <p:sp>
        <p:nvSpPr>
          <p:cNvPr id="16" name="Text 14"/>
          <p:cNvSpPr txBox="1"/>
          <p:nvPr/>
        </p:nvSpPr>
        <p:spPr>
          <a:xfrm>
            <a:off x="978408" y="374904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Baloo 2" pitchFamily="34" charset="0"/>
                <a:ea typeface="Baloo 2" pitchFamily="34" charset="-122"/>
                <a:cs typeface="Baloo 2" pitchFamily="34" charset="-120"/>
              </a:rPr>
              <a:t>3</a:t>
            </a:r>
            <a:endParaRPr lang="en-US" sz="1400" dirty="0"/>
          </a:p>
        </p:txBody>
      </p:sp>
      <p:sp>
        <p:nvSpPr>
          <p:cNvPr id="17" name="Text 15"/>
          <p:cNvSpPr txBox="1"/>
          <p:nvPr/>
        </p:nvSpPr>
        <p:spPr>
          <a:xfrm>
            <a:off x="1435608" y="3730752"/>
            <a:ext cx="4206240" cy="365760"/>
          </a:xfrm>
          <a:prstGeom prst="rect">
            <a:avLst/>
          </a:prstGeom>
          <a:noFill/>
          <a:ln/>
        </p:spPr>
        <p:txBody>
          <a:bodyPr wrap="square" lIns="0" tIns="0" rIns="0" bIns="0" rtlCol="0" anchor="ctr"/>
          <a:lstStyle/>
          <a:p>
            <a:pPr algn="l" indent="0" marL="0">
              <a:lnSpc>
                <a:spcPts val="2393"/>
              </a:lnSpc>
              <a:buNone/>
            </a:pPr>
            <a:r>
              <a:rPr lang="en-US" sz="1650" b="1" dirty="0">
                <a:solidFill>
                  <a:srgbClr val="201E1D"/>
                </a:solidFill>
                <a:latin typeface="Nunito" pitchFamily="34" charset="0"/>
                <a:ea typeface="Nunito" pitchFamily="34" charset="-122"/>
                <a:cs typeface="Nunito" pitchFamily="34" charset="-120"/>
              </a:rPr>
              <a:t>Tách answerable / impossible</a:t>
            </a:r>
            <a:endParaRPr lang="en-US" sz="1650" dirty="0"/>
          </a:p>
        </p:txBody>
      </p:sp>
      <p:sp>
        <p:nvSpPr>
          <p:cNvPr id="18" name="Text 16"/>
          <p:cNvSpPr txBox="1"/>
          <p:nvPr/>
        </p:nvSpPr>
        <p:spPr>
          <a:xfrm>
            <a:off x="978408" y="4224528"/>
            <a:ext cx="4709160" cy="731520"/>
          </a:xfrm>
          <a:prstGeom prst="rect">
            <a:avLst/>
          </a:prstGeom>
          <a:noFill/>
          <a:ln/>
        </p:spPr>
        <p:txBody>
          <a:bodyPr wrap="square" lIns="0" tIns="0" rIns="0" bIns="0" rtlCol="0" anchor="t"/>
          <a:lstStyle/>
          <a:p>
            <a:pPr algn="l" indent="0" marL="0">
              <a:lnSpc>
                <a:spcPts val="1740"/>
              </a:lnSpc>
              <a:buNone/>
            </a:pPr>
            <a:r>
              <a:rPr lang="en-US" sz="1200" dirty="0">
                <a:solidFill>
                  <a:srgbClr val="645C50"/>
                </a:solidFill>
                <a:latin typeface="Nunito" pitchFamily="34" charset="0"/>
                <a:ea typeface="Nunito" pitchFamily="34" charset="-122"/>
                <a:cs typeface="Nunito" pitchFamily="34" charset="-120"/>
              </a:rPr>
              <a:t>Cho thấy điểm tổng che khuất hai kỹ năng tách biệt — tìm đúng biên đáp án, và biết khi nào không nên trả lời.</a:t>
            </a:r>
            <a:endParaRPr lang="en-US" sz="1200" dirty="0"/>
          </a:p>
        </p:txBody>
      </p:sp>
      <p:sp>
        <p:nvSpPr>
          <p:cNvPr id="19" name="Shape 17"/>
          <p:cNvSpPr/>
          <p:nvPr/>
        </p:nvSpPr>
        <p:spPr>
          <a:xfrm>
            <a:off x="6217920" y="3474720"/>
            <a:ext cx="5285232" cy="1591056"/>
          </a:xfrm>
          <a:prstGeom prst="roundRect">
            <a:avLst>
              <a:gd name="adj" fmla="val 9195"/>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20" name="Shape 18"/>
          <p:cNvSpPr/>
          <p:nvPr/>
        </p:nvSpPr>
        <p:spPr>
          <a:xfrm>
            <a:off x="6510528" y="3749040"/>
            <a:ext cx="329184" cy="329184"/>
          </a:xfrm>
          <a:prstGeom prst="ellipse">
            <a:avLst/>
          </a:prstGeom>
          <a:solidFill>
            <a:srgbClr val="7A8A5E"/>
          </a:solidFill>
          <a:ln w="12700">
            <a:solidFill>
              <a:srgbClr val="7A8A5E"/>
            </a:solidFill>
            <a:prstDash val="solid"/>
          </a:ln>
        </p:spPr>
      </p:sp>
      <p:sp>
        <p:nvSpPr>
          <p:cNvPr id="21" name="Text 19"/>
          <p:cNvSpPr txBox="1"/>
          <p:nvPr/>
        </p:nvSpPr>
        <p:spPr>
          <a:xfrm>
            <a:off x="6510528" y="3749040"/>
            <a:ext cx="329184"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Baloo 2" pitchFamily="34" charset="0"/>
                <a:ea typeface="Baloo 2" pitchFamily="34" charset="-122"/>
                <a:cs typeface="Baloo 2" pitchFamily="34" charset="-120"/>
              </a:rPr>
              <a:t>4</a:t>
            </a:r>
            <a:endParaRPr lang="en-US" sz="1400" dirty="0"/>
          </a:p>
        </p:txBody>
      </p:sp>
      <p:sp>
        <p:nvSpPr>
          <p:cNvPr id="22" name="Text 20"/>
          <p:cNvSpPr txBox="1"/>
          <p:nvPr/>
        </p:nvSpPr>
        <p:spPr>
          <a:xfrm>
            <a:off x="6967728" y="3730752"/>
            <a:ext cx="4206240" cy="365760"/>
          </a:xfrm>
          <a:prstGeom prst="rect">
            <a:avLst/>
          </a:prstGeom>
          <a:noFill/>
          <a:ln/>
        </p:spPr>
        <p:txBody>
          <a:bodyPr wrap="square" lIns="0" tIns="0" rIns="0" bIns="0" rtlCol="0" anchor="ctr"/>
          <a:lstStyle/>
          <a:p>
            <a:pPr algn="l" indent="0" marL="0">
              <a:lnSpc>
                <a:spcPts val="2393"/>
              </a:lnSpc>
              <a:buNone/>
            </a:pPr>
            <a:r>
              <a:rPr lang="en-US" sz="1650" b="1" dirty="0">
                <a:solidFill>
                  <a:srgbClr val="201E1D"/>
                </a:solidFill>
                <a:latin typeface="Nunito" pitchFamily="34" charset="0"/>
                <a:ea typeface="Nunito" pitchFamily="34" charset="-122"/>
                <a:cs typeface="Nunito" pitchFamily="34" charset="-120"/>
              </a:rPr>
              <a:t>Chặn bốn lỗi “sai âm thầm”</a:t>
            </a:r>
            <a:endParaRPr lang="en-US" sz="1650" dirty="0"/>
          </a:p>
        </p:txBody>
      </p:sp>
      <p:sp>
        <p:nvSpPr>
          <p:cNvPr id="23" name="Text 21"/>
          <p:cNvSpPr txBox="1"/>
          <p:nvPr/>
        </p:nvSpPr>
        <p:spPr>
          <a:xfrm>
            <a:off x="6510528" y="4224528"/>
            <a:ext cx="4709160" cy="731520"/>
          </a:xfrm>
          <a:prstGeom prst="rect">
            <a:avLst/>
          </a:prstGeom>
          <a:noFill/>
          <a:ln/>
        </p:spPr>
        <p:txBody>
          <a:bodyPr wrap="square" lIns="0" tIns="0" rIns="0" bIns="0" rtlCol="0" anchor="t"/>
          <a:lstStyle/>
          <a:p>
            <a:pPr algn="l" indent="0" marL="0">
              <a:lnSpc>
                <a:spcPts val="1740"/>
              </a:lnSpc>
              <a:buNone/>
            </a:pPr>
            <a:r>
              <a:rPr lang="en-US" sz="1200" dirty="0">
                <a:solidFill>
                  <a:srgbClr val="645C50"/>
                </a:solidFill>
                <a:latin typeface="Nunito" pitchFamily="34" charset="0"/>
                <a:ea typeface="Nunito" pitchFamily="34" charset="-122"/>
                <a:cs typeface="Nunito" pitchFamily="34" charset="-120"/>
              </a:rPr>
              <a:t>Test split không có nhãn · giới hạn số cửa sổ của transformers · mẫu đánh giá thiên lệch chủ đề · ngưỡng độ dài đáp án phụ thuộc tokenizer.</a:t>
            </a:r>
            <a:endParaRPr lang="en-US" sz="1200" dirty="0"/>
          </a:p>
        </p:txBody>
      </p:sp>
      <p:sp>
        <p:nvSpPr>
          <p:cNvPr id="24" name="Shape 22"/>
          <p:cNvSpPr/>
          <p:nvPr/>
        </p:nvSpPr>
        <p:spPr>
          <a:xfrm>
            <a:off x="685800" y="5394960"/>
            <a:ext cx="10820095" cy="822960"/>
          </a:xfrm>
          <a:prstGeom prst="roundRect">
            <a:avLst>
              <a:gd name="adj" fmla="val 17778"/>
            </a:avLst>
          </a:prstGeom>
          <a:solidFill>
            <a:srgbClr val="F0FAE1"/>
          </a:solidFill>
          <a:ln w="12700">
            <a:solidFill>
              <a:srgbClr val="F0FAE1"/>
            </a:solidFill>
            <a:prstDash val="solid"/>
          </a:ln>
        </p:spPr>
      </p:sp>
      <p:sp>
        <p:nvSpPr>
          <p:cNvPr id="25" name="Text 23"/>
          <p:cNvSpPr txBox="1"/>
          <p:nvPr/>
        </p:nvSpPr>
        <p:spPr>
          <a:xfrm>
            <a:off x="1005840" y="5513832"/>
            <a:ext cx="10180015" cy="310896"/>
          </a:xfrm>
          <a:prstGeom prst="rect">
            <a:avLst/>
          </a:prstGeom>
          <a:noFill/>
          <a:ln/>
        </p:spPr>
        <p:txBody>
          <a:bodyPr wrap="square" lIns="0" tIns="0" rIns="0" bIns="0" rtlCol="0" anchor="t"/>
          <a:lstStyle/>
          <a:p>
            <a:pPr algn="l" indent="0" marL="0">
              <a:lnSpc>
                <a:spcPts val="2103"/>
              </a:lnSpc>
              <a:buNone/>
            </a:pPr>
            <a:r>
              <a:rPr lang="en-US" sz="1450" b="1" dirty="0">
                <a:solidFill>
                  <a:srgbClr val="3D472B"/>
                </a:solidFill>
                <a:latin typeface="Nunito" pitchFamily="34" charset="0"/>
                <a:ea typeface="Nunito" pitchFamily="34" charset="-122"/>
                <a:cs typeface="Nunito" pitchFamily="34" charset="-120"/>
              </a:rPr>
              <a:t>Và một đóng góp về phương pháp: chẩn đoán một ca lỗi thay vì che nó đi.</a:t>
            </a:r>
            <a:endParaRPr lang="en-US" sz="1450" dirty="0"/>
          </a:p>
        </p:txBody>
      </p:sp>
      <p:sp>
        <p:nvSpPr>
          <p:cNvPr id="26" name="Text 24"/>
          <p:cNvSpPr txBox="1"/>
          <p:nvPr/>
        </p:nvSpPr>
        <p:spPr>
          <a:xfrm>
            <a:off x="1005840" y="5797296"/>
            <a:ext cx="10180015" cy="365760"/>
          </a:xfrm>
          <a:prstGeom prst="rect">
            <a:avLst/>
          </a:prstGeom>
          <a:noFill/>
          <a:ln/>
        </p:spPr>
        <p:txBody>
          <a:bodyPr wrap="square" lIns="0" tIns="0" rIns="0" bIns="0" rtlCol="0" anchor="t"/>
          <a:lstStyle/>
          <a:p>
            <a:pPr algn="l" indent="0" marL="0">
              <a:lnSpc>
                <a:spcPts val="1668"/>
              </a:lnSpc>
              <a:buNone/>
            </a:pPr>
            <a:r>
              <a:rPr lang="en-US" sz="1150" dirty="0">
                <a:solidFill>
                  <a:srgbClr val="3D472B"/>
                </a:solidFill>
                <a:latin typeface="Nunito" pitchFamily="34" charset="0"/>
                <a:ea typeface="Nunito" pitchFamily="34" charset="-122"/>
                <a:cs typeface="Nunito" pitchFamily="34" charset="-120"/>
              </a:rPr>
              <a:t>Thất bại của ViSoBERT được phân tích theo quy trình loại trừ, gắn với bằng chứng đo được về mức độ phân mảnh token — trình bày ở mục 5.</a:t>
            </a:r>
            <a:endParaRPr lang="en-US" sz="1150" dirty="0"/>
          </a:p>
        </p:txBody>
      </p:sp>
      <p:sp>
        <p:nvSpPr>
          <p:cNvPr id="27" name="Text 25"/>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1 · Tổng quan · Đóng góp</a:t>
            </a:r>
            <a:endParaRPr lang="en-US" sz="1000" dirty="0"/>
          </a:p>
        </p:txBody>
      </p:sp>
      <p:sp>
        <p:nvSpPr>
          <p:cNvPr id="28" name="Text 26"/>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2 · CÁC CÔNG TRÌNH LIÊN QUAN</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808"/>
              </a:lnSpc>
              <a:buNone/>
            </a:pPr>
            <a:r>
              <a:rPr lang="en-US" sz="3400" b="1" dirty="0">
                <a:solidFill>
                  <a:srgbClr val="201E1D"/>
                </a:solidFill>
                <a:latin typeface="Baloo 2" pitchFamily="34" charset="0"/>
                <a:ea typeface="Baloo 2" pitchFamily="34" charset="-122"/>
                <a:cs typeface="Baloo 2" pitchFamily="34" charset="-120"/>
              </a:rPr>
              <a:t>Bốn hướng tiếp cận và các bộ dữ liệu đã có</a:t>
            </a:r>
            <a:endParaRPr lang="en-US" sz="3400" dirty="0"/>
          </a:p>
        </p:txBody>
      </p:sp>
      <p:sp>
        <p:nvSpPr>
          <p:cNvPr id="4" name="Shape 2"/>
          <p:cNvSpPr/>
          <p:nvPr/>
        </p:nvSpPr>
        <p:spPr>
          <a:xfrm>
            <a:off x="685800" y="1627632"/>
            <a:ext cx="5577840" cy="3703320"/>
          </a:xfrm>
          <a:prstGeom prst="roundRect">
            <a:avLst>
              <a:gd name="adj" fmla="val 3951"/>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5" name="Text 3"/>
          <p:cNvSpPr txBox="1"/>
          <p:nvPr/>
        </p:nvSpPr>
        <p:spPr>
          <a:xfrm>
            <a:off x="978408" y="1810512"/>
            <a:ext cx="493776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KHẢO SÁT HƯỚNG TIẾP CẬN</a:t>
            </a:r>
            <a:endParaRPr lang="en-US" sz="950" dirty="0"/>
          </a:p>
        </p:txBody>
      </p:sp>
      <p:sp>
        <p:nvSpPr>
          <p:cNvPr id="6" name="Shape 4"/>
          <p:cNvSpPr/>
          <p:nvPr/>
        </p:nvSpPr>
        <p:spPr>
          <a:xfrm>
            <a:off x="996696" y="2194560"/>
            <a:ext cx="164592" cy="164592"/>
          </a:xfrm>
          <a:prstGeom prst="ellipse">
            <a:avLst/>
          </a:prstGeom>
          <a:solidFill>
            <a:srgbClr val="645C50"/>
          </a:solidFill>
          <a:ln w="12700">
            <a:solidFill>
              <a:srgbClr val="645C50"/>
            </a:solidFill>
            <a:prstDash val="solid"/>
          </a:ln>
        </p:spPr>
      </p:sp>
      <p:sp>
        <p:nvSpPr>
          <p:cNvPr id="7" name="Text 5"/>
          <p:cNvSpPr txBox="1"/>
          <p:nvPr/>
        </p:nvSpPr>
        <p:spPr>
          <a:xfrm>
            <a:off x="1289304" y="2103120"/>
            <a:ext cx="4663440" cy="274320"/>
          </a:xfrm>
          <a:prstGeom prst="rect">
            <a:avLst/>
          </a:prstGeom>
          <a:noFill/>
          <a:ln/>
        </p:spPr>
        <p:txBody>
          <a:bodyPr wrap="square" lIns="0" tIns="0" rIns="0" bIns="0" rtlCol="0" anchor="ctr"/>
          <a:lstStyle/>
          <a:p>
            <a:pPr algn="l" indent="0" marL="0">
              <a:lnSpc>
                <a:spcPts val="1958"/>
              </a:lnSpc>
              <a:buNone/>
            </a:pPr>
            <a:r>
              <a:rPr lang="en-US" sz="1350" b="1" dirty="0">
                <a:solidFill>
                  <a:srgbClr val="201E1D"/>
                </a:solidFill>
                <a:latin typeface="Nunito" pitchFamily="34" charset="0"/>
                <a:ea typeface="Nunito" pitchFamily="34" charset="-122"/>
                <a:cs typeface="Nunito" pitchFamily="34" charset="-120"/>
              </a:rPr>
              <a:t>So khớp từ khoá / truy hồi</a:t>
            </a:r>
            <a:endParaRPr lang="en-US" sz="1350" dirty="0"/>
          </a:p>
        </p:txBody>
      </p:sp>
      <p:sp>
        <p:nvSpPr>
          <p:cNvPr id="8" name="Text 6"/>
          <p:cNvSpPr txBox="1"/>
          <p:nvPr/>
        </p:nvSpPr>
        <p:spPr>
          <a:xfrm>
            <a:off x="1289304" y="2377440"/>
            <a:ext cx="4663440" cy="457200"/>
          </a:xfrm>
          <a:prstGeom prst="rect">
            <a:avLst/>
          </a:prstGeom>
          <a:noFill/>
          <a:ln/>
        </p:spPr>
        <p:txBody>
          <a:bodyPr wrap="square" lIns="0" tIns="0" rIns="0" bIns="0" rtlCol="0" anchor="t"/>
          <a:lstStyle/>
          <a:p>
            <a:pPr algn="l" indent="0" marL="0">
              <a:lnSpc>
                <a:spcPts val="1595"/>
              </a:lnSpc>
              <a:buNone/>
            </a:pPr>
            <a:r>
              <a:rPr lang="en-US" sz="1100" dirty="0">
                <a:solidFill>
                  <a:srgbClr val="645C50"/>
                </a:solidFill>
                <a:latin typeface="Nunito" pitchFamily="34" charset="0"/>
                <a:ea typeface="Nunito" pitchFamily="34" charset="-122"/>
                <a:cs typeface="Nunito" pitchFamily="34" charset="-120"/>
              </a:rPr>
              <a:t>TF-IDF + cosine trên câu — không huấn luyện, dùng làm sàn</a:t>
            </a:r>
            <a:endParaRPr lang="en-US" sz="1100" dirty="0"/>
          </a:p>
        </p:txBody>
      </p:sp>
      <p:sp>
        <p:nvSpPr>
          <p:cNvPr id="9" name="Shape 7"/>
          <p:cNvSpPr/>
          <p:nvPr/>
        </p:nvSpPr>
        <p:spPr>
          <a:xfrm>
            <a:off x="996696" y="2980944"/>
            <a:ext cx="164592" cy="164592"/>
          </a:xfrm>
          <a:prstGeom prst="ellipse">
            <a:avLst/>
          </a:prstGeom>
          <a:solidFill>
            <a:srgbClr val="645C50"/>
          </a:solidFill>
          <a:ln w="12700">
            <a:solidFill>
              <a:srgbClr val="645C50"/>
            </a:solidFill>
            <a:prstDash val="solid"/>
          </a:ln>
        </p:spPr>
      </p:sp>
      <p:sp>
        <p:nvSpPr>
          <p:cNvPr id="10" name="Text 8"/>
          <p:cNvSpPr txBox="1"/>
          <p:nvPr/>
        </p:nvSpPr>
        <p:spPr>
          <a:xfrm>
            <a:off x="1289304" y="2889504"/>
            <a:ext cx="4663440" cy="274320"/>
          </a:xfrm>
          <a:prstGeom prst="rect">
            <a:avLst/>
          </a:prstGeom>
          <a:noFill/>
          <a:ln/>
        </p:spPr>
        <p:txBody>
          <a:bodyPr wrap="square" lIns="0" tIns="0" rIns="0" bIns="0" rtlCol="0" anchor="ctr"/>
          <a:lstStyle/>
          <a:p>
            <a:pPr algn="l" indent="0" marL="0">
              <a:lnSpc>
                <a:spcPts val="1958"/>
              </a:lnSpc>
              <a:buNone/>
            </a:pPr>
            <a:r>
              <a:rPr lang="en-US" sz="1350" b="1" dirty="0">
                <a:solidFill>
                  <a:srgbClr val="201E1D"/>
                </a:solidFill>
                <a:latin typeface="Nunito" pitchFamily="34" charset="0"/>
                <a:ea typeface="Nunito" pitchFamily="34" charset="-122"/>
                <a:cs typeface="Nunito" pitchFamily="34" charset="-120"/>
              </a:rPr>
              <a:t>Chuyển giao đa ngữ zero-shot</a:t>
            </a:r>
            <a:endParaRPr lang="en-US" sz="1350" dirty="0"/>
          </a:p>
        </p:txBody>
      </p:sp>
      <p:sp>
        <p:nvSpPr>
          <p:cNvPr id="11" name="Text 9"/>
          <p:cNvSpPr txBox="1"/>
          <p:nvPr/>
        </p:nvSpPr>
        <p:spPr>
          <a:xfrm>
            <a:off x="1289304" y="3163824"/>
            <a:ext cx="4663440" cy="457200"/>
          </a:xfrm>
          <a:prstGeom prst="rect">
            <a:avLst/>
          </a:prstGeom>
          <a:noFill/>
          <a:ln/>
        </p:spPr>
        <p:txBody>
          <a:bodyPr wrap="square" lIns="0" tIns="0" rIns="0" bIns="0" rtlCol="0" anchor="t"/>
          <a:lstStyle/>
          <a:p>
            <a:pPr algn="l" indent="0" marL="0">
              <a:lnSpc>
                <a:spcPts val="1595"/>
              </a:lnSpc>
              <a:buNone/>
            </a:pPr>
            <a:r>
              <a:rPr lang="en-US" sz="1100" dirty="0">
                <a:solidFill>
                  <a:srgbClr val="645C50"/>
                </a:solidFill>
                <a:latin typeface="Nunito" pitchFamily="34" charset="0"/>
                <a:ea typeface="Nunito" pitchFamily="34" charset="-122"/>
                <a:cs typeface="Nunito" pitchFamily="34" charset="-120"/>
              </a:rPr>
              <a:t>encoder đa ngữ đã fine-tune QA tiếng Anh, áp thẳng sang tiếng Việt (XLM-R squad2)</a:t>
            </a:r>
            <a:endParaRPr lang="en-US" sz="1100" dirty="0"/>
          </a:p>
        </p:txBody>
      </p:sp>
      <p:sp>
        <p:nvSpPr>
          <p:cNvPr id="12" name="Shape 10"/>
          <p:cNvSpPr/>
          <p:nvPr/>
        </p:nvSpPr>
        <p:spPr>
          <a:xfrm>
            <a:off x="996696" y="3767328"/>
            <a:ext cx="164592" cy="164592"/>
          </a:xfrm>
          <a:prstGeom prst="ellipse">
            <a:avLst/>
          </a:prstGeom>
          <a:solidFill>
            <a:srgbClr val="C67139"/>
          </a:solidFill>
          <a:ln w="12700">
            <a:solidFill>
              <a:srgbClr val="C67139"/>
            </a:solidFill>
            <a:prstDash val="solid"/>
          </a:ln>
        </p:spPr>
      </p:sp>
      <p:sp>
        <p:nvSpPr>
          <p:cNvPr id="13" name="Text 11"/>
          <p:cNvSpPr txBox="1"/>
          <p:nvPr/>
        </p:nvSpPr>
        <p:spPr>
          <a:xfrm>
            <a:off x="1289304" y="3675888"/>
            <a:ext cx="4663440" cy="274320"/>
          </a:xfrm>
          <a:prstGeom prst="rect">
            <a:avLst/>
          </a:prstGeom>
          <a:noFill/>
          <a:ln/>
        </p:spPr>
        <p:txBody>
          <a:bodyPr wrap="square" lIns="0" tIns="0" rIns="0" bIns="0" rtlCol="0" anchor="ctr"/>
          <a:lstStyle/>
          <a:p>
            <a:pPr algn="l" indent="0" marL="0">
              <a:lnSpc>
                <a:spcPts val="1958"/>
              </a:lnSpc>
              <a:buNone/>
            </a:pPr>
            <a:r>
              <a:rPr lang="en-US" sz="1350" b="1" dirty="0">
                <a:solidFill>
                  <a:srgbClr val="201E1D"/>
                </a:solidFill>
                <a:latin typeface="Nunito" pitchFamily="34" charset="0"/>
                <a:ea typeface="Nunito" pitchFamily="34" charset="-122"/>
                <a:cs typeface="Nunito" pitchFamily="34" charset="-120"/>
              </a:rPr>
              <a:t>Fine-tune trong miền, encoder đa ngữ</a:t>
            </a:r>
            <a:endParaRPr lang="en-US" sz="1350" dirty="0"/>
          </a:p>
        </p:txBody>
      </p:sp>
      <p:sp>
        <p:nvSpPr>
          <p:cNvPr id="14" name="Text 12"/>
          <p:cNvSpPr txBox="1"/>
          <p:nvPr/>
        </p:nvSpPr>
        <p:spPr>
          <a:xfrm>
            <a:off x="1289304" y="3950208"/>
            <a:ext cx="4663440" cy="457200"/>
          </a:xfrm>
          <a:prstGeom prst="rect">
            <a:avLst/>
          </a:prstGeom>
          <a:noFill/>
          <a:ln/>
        </p:spPr>
        <p:txBody>
          <a:bodyPr wrap="square" lIns="0" tIns="0" rIns="0" bIns="0" rtlCol="0" anchor="t"/>
          <a:lstStyle/>
          <a:p>
            <a:pPr algn="l" indent="0" marL="0">
              <a:lnSpc>
                <a:spcPts val="1595"/>
              </a:lnSpc>
              <a:buNone/>
            </a:pPr>
            <a:r>
              <a:rPr lang="en-US" sz="1100" dirty="0">
                <a:solidFill>
                  <a:srgbClr val="645C50"/>
                </a:solidFill>
                <a:latin typeface="Nunito" pitchFamily="34" charset="0"/>
                <a:ea typeface="Nunito" pitchFamily="34" charset="-122"/>
                <a:cs typeface="Nunito" pitchFamily="34" charset="-120"/>
              </a:rPr>
              <a:t>mBERT + lớp QA, huấn luyện trên chính dữ liệu tiếng Việt</a:t>
            </a:r>
            <a:endParaRPr lang="en-US" sz="1100" dirty="0"/>
          </a:p>
        </p:txBody>
      </p:sp>
      <p:sp>
        <p:nvSpPr>
          <p:cNvPr id="15" name="Shape 13"/>
          <p:cNvSpPr/>
          <p:nvPr/>
        </p:nvSpPr>
        <p:spPr>
          <a:xfrm>
            <a:off x="996696" y="4553712"/>
            <a:ext cx="164592" cy="164592"/>
          </a:xfrm>
          <a:prstGeom prst="ellipse">
            <a:avLst/>
          </a:prstGeom>
          <a:solidFill>
            <a:srgbClr val="7A8A5E"/>
          </a:solidFill>
          <a:ln w="12700">
            <a:solidFill>
              <a:srgbClr val="7A8A5E"/>
            </a:solidFill>
            <a:prstDash val="solid"/>
          </a:ln>
        </p:spPr>
      </p:sp>
      <p:sp>
        <p:nvSpPr>
          <p:cNvPr id="16" name="Text 14"/>
          <p:cNvSpPr txBox="1"/>
          <p:nvPr/>
        </p:nvSpPr>
        <p:spPr>
          <a:xfrm>
            <a:off x="1289304" y="4462272"/>
            <a:ext cx="4663440" cy="274320"/>
          </a:xfrm>
          <a:prstGeom prst="rect">
            <a:avLst/>
          </a:prstGeom>
          <a:noFill/>
          <a:ln/>
        </p:spPr>
        <p:txBody>
          <a:bodyPr wrap="square" lIns="0" tIns="0" rIns="0" bIns="0" rtlCol="0" anchor="ctr"/>
          <a:lstStyle/>
          <a:p>
            <a:pPr algn="l" indent="0" marL="0">
              <a:lnSpc>
                <a:spcPts val="1958"/>
              </a:lnSpc>
              <a:buNone/>
            </a:pPr>
            <a:r>
              <a:rPr lang="en-US" sz="1350" b="1" dirty="0">
                <a:solidFill>
                  <a:srgbClr val="201E1D"/>
                </a:solidFill>
                <a:latin typeface="Nunito" pitchFamily="34" charset="0"/>
                <a:ea typeface="Nunito" pitchFamily="34" charset="-122"/>
                <a:cs typeface="Nunito" pitchFamily="34" charset="-120"/>
              </a:rPr>
              <a:t>PLM đơn ngữ tiếng Việt</a:t>
            </a:r>
            <a:endParaRPr lang="en-US" sz="1350" dirty="0"/>
          </a:p>
        </p:txBody>
      </p:sp>
      <p:sp>
        <p:nvSpPr>
          <p:cNvPr id="17" name="Text 15"/>
          <p:cNvSpPr txBox="1"/>
          <p:nvPr/>
        </p:nvSpPr>
        <p:spPr>
          <a:xfrm>
            <a:off x="1289304" y="4736592"/>
            <a:ext cx="4663440" cy="457200"/>
          </a:xfrm>
          <a:prstGeom prst="rect">
            <a:avLst/>
          </a:prstGeom>
          <a:noFill/>
          <a:ln/>
        </p:spPr>
        <p:txBody>
          <a:bodyPr wrap="square" lIns="0" tIns="0" rIns="0" bIns="0" rtlCol="0" anchor="t"/>
          <a:lstStyle/>
          <a:p>
            <a:pPr algn="l" indent="0" marL="0">
              <a:lnSpc>
                <a:spcPts val="1595"/>
              </a:lnSpc>
              <a:buNone/>
            </a:pPr>
            <a:r>
              <a:rPr lang="en-US" sz="1100" dirty="0">
                <a:solidFill>
                  <a:srgbClr val="645C50"/>
                </a:solidFill>
                <a:latin typeface="Nunito" pitchFamily="34" charset="0"/>
                <a:ea typeface="Nunito" pitchFamily="34" charset="-122"/>
                <a:cs typeface="Nunito" pitchFamily="34" charset="-120"/>
              </a:rPr>
              <a:t>PhoBERT (2020) và ViSoBERT (2023) — hướng được kỳ vọng nhất cho tiếng Việt</a:t>
            </a:r>
            <a:endParaRPr lang="en-US" sz="1100" dirty="0"/>
          </a:p>
        </p:txBody>
      </p:sp>
      <p:sp>
        <p:nvSpPr>
          <p:cNvPr id="18" name="Shape 16"/>
          <p:cNvSpPr/>
          <p:nvPr/>
        </p:nvSpPr>
        <p:spPr>
          <a:xfrm>
            <a:off x="6492240" y="1627632"/>
            <a:ext cx="5010912" cy="3703320"/>
          </a:xfrm>
          <a:prstGeom prst="roundRect">
            <a:avLst>
              <a:gd name="adj" fmla="val 3951"/>
            </a:avLst>
          </a:prstGeom>
          <a:solidFill>
            <a:srgbClr val="EBDDC5"/>
          </a:solidFill>
          <a:ln w="12700">
            <a:solidFill>
              <a:srgbClr val="EBDDC5"/>
            </a:solidFill>
            <a:prstDash val="solid"/>
          </a:ln>
        </p:spPr>
      </p:sp>
      <p:sp>
        <p:nvSpPr>
          <p:cNvPr id="19" name="Text 17"/>
          <p:cNvSpPr txBox="1"/>
          <p:nvPr/>
        </p:nvSpPr>
        <p:spPr>
          <a:xfrm>
            <a:off x="6784848" y="1810512"/>
            <a:ext cx="4389120" cy="219456"/>
          </a:xfrm>
          <a:prstGeom prst="rect">
            <a:avLst/>
          </a:prstGeom>
          <a:noFill/>
          <a:ln/>
        </p:spPr>
        <p:txBody>
          <a:bodyPr wrap="square" lIns="0" tIns="0" rIns="0" bIns="0" rtlCol="0" anchor="ctr"/>
          <a:lstStyle/>
          <a:p>
            <a:pPr indent="0" marL="0">
              <a:buNone/>
            </a:pPr>
            <a:r>
              <a:rPr lang="en-US" sz="950" b="1" spc="160" kern="0" dirty="0">
                <a:solidFill>
                  <a:srgbClr val="8C491A"/>
                </a:solidFill>
                <a:latin typeface="Nunito" pitchFamily="34" charset="0"/>
                <a:ea typeface="Nunito" pitchFamily="34" charset="-122"/>
                <a:cs typeface="Nunito" pitchFamily="34" charset="-120"/>
              </a:rPr>
              <a:t>CÁC BỘ DỮ LIỆU ĐÃ CÓ</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784848" y="2121408"/>
          <a:ext cx="4389120" cy="914400"/>
        </p:xfrm>
        <a:graphic>
          <a:graphicData uri="http://schemas.openxmlformats.org/drawingml/2006/table">
            <a:tbl>
              <a:tblPr/>
              <a:tblGrid>
                <a:gridCol w="1920240"/>
                <a:gridCol w="1691640"/>
                <a:gridCol w="777240"/>
              </a:tblGrid>
              <a:tr h="384048">
                <a:tc>
                  <a:txBody>
                    <a:bodyPr/>
                    <a:lstStyle/>
                    <a:p>
                      <a:pPr algn="l" indent="0" marL="0">
                        <a:buNone/>
                      </a:pPr>
                      <a:r>
                        <a:rPr lang="en-US" sz="850" b="1" spc="120" kern="0" dirty="0">
                          <a:solidFill>
                            <a:srgbClr val="645C50"/>
                          </a:solidFill>
                          <a:latin typeface="Nunito" pitchFamily="34" charset="0"/>
                          <a:ea typeface="Nunito" pitchFamily="34" charset="-122"/>
                          <a:cs typeface="Nunito" pitchFamily="34" charset="-120"/>
                        </a:rPr>
                        <a:t>BỘ DỮ LIỆU</a:t>
                      </a:r>
                      <a:endParaRPr lang="en-US" sz="8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850" b="1" spc="120" kern="0" dirty="0">
                          <a:solidFill>
                            <a:srgbClr val="645C50"/>
                          </a:solidFill>
                          <a:latin typeface="Nunito" pitchFamily="34" charset="0"/>
                          <a:ea typeface="Nunito" pitchFamily="34" charset="-122"/>
                          <a:cs typeface="Nunito" pitchFamily="34" charset="-120"/>
                        </a:rPr>
                        <a:t>QUY MÔ</a:t>
                      </a:r>
                      <a:endParaRPr lang="en-US" sz="8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850" b="1" spc="120" kern="0" dirty="0">
                          <a:solidFill>
                            <a:srgbClr val="645C50"/>
                          </a:solidFill>
                          <a:latin typeface="Nunito" pitchFamily="34" charset="0"/>
                          <a:ea typeface="Nunito" pitchFamily="34" charset="-122"/>
                          <a:cs typeface="Nunito" pitchFamily="34" charset="-120"/>
                        </a:rPr>
                        <a:t>KHÔNG ĐÁP ÁN</a:t>
                      </a:r>
                      <a:endParaRPr lang="en-US" sz="8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r>
              <a:tr h="384048">
                <a:tc>
                  <a:txBody>
                    <a:bodyPr/>
                    <a:lstStyle/>
                    <a:p>
                      <a:pPr algn="l" indent="0" marL="0">
                        <a:buNone/>
                      </a:pPr>
                      <a:r>
                        <a:rPr lang="en-US" sz="1100" dirty="0">
                          <a:solidFill>
                            <a:srgbClr val="201E1D"/>
                          </a:solidFill>
                          <a:latin typeface="Nunito" pitchFamily="34" charset="0"/>
                          <a:ea typeface="Nunito" pitchFamily="34" charset="-122"/>
                          <a:cs typeface="Nunito" pitchFamily="34" charset="-120"/>
                        </a:rPr>
                        <a:t>SQuAD 1.1 · 2016</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&gt; 100.000 câu (EN)</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không</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384048">
                <a:tc>
                  <a:txBody>
                    <a:bodyPr/>
                    <a:lstStyle/>
                    <a:p>
                      <a:pPr algn="l" indent="0" marL="0">
                        <a:buNone/>
                      </a:pPr>
                      <a:r>
                        <a:rPr lang="en-US" sz="1100" dirty="0">
                          <a:solidFill>
                            <a:srgbClr val="201E1D"/>
                          </a:solidFill>
                          <a:latin typeface="Nunito" pitchFamily="34" charset="0"/>
                          <a:ea typeface="Nunito" pitchFamily="34" charset="-122"/>
                          <a:cs typeface="Nunito" pitchFamily="34" charset="-120"/>
                        </a:rPr>
                        <a:t>SQuAD 2.0 · 2018</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 &gt; 50.000 câu</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b="1" dirty="0">
                          <a:solidFill>
                            <a:srgbClr val="3D472B"/>
                          </a:solidFill>
                          <a:latin typeface="Nunito" pitchFamily="34" charset="0"/>
                          <a:ea typeface="Nunito" pitchFamily="34" charset="-122"/>
                          <a:cs typeface="Nunito" pitchFamily="34" charset="-120"/>
                        </a:rPr>
                        <a:t>có</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384048">
                <a:tc>
                  <a:txBody>
                    <a:bodyPr/>
                    <a:lstStyle/>
                    <a:p>
                      <a:pPr algn="l" indent="0" marL="0">
                        <a:buNone/>
                      </a:pPr>
                      <a:r>
                        <a:rPr lang="en-US" sz="1100" dirty="0">
                          <a:solidFill>
                            <a:srgbClr val="201E1D"/>
                          </a:solidFill>
                          <a:latin typeface="Nunito" pitchFamily="34" charset="0"/>
                          <a:ea typeface="Nunito" pitchFamily="34" charset="-122"/>
                          <a:cs typeface="Nunito" pitchFamily="34" charset="-120"/>
                        </a:rPr>
                        <a:t>UIT-ViQuAD · 2020</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&gt; 23.000 câu · 174 bài (VI)</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không</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384048">
                <a:tc>
                  <a:txBody>
                    <a:bodyPr/>
                    <a:lstStyle/>
                    <a:p>
                      <a:pPr algn="l" indent="0" marL="0">
                        <a:buNone/>
                      </a:pPr>
                      <a:r>
                        <a:rPr lang="en-US" sz="1100" b="1" dirty="0">
                          <a:solidFill>
                            <a:srgbClr val="201E1D"/>
                          </a:solidFill>
                          <a:latin typeface="Nunito" pitchFamily="34" charset="0"/>
                          <a:ea typeface="Nunito" pitchFamily="34" charset="-122"/>
                          <a:cs typeface="Nunito" pitchFamily="34" charset="-120"/>
                        </a:rPr>
                        <a:t>UIT-ViQuAD 2.0 · 2021</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b="1" dirty="0">
                          <a:solidFill>
                            <a:srgbClr val="201E1D"/>
                          </a:solidFill>
                          <a:latin typeface="Nunito" pitchFamily="34" charset="0"/>
                          <a:ea typeface="Nunito" pitchFamily="34" charset="-122"/>
                          <a:cs typeface="Nunito" pitchFamily="34" charset="-120"/>
                        </a:rPr>
                        <a:t>28.454 / 3.814 / 7.301</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b="1" dirty="0">
                          <a:solidFill>
                            <a:srgbClr val="3D472B"/>
                          </a:solidFill>
                          <a:latin typeface="Nunito" pitchFamily="34" charset="0"/>
                          <a:ea typeface="Nunito" pitchFamily="34" charset="-122"/>
                          <a:cs typeface="Nunito" pitchFamily="34" charset="-120"/>
                        </a:rPr>
                        <a:t>có</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bl>
          </a:graphicData>
        </a:graphic>
      </p:graphicFrame>
      <p:sp>
        <p:nvSpPr>
          <p:cNvPr id="21" name="Text 18"/>
          <p:cNvSpPr txBox="1"/>
          <p:nvPr/>
        </p:nvSpPr>
        <p:spPr>
          <a:xfrm>
            <a:off x="6784848" y="4425696"/>
            <a:ext cx="4389120" cy="411480"/>
          </a:xfrm>
          <a:prstGeom prst="rect">
            <a:avLst/>
          </a:prstGeom>
          <a:noFill/>
          <a:ln/>
        </p:spPr>
        <p:txBody>
          <a:bodyPr wrap="square" lIns="0" tIns="0" rIns="0" bIns="0" rtlCol="0" anchor="t"/>
          <a:lstStyle/>
          <a:p>
            <a:pPr algn="l" indent="0" marL="0">
              <a:lnSpc>
                <a:spcPts val="1523"/>
              </a:lnSpc>
              <a:buNone/>
            </a:pPr>
            <a:r>
              <a:rPr lang="en-US" sz="1050" i="1" dirty="0">
                <a:solidFill>
                  <a:srgbClr val="645C50"/>
                </a:solidFill>
                <a:latin typeface="Nunito" pitchFamily="34" charset="0"/>
                <a:ea typeface="Nunito" pitchFamily="34" charset="-122"/>
                <a:cs typeface="Nunito" pitchFamily="34" charset="-120"/>
              </a:rPr>
              <a:t>Dòng cuối là số đo trực tiếp từ tệp tải về (train / validation / test) — không chép từ tài liệu; chi tiết ở mục 3.</a:t>
            </a:r>
            <a:endParaRPr lang="en-US" sz="1050" dirty="0"/>
          </a:p>
        </p:txBody>
      </p:sp>
      <p:sp>
        <p:nvSpPr>
          <p:cNvPr id="22" name="Text 19"/>
          <p:cNvSpPr txBox="1"/>
          <p:nvPr/>
        </p:nvSpPr>
        <p:spPr>
          <a:xfrm>
            <a:off x="6784848" y="4846320"/>
            <a:ext cx="4389120" cy="457200"/>
          </a:xfrm>
          <a:prstGeom prst="rect">
            <a:avLst/>
          </a:prstGeom>
          <a:noFill/>
          <a:ln/>
        </p:spPr>
        <p:txBody>
          <a:bodyPr wrap="square" lIns="0" tIns="0" rIns="0" bIns="0" rtlCol="0" anchor="t"/>
          <a:lstStyle/>
          <a:p>
            <a:pPr algn="l" indent="0" marL="0">
              <a:lnSpc>
                <a:spcPts val="1523"/>
              </a:lnSpc>
              <a:buNone/>
            </a:pPr>
            <a:r>
              <a:rPr lang="en-US" sz="1050" dirty="0">
                <a:solidFill>
                  <a:srgbClr val="201E1D"/>
                </a:solidFill>
                <a:latin typeface="Nunito" pitchFamily="34" charset="0"/>
                <a:ea typeface="Nunito" pitchFamily="34" charset="-122"/>
                <a:cs typeface="Nunito" pitchFamily="34" charset="-120"/>
              </a:rPr>
              <a:t>UIT-ViQuAD 2.0 là bộ dữ liệu tiếng Việt duy nhất trong nhóm này có câu hỏi không có đáp án — nên nó là lựa chọn bắt buộc nếu muốn đo kỹ năng từ chối.</a:t>
            </a:r>
            <a:endParaRPr lang="en-US" sz="1050" dirty="0"/>
          </a:p>
        </p:txBody>
      </p:sp>
      <p:sp>
        <p:nvSpPr>
          <p:cNvPr id="23" name="Shape 20"/>
          <p:cNvSpPr/>
          <p:nvPr/>
        </p:nvSpPr>
        <p:spPr>
          <a:xfrm>
            <a:off x="685800" y="5440680"/>
            <a:ext cx="10820095" cy="777240"/>
          </a:xfrm>
          <a:prstGeom prst="roundRect">
            <a:avLst>
              <a:gd name="adj" fmla="val 18824"/>
            </a:avLst>
          </a:prstGeom>
          <a:solidFill>
            <a:srgbClr val="F0FAE1"/>
          </a:solidFill>
          <a:ln w="12700">
            <a:solidFill>
              <a:srgbClr val="F0FAE1"/>
            </a:solidFill>
            <a:prstDash val="solid"/>
          </a:ln>
        </p:spPr>
      </p:sp>
      <p:sp>
        <p:nvSpPr>
          <p:cNvPr id="24" name="Text 21"/>
          <p:cNvSpPr txBox="1"/>
          <p:nvPr/>
        </p:nvSpPr>
        <p:spPr>
          <a:xfrm>
            <a:off x="1005840" y="5559552"/>
            <a:ext cx="10180015" cy="310896"/>
          </a:xfrm>
          <a:prstGeom prst="rect">
            <a:avLst/>
          </a:prstGeom>
          <a:noFill/>
          <a:ln/>
        </p:spPr>
        <p:txBody>
          <a:bodyPr wrap="square" lIns="0" tIns="0" rIns="0" bIns="0" rtlCol="0" anchor="t"/>
          <a:lstStyle/>
          <a:p>
            <a:pPr algn="l" indent="0" marL="0">
              <a:lnSpc>
                <a:spcPts val="2103"/>
              </a:lnSpc>
              <a:buNone/>
            </a:pPr>
            <a:r>
              <a:rPr lang="en-US" sz="1450" b="1" dirty="0">
                <a:solidFill>
                  <a:srgbClr val="3D472B"/>
                </a:solidFill>
                <a:latin typeface="Nunito" pitchFamily="34" charset="0"/>
                <a:ea typeface="Nunito" pitchFamily="34" charset="-122"/>
                <a:cs typeface="Nunito" pitchFamily="34" charset="-120"/>
              </a:rPr>
              <a:t>Bốn mô hình của đồ án chính là bốn hướng tiếp cận trên — đo trên cùng một tập, cùng một interface.</a:t>
            </a:r>
            <a:endParaRPr lang="en-US" sz="1450" dirty="0"/>
          </a:p>
        </p:txBody>
      </p:sp>
      <p:sp>
        <p:nvSpPr>
          <p:cNvPr id="25" name="Text 22"/>
          <p:cNvSpPr txBox="1"/>
          <p:nvPr/>
        </p:nvSpPr>
        <p:spPr>
          <a:xfrm>
            <a:off x="1005840" y="5843016"/>
            <a:ext cx="10180015" cy="320040"/>
          </a:xfrm>
          <a:prstGeom prst="rect">
            <a:avLst/>
          </a:prstGeom>
          <a:noFill/>
          <a:ln/>
        </p:spPr>
        <p:txBody>
          <a:bodyPr wrap="square" lIns="0" tIns="0" rIns="0" bIns="0" rtlCol="0" anchor="t"/>
          <a:lstStyle/>
          <a:p>
            <a:pPr algn="l" indent="0" marL="0">
              <a:lnSpc>
                <a:spcPts val="1668"/>
              </a:lnSpc>
              <a:buNone/>
            </a:pPr>
            <a:r>
              <a:rPr lang="en-US" sz="1150" dirty="0">
                <a:solidFill>
                  <a:srgbClr val="3D472B"/>
                </a:solidFill>
                <a:latin typeface="Nunito" pitchFamily="34" charset="0"/>
                <a:ea typeface="Nunito" pitchFamily="34" charset="-122"/>
                <a:cs typeface="Nunito" pitchFamily="34" charset="-120"/>
              </a:rPr>
              <a:t>Nhờ vậy chênh lệch giữa hai dòng bất kỳ trong bảng kết quả đọc được thành “biến nào đã thay đổi”, thay vì chỉ là hai con số cạnh nhau.</a:t>
            </a:r>
            <a:endParaRPr lang="en-US" sz="1150" dirty="0"/>
          </a:p>
        </p:txBody>
      </p:sp>
      <p:sp>
        <p:nvSpPr>
          <p:cNvPr id="26" name="Text 23"/>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2 · Các công trình liên quan · Khảo sát</a:t>
            </a:r>
            <a:endParaRPr lang="en-US" sz="1000" dirty="0"/>
          </a:p>
        </p:txBody>
      </p:sp>
      <p:sp>
        <p:nvSpPr>
          <p:cNvPr id="27" name="Text 24"/>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2 · CÁC CÔNG TRÌNH LIÊN QUAN</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808"/>
              </a:lnSpc>
              <a:buNone/>
            </a:pPr>
            <a:r>
              <a:rPr lang="en-US" sz="3400" b="1" dirty="0">
                <a:solidFill>
                  <a:srgbClr val="201E1D"/>
                </a:solidFill>
                <a:latin typeface="Baloo 2" pitchFamily="34" charset="0"/>
                <a:ea typeface="Baloo 2" pitchFamily="34" charset="-122"/>
                <a:cs typeface="Baloo 2" pitchFamily="34" charset="-120"/>
              </a:rPr>
              <a:t>GAP — chỗ nhóm đứng vào</a:t>
            </a:r>
            <a:endParaRPr lang="en-US" sz="3400" dirty="0"/>
          </a:p>
        </p:txBody>
      </p:sp>
      <p:sp>
        <p:nvSpPr>
          <p:cNvPr id="4" name="Shape 2"/>
          <p:cNvSpPr/>
          <p:nvPr/>
        </p:nvSpPr>
        <p:spPr>
          <a:xfrm>
            <a:off x="685800" y="1645920"/>
            <a:ext cx="10820095" cy="1152144"/>
          </a:xfrm>
          <a:prstGeom prst="roundRect">
            <a:avLst>
              <a:gd name="adj" fmla="val 12698"/>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5" name="Shape 3"/>
          <p:cNvSpPr/>
          <p:nvPr/>
        </p:nvSpPr>
        <p:spPr>
          <a:xfrm>
            <a:off x="941832" y="2029968"/>
            <a:ext cx="365760" cy="365760"/>
          </a:xfrm>
          <a:prstGeom prst="roundRect">
            <a:avLst>
              <a:gd name="adj" fmla="val 25000"/>
            </a:avLst>
          </a:prstGeom>
          <a:solidFill>
            <a:srgbClr val="C67139"/>
          </a:solidFill>
          <a:ln w="12700">
            <a:solidFill>
              <a:srgbClr val="C67139"/>
            </a:solidFill>
            <a:prstDash val="solid"/>
          </a:ln>
        </p:spPr>
      </p:sp>
      <p:sp>
        <p:nvSpPr>
          <p:cNvPr id="6" name="Text 4"/>
          <p:cNvSpPr txBox="1"/>
          <p:nvPr/>
        </p:nvSpPr>
        <p:spPr>
          <a:xfrm>
            <a:off x="941832" y="202996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Baloo 2" pitchFamily="34" charset="0"/>
                <a:ea typeface="Baloo 2" pitchFamily="34" charset="-122"/>
                <a:cs typeface="Baloo 2" pitchFamily="34" charset="-120"/>
              </a:rPr>
              <a:t>1</a:t>
            </a:r>
            <a:endParaRPr lang="en-US" sz="1500" dirty="0"/>
          </a:p>
        </p:txBody>
      </p:sp>
      <p:sp>
        <p:nvSpPr>
          <p:cNvPr id="7" name="Text 5"/>
          <p:cNvSpPr txBox="1"/>
          <p:nvPr/>
        </p:nvSpPr>
        <p:spPr>
          <a:xfrm>
            <a:off x="1463040" y="1792224"/>
            <a:ext cx="3931920" cy="548640"/>
          </a:xfrm>
          <a:prstGeom prst="rect">
            <a:avLst/>
          </a:prstGeom>
          <a:noFill/>
          <a:ln/>
        </p:spPr>
        <p:txBody>
          <a:bodyPr wrap="square" lIns="0" tIns="0" rIns="0" bIns="0" rtlCol="0" anchor="t"/>
          <a:lstStyle/>
          <a:p>
            <a:pPr algn="l" indent="0" marL="0">
              <a:lnSpc>
                <a:spcPts val="2030"/>
              </a:lnSpc>
              <a:buNone/>
            </a:pPr>
            <a:r>
              <a:rPr lang="en-US" sz="1400" b="1" dirty="0">
                <a:solidFill>
                  <a:srgbClr val="201E1D"/>
                </a:solidFill>
                <a:latin typeface="Nunito" pitchFamily="34" charset="0"/>
                <a:ea typeface="Nunito" pitchFamily="34" charset="-122"/>
                <a:cs typeface="Nunito" pitchFamily="34" charset="-120"/>
              </a:rPr>
              <a:t>Điểm tổng che hai kỹ năng khác nhau</a:t>
            </a:r>
            <a:endParaRPr lang="en-US" sz="1400" dirty="0"/>
          </a:p>
        </p:txBody>
      </p:sp>
      <p:sp>
        <p:nvSpPr>
          <p:cNvPr id="8" name="Text 6"/>
          <p:cNvSpPr txBox="1"/>
          <p:nvPr/>
        </p:nvSpPr>
        <p:spPr>
          <a:xfrm>
            <a:off x="1463040" y="2267712"/>
            <a:ext cx="3931920" cy="457200"/>
          </a:xfrm>
          <a:prstGeom prst="rect">
            <a:avLst/>
          </a:prstGeom>
          <a:noFill/>
          <a:ln/>
        </p:spPr>
        <p:txBody>
          <a:bodyPr wrap="square" lIns="0" tIns="0" rIns="0" bIns="0" rtlCol="0" anchor="t"/>
          <a:lstStyle/>
          <a:p>
            <a:pPr algn="l" indent="0" marL="0">
              <a:lnSpc>
                <a:spcPts val="1523"/>
              </a:lnSpc>
              <a:buNone/>
            </a:pPr>
            <a:r>
              <a:rPr lang="en-US" sz="1050" dirty="0">
                <a:solidFill>
                  <a:srgbClr val="645C50"/>
                </a:solidFill>
                <a:latin typeface="Nunito" pitchFamily="34" charset="0"/>
                <a:ea typeface="Nunito" pitchFamily="34" charset="-122"/>
                <a:cs typeface="Nunito" pitchFamily="34" charset="-120"/>
              </a:rPr>
              <a:t>Công bố theo bảng xếp hạng thường báo EM/F1 TỔNG. Với khoảng 30% câu không có đáp án, số tổng trộn “tìm đúng span” với “biết từ chối”.</a:t>
            </a:r>
            <a:endParaRPr lang="en-US" sz="1050" dirty="0"/>
          </a:p>
        </p:txBody>
      </p:sp>
      <p:sp>
        <p:nvSpPr>
          <p:cNvPr id="9" name="Text 7"/>
          <p:cNvSpPr txBox="1"/>
          <p:nvPr/>
        </p:nvSpPr>
        <p:spPr>
          <a:xfrm>
            <a:off x="5760720" y="1810512"/>
            <a:ext cx="219456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NHÓM LÀM GÌ</a:t>
            </a:r>
            <a:endParaRPr lang="en-US" sz="950" dirty="0"/>
          </a:p>
        </p:txBody>
      </p:sp>
      <p:sp>
        <p:nvSpPr>
          <p:cNvPr id="10" name="Text 8"/>
          <p:cNvSpPr txBox="1"/>
          <p:nvPr/>
        </p:nvSpPr>
        <p:spPr>
          <a:xfrm>
            <a:off x="5760720" y="2057400"/>
            <a:ext cx="5440680" cy="640080"/>
          </a:xfrm>
          <a:prstGeom prst="rect">
            <a:avLst/>
          </a:prstGeom>
          <a:noFill/>
          <a:ln/>
        </p:spPr>
        <p:txBody>
          <a:bodyPr wrap="square" lIns="0" tIns="0" rIns="0" bIns="0" rtlCol="0" anchor="t"/>
          <a:lstStyle/>
          <a:p>
            <a:pPr algn="l" indent="0" marL="0">
              <a:lnSpc>
                <a:spcPts val="1740"/>
              </a:lnSpc>
              <a:buNone/>
            </a:pPr>
            <a:r>
              <a:rPr lang="en-US" sz="1200" dirty="0">
                <a:solidFill>
                  <a:srgbClr val="201E1D"/>
                </a:solidFill>
                <a:latin typeface="Nunito" pitchFamily="34" charset="0"/>
                <a:ea typeface="Nunito" pitchFamily="34" charset="-122"/>
                <a:cs typeface="Nunito" pitchFamily="34" charset="-120"/>
              </a:rPr>
              <a:t>Nhóm tách answerable_only / impossible_only cho cả bốn mô hình, kèm khoảng tin cậy.</a:t>
            </a:r>
            <a:endParaRPr lang="en-US" sz="1200" dirty="0"/>
          </a:p>
        </p:txBody>
      </p:sp>
      <p:sp>
        <p:nvSpPr>
          <p:cNvPr id="11" name="Shape 9"/>
          <p:cNvSpPr/>
          <p:nvPr/>
        </p:nvSpPr>
        <p:spPr>
          <a:xfrm>
            <a:off x="685800" y="2907792"/>
            <a:ext cx="10820095" cy="1152144"/>
          </a:xfrm>
          <a:prstGeom prst="roundRect">
            <a:avLst>
              <a:gd name="adj" fmla="val 12698"/>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12" name="Shape 10"/>
          <p:cNvSpPr/>
          <p:nvPr/>
        </p:nvSpPr>
        <p:spPr>
          <a:xfrm>
            <a:off x="941832" y="3291840"/>
            <a:ext cx="365760" cy="365760"/>
          </a:xfrm>
          <a:prstGeom prst="roundRect">
            <a:avLst>
              <a:gd name="adj" fmla="val 25000"/>
            </a:avLst>
          </a:prstGeom>
          <a:solidFill>
            <a:srgbClr val="C67139"/>
          </a:solidFill>
          <a:ln w="12700">
            <a:solidFill>
              <a:srgbClr val="C67139"/>
            </a:solidFill>
            <a:prstDash val="solid"/>
          </a:ln>
        </p:spPr>
      </p:sp>
      <p:sp>
        <p:nvSpPr>
          <p:cNvPr id="13" name="Text 11"/>
          <p:cNvSpPr txBox="1"/>
          <p:nvPr/>
        </p:nvSpPr>
        <p:spPr>
          <a:xfrm>
            <a:off x="941832" y="32918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Baloo 2" pitchFamily="34" charset="0"/>
                <a:ea typeface="Baloo 2" pitchFamily="34" charset="-122"/>
                <a:cs typeface="Baloo 2" pitchFamily="34" charset="-120"/>
              </a:rPr>
              <a:t>2</a:t>
            </a:r>
            <a:endParaRPr lang="en-US" sz="1500" dirty="0"/>
          </a:p>
        </p:txBody>
      </p:sp>
      <p:sp>
        <p:nvSpPr>
          <p:cNvPr id="14" name="Text 12"/>
          <p:cNvSpPr txBox="1"/>
          <p:nvPr/>
        </p:nvSpPr>
        <p:spPr>
          <a:xfrm>
            <a:off x="1463040" y="3054096"/>
            <a:ext cx="3931920" cy="548640"/>
          </a:xfrm>
          <a:prstGeom prst="rect">
            <a:avLst/>
          </a:prstGeom>
          <a:noFill/>
          <a:ln/>
        </p:spPr>
        <p:txBody>
          <a:bodyPr wrap="square" lIns="0" tIns="0" rIns="0" bIns="0" rtlCol="0" anchor="t"/>
          <a:lstStyle/>
          <a:p>
            <a:pPr algn="l" indent="0" marL="0">
              <a:lnSpc>
                <a:spcPts val="2030"/>
              </a:lnSpc>
              <a:buNone/>
            </a:pPr>
            <a:r>
              <a:rPr lang="en-US" sz="1400" b="1" dirty="0">
                <a:solidFill>
                  <a:srgbClr val="201E1D"/>
                </a:solidFill>
                <a:latin typeface="Nunito" pitchFamily="34" charset="0"/>
                <a:ea typeface="Nunito" pitchFamily="34" charset="-122"/>
                <a:cs typeface="Nunito" pitchFamily="34" charset="-120"/>
              </a:rPr>
              <a:t>Test split công khai đã bị lược nhãn</a:t>
            </a:r>
            <a:endParaRPr lang="en-US" sz="1400" dirty="0"/>
          </a:p>
        </p:txBody>
      </p:sp>
      <p:sp>
        <p:nvSpPr>
          <p:cNvPr id="15" name="Text 13"/>
          <p:cNvSpPr txBox="1"/>
          <p:nvPr/>
        </p:nvSpPr>
        <p:spPr>
          <a:xfrm>
            <a:off x="1463040" y="3529584"/>
            <a:ext cx="3931920" cy="457200"/>
          </a:xfrm>
          <a:prstGeom prst="rect">
            <a:avLst/>
          </a:prstGeom>
          <a:noFill/>
          <a:ln/>
        </p:spPr>
        <p:txBody>
          <a:bodyPr wrap="square" lIns="0" tIns="0" rIns="0" bIns="0" rtlCol="0" anchor="t"/>
          <a:lstStyle/>
          <a:p>
            <a:pPr algn="l" indent="0" marL="0">
              <a:lnSpc>
                <a:spcPts val="1523"/>
              </a:lnSpc>
              <a:buNone/>
            </a:pPr>
            <a:r>
              <a:rPr lang="en-US" sz="1050" dirty="0">
                <a:solidFill>
                  <a:srgbClr val="645C50"/>
                </a:solidFill>
                <a:latin typeface="Nunito" pitchFamily="34" charset="0"/>
                <a:ea typeface="Nunito" pitchFamily="34" charset="-122"/>
                <a:cs typeface="Nunito" pitchFamily="34" charset="-120"/>
              </a:rPr>
              <a:t>Cả 7.301 câu test có gold rỗng nhưng is_impossible = False. Ai chấm trên đó sẽ thấy một mô hình luôn trả rỗng đạt EM 100%.</a:t>
            </a:r>
            <a:endParaRPr lang="en-US" sz="1050" dirty="0"/>
          </a:p>
        </p:txBody>
      </p:sp>
      <p:sp>
        <p:nvSpPr>
          <p:cNvPr id="16" name="Text 14"/>
          <p:cNvSpPr txBox="1"/>
          <p:nvPr/>
        </p:nvSpPr>
        <p:spPr>
          <a:xfrm>
            <a:off x="5760720" y="3072384"/>
            <a:ext cx="219456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NHÓM LÀM GÌ</a:t>
            </a:r>
            <a:endParaRPr lang="en-US" sz="950" dirty="0"/>
          </a:p>
        </p:txBody>
      </p:sp>
      <p:sp>
        <p:nvSpPr>
          <p:cNvPr id="17" name="Text 15"/>
          <p:cNvSpPr txBox="1"/>
          <p:nvPr/>
        </p:nvSpPr>
        <p:spPr>
          <a:xfrm>
            <a:off x="5760720" y="3319272"/>
            <a:ext cx="5440680" cy="640080"/>
          </a:xfrm>
          <a:prstGeom prst="rect">
            <a:avLst/>
          </a:prstGeom>
          <a:noFill/>
          <a:ln/>
        </p:spPr>
        <p:txBody>
          <a:bodyPr wrap="square" lIns="0" tIns="0" rIns="0" bIns="0" rtlCol="0" anchor="t"/>
          <a:lstStyle/>
          <a:p>
            <a:pPr algn="l" indent="0" marL="0">
              <a:lnSpc>
                <a:spcPts val="1740"/>
              </a:lnSpc>
              <a:buNone/>
            </a:pPr>
            <a:r>
              <a:rPr lang="en-US" sz="1200" dirty="0">
                <a:solidFill>
                  <a:srgbClr val="201E1D"/>
                </a:solidFill>
                <a:latin typeface="Nunito" pitchFamily="34" charset="0"/>
                <a:ea typeface="Nunito" pitchFamily="34" charset="-122"/>
                <a:cs typeface="Nunito" pitchFamily="34" charset="-120"/>
              </a:rPr>
              <a:t>Nhóm đo, nói rõ, và chặn bằng assert_gradeable() trước mọi lần chấm.</a:t>
            </a:r>
            <a:endParaRPr lang="en-US" sz="1200" dirty="0"/>
          </a:p>
        </p:txBody>
      </p:sp>
      <p:sp>
        <p:nvSpPr>
          <p:cNvPr id="18" name="Shape 16"/>
          <p:cNvSpPr/>
          <p:nvPr/>
        </p:nvSpPr>
        <p:spPr>
          <a:xfrm>
            <a:off x="685800" y="4169664"/>
            <a:ext cx="10820095" cy="1152144"/>
          </a:xfrm>
          <a:prstGeom prst="roundRect">
            <a:avLst>
              <a:gd name="adj" fmla="val 12698"/>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19" name="Shape 17"/>
          <p:cNvSpPr/>
          <p:nvPr/>
        </p:nvSpPr>
        <p:spPr>
          <a:xfrm>
            <a:off x="941832" y="4553712"/>
            <a:ext cx="365760" cy="365760"/>
          </a:xfrm>
          <a:prstGeom prst="roundRect">
            <a:avLst>
              <a:gd name="adj" fmla="val 25000"/>
            </a:avLst>
          </a:prstGeom>
          <a:solidFill>
            <a:srgbClr val="C67139"/>
          </a:solidFill>
          <a:ln w="12700">
            <a:solidFill>
              <a:srgbClr val="C67139"/>
            </a:solidFill>
            <a:prstDash val="solid"/>
          </a:ln>
        </p:spPr>
      </p:sp>
      <p:sp>
        <p:nvSpPr>
          <p:cNvPr id="20" name="Text 18"/>
          <p:cNvSpPr txBox="1"/>
          <p:nvPr/>
        </p:nvSpPr>
        <p:spPr>
          <a:xfrm>
            <a:off x="941832" y="455371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Baloo 2" pitchFamily="34" charset="0"/>
                <a:ea typeface="Baloo 2" pitchFamily="34" charset="-122"/>
                <a:cs typeface="Baloo 2" pitchFamily="34" charset="-120"/>
              </a:rPr>
              <a:t>3</a:t>
            </a:r>
            <a:endParaRPr lang="en-US" sz="1500" dirty="0"/>
          </a:p>
        </p:txBody>
      </p:sp>
      <p:sp>
        <p:nvSpPr>
          <p:cNvPr id="21" name="Text 19"/>
          <p:cNvSpPr txBox="1"/>
          <p:nvPr/>
        </p:nvSpPr>
        <p:spPr>
          <a:xfrm>
            <a:off x="1463040" y="4315968"/>
            <a:ext cx="3931920" cy="548640"/>
          </a:xfrm>
          <a:prstGeom prst="rect">
            <a:avLst/>
          </a:prstGeom>
          <a:noFill/>
          <a:ln/>
        </p:spPr>
        <p:txBody>
          <a:bodyPr wrap="square" lIns="0" tIns="0" rIns="0" bIns="0" rtlCol="0" anchor="t"/>
          <a:lstStyle/>
          <a:p>
            <a:pPr algn="l" indent="0" marL="0">
              <a:lnSpc>
                <a:spcPts val="2030"/>
              </a:lnSpc>
              <a:buNone/>
            </a:pPr>
            <a:r>
              <a:rPr lang="en-US" sz="1400" b="1" dirty="0">
                <a:solidFill>
                  <a:srgbClr val="201E1D"/>
                </a:solidFill>
                <a:latin typeface="Nunito" pitchFamily="34" charset="0"/>
                <a:ea typeface="Nunito" pitchFamily="34" charset="-122"/>
                <a:cs typeface="Nunito" pitchFamily="34" charset="-120"/>
              </a:rPr>
              <a:t>Ngân sách cửa sổ phụ thuộc tokenizer</a:t>
            </a:r>
            <a:endParaRPr lang="en-US" sz="1400" dirty="0"/>
          </a:p>
        </p:txBody>
      </p:sp>
      <p:sp>
        <p:nvSpPr>
          <p:cNvPr id="22" name="Text 20"/>
          <p:cNvSpPr txBox="1"/>
          <p:nvPr/>
        </p:nvSpPr>
        <p:spPr>
          <a:xfrm>
            <a:off x="1463040" y="4791456"/>
            <a:ext cx="3931920" cy="457200"/>
          </a:xfrm>
          <a:prstGeom prst="rect">
            <a:avLst/>
          </a:prstGeom>
          <a:noFill/>
          <a:ln/>
        </p:spPr>
        <p:txBody>
          <a:bodyPr wrap="square" lIns="0" tIns="0" rIns="0" bIns="0" rtlCol="0" anchor="t"/>
          <a:lstStyle/>
          <a:p>
            <a:pPr algn="l" indent="0" marL="0">
              <a:lnSpc>
                <a:spcPts val="1523"/>
              </a:lnSpc>
              <a:buNone/>
            </a:pPr>
            <a:r>
              <a:rPr lang="en-US" sz="1050" dirty="0">
                <a:solidFill>
                  <a:srgbClr val="645C50"/>
                </a:solidFill>
                <a:latin typeface="Nunito" pitchFamily="34" charset="0"/>
                <a:ea typeface="Nunito" pitchFamily="34" charset="-122"/>
                <a:cs typeface="Nunito" pitchFamily="34" charset="-120"/>
              </a:rPr>
              <a:t>Khi đổi sang encoder tiếng Việt, max_length và độ dài đáp án tối đa thường được giữ nguyên theo tokenizer cũ — một biến gây nhiễu ít được nói tới.</a:t>
            </a:r>
            <a:endParaRPr lang="en-US" sz="1050" dirty="0"/>
          </a:p>
        </p:txBody>
      </p:sp>
      <p:sp>
        <p:nvSpPr>
          <p:cNvPr id="23" name="Text 21"/>
          <p:cNvSpPr txBox="1"/>
          <p:nvPr/>
        </p:nvSpPr>
        <p:spPr>
          <a:xfrm>
            <a:off x="5760720" y="4334256"/>
            <a:ext cx="219456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NHÓM LÀM GÌ</a:t>
            </a:r>
            <a:endParaRPr lang="en-US" sz="950" dirty="0"/>
          </a:p>
        </p:txBody>
      </p:sp>
      <p:sp>
        <p:nvSpPr>
          <p:cNvPr id="24" name="Text 22"/>
          <p:cNvSpPr txBox="1"/>
          <p:nvPr/>
        </p:nvSpPr>
        <p:spPr>
          <a:xfrm>
            <a:off x="5760720" y="4581144"/>
            <a:ext cx="5440680" cy="640080"/>
          </a:xfrm>
          <a:prstGeom prst="rect">
            <a:avLst/>
          </a:prstGeom>
          <a:noFill/>
          <a:ln/>
        </p:spPr>
        <p:txBody>
          <a:bodyPr wrap="square" lIns="0" tIns="0" rIns="0" bIns="0" rtlCol="0" anchor="t"/>
          <a:lstStyle/>
          <a:p>
            <a:pPr algn="l" indent="0" marL="0">
              <a:lnSpc>
                <a:spcPts val="1740"/>
              </a:lnSpc>
              <a:buNone/>
            </a:pPr>
            <a:r>
              <a:rPr lang="en-US" sz="1200" dirty="0">
                <a:solidFill>
                  <a:srgbClr val="201E1D"/>
                </a:solidFill>
                <a:latin typeface="Nunito" pitchFamily="34" charset="0"/>
                <a:ea typeface="Nunito" pitchFamily="34" charset="-122"/>
                <a:cs typeface="Nunito" pitchFamily="34" charset="-120"/>
              </a:rPr>
              <a:t>Nhóm đo mức phân mảnh token và coi đó là confound, không phải kết luận về encoder.</a:t>
            </a:r>
            <a:endParaRPr lang="en-US" sz="1200" dirty="0"/>
          </a:p>
        </p:txBody>
      </p:sp>
      <p:sp>
        <p:nvSpPr>
          <p:cNvPr id="25" name="Shape 23"/>
          <p:cNvSpPr/>
          <p:nvPr/>
        </p:nvSpPr>
        <p:spPr>
          <a:xfrm>
            <a:off x="685800" y="5440680"/>
            <a:ext cx="10820095" cy="777240"/>
          </a:xfrm>
          <a:prstGeom prst="roundRect">
            <a:avLst>
              <a:gd name="adj" fmla="val 18824"/>
            </a:avLst>
          </a:prstGeom>
          <a:solidFill>
            <a:srgbClr val="FFF2EB"/>
          </a:solidFill>
          <a:ln w="12700">
            <a:solidFill>
              <a:srgbClr val="FFF2EB"/>
            </a:solidFill>
            <a:prstDash val="solid"/>
          </a:ln>
        </p:spPr>
      </p:sp>
      <p:sp>
        <p:nvSpPr>
          <p:cNvPr id="26" name="Text 24"/>
          <p:cNvSpPr txBox="1"/>
          <p:nvPr/>
        </p:nvSpPr>
        <p:spPr>
          <a:xfrm>
            <a:off x="1005840" y="5559552"/>
            <a:ext cx="10180015" cy="310896"/>
          </a:xfrm>
          <a:prstGeom prst="rect">
            <a:avLst/>
          </a:prstGeom>
          <a:noFill/>
          <a:ln/>
        </p:spPr>
        <p:txBody>
          <a:bodyPr wrap="square" lIns="0" tIns="0" rIns="0" bIns="0" rtlCol="0" anchor="t"/>
          <a:lstStyle/>
          <a:p>
            <a:pPr algn="l" indent="0" marL="0">
              <a:lnSpc>
                <a:spcPts val="2103"/>
              </a:lnSpc>
              <a:buNone/>
            </a:pPr>
            <a:r>
              <a:rPr lang="en-US" sz="1450" b="1" dirty="0">
                <a:solidFill>
                  <a:srgbClr val="8C491A"/>
                </a:solidFill>
                <a:latin typeface="Nunito" pitchFamily="34" charset="0"/>
                <a:ea typeface="Nunito" pitchFamily="34" charset="-122"/>
                <a:cs typeface="Nunito" pitchFamily="34" charset="-120"/>
              </a:rPr>
              <a:t>GAP nhóm đứng vào là tính ĐÚNG ĐẮN của đánh giá, không phải điểm số.</a:t>
            </a:r>
            <a:endParaRPr lang="en-US" sz="1450" dirty="0"/>
          </a:p>
        </p:txBody>
      </p:sp>
      <p:sp>
        <p:nvSpPr>
          <p:cNvPr id="27" name="Text 25"/>
          <p:cNvSpPr txBox="1"/>
          <p:nvPr/>
        </p:nvSpPr>
        <p:spPr>
          <a:xfrm>
            <a:off x="1005840" y="5843016"/>
            <a:ext cx="10180015" cy="320040"/>
          </a:xfrm>
          <a:prstGeom prst="rect">
            <a:avLst/>
          </a:prstGeom>
          <a:noFill/>
          <a:ln/>
        </p:spPr>
        <p:txBody>
          <a:bodyPr wrap="square" lIns="0" tIns="0" rIns="0" bIns="0" rtlCol="0" anchor="t"/>
          <a:lstStyle/>
          <a:p>
            <a:pPr algn="l" indent="0" marL="0">
              <a:lnSpc>
                <a:spcPts val="1668"/>
              </a:lnSpc>
              <a:buNone/>
            </a:pPr>
            <a:r>
              <a:rPr lang="en-US" sz="1150" dirty="0">
                <a:solidFill>
                  <a:srgbClr val="8C491A"/>
                </a:solidFill>
                <a:latin typeface="Nunito" pitchFamily="34" charset="0"/>
                <a:ea typeface="Nunito" pitchFamily="34" charset="-122"/>
                <a:cs typeface="Nunito" pitchFamily="34" charset="-120"/>
              </a:rPr>
              <a:t>Đề tài không yêu cầu vượt bảng xếp hạng. Giá trị của đồ án nằm ở chỗ mỗi con số chịu được chất vấn: biết nó đo cái gì, trên bao nhiêu mẫu, với độ bất định bao nhiêu.</a:t>
            </a:r>
            <a:endParaRPr lang="en-US" sz="1150" dirty="0"/>
          </a:p>
        </p:txBody>
      </p:sp>
      <p:sp>
        <p:nvSpPr>
          <p:cNvPr id="28" name="Text 26"/>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2 · Các công trình liên quan · GAP</a:t>
            </a:r>
            <a:endParaRPr lang="en-US" sz="1000" dirty="0"/>
          </a:p>
        </p:txBody>
      </p:sp>
      <p:sp>
        <p:nvSpPr>
          <p:cNvPr id="29" name="Text 27"/>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3 · XÂY DỰNG DỮ LIỆU</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808"/>
              </a:lnSpc>
              <a:buNone/>
            </a:pPr>
            <a:r>
              <a:rPr lang="en-US" sz="3400" b="1" dirty="0">
                <a:solidFill>
                  <a:srgbClr val="201E1D"/>
                </a:solidFill>
                <a:latin typeface="Baloo 2" pitchFamily="34" charset="0"/>
                <a:ea typeface="Baloo 2" pitchFamily="34" charset="-122"/>
                <a:cs typeface="Baloo 2" pitchFamily="34" charset="-120"/>
              </a:rPr>
              <a:t>UIT-ViQuAD 2.0 — thống kê đo trực tiếp từ tệp tải về</a:t>
            </a:r>
            <a:endParaRPr lang="en-US" sz="3400" dirty="0"/>
          </a:p>
        </p:txBody>
      </p:sp>
      <p:sp>
        <p:nvSpPr>
          <p:cNvPr id="4" name="Shape 2"/>
          <p:cNvSpPr/>
          <p:nvPr/>
        </p:nvSpPr>
        <p:spPr>
          <a:xfrm>
            <a:off x="685800" y="1664208"/>
            <a:ext cx="6309360" cy="2651760"/>
          </a:xfrm>
          <a:prstGeom prst="roundRect">
            <a:avLst>
              <a:gd name="adj" fmla="val 5517"/>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5" name="Text 3"/>
          <p:cNvSpPr txBox="1"/>
          <p:nvPr/>
        </p:nvSpPr>
        <p:spPr>
          <a:xfrm>
            <a:off x="960120" y="1865376"/>
            <a:ext cx="5760720" cy="219456"/>
          </a:xfrm>
          <a:prstGeom prst="rect">
            <a:avLst/>
          </a:prstGeom>
          <a:noFill/>
          <a:ln/>
        </p:spPr>
        <p:txBody>
          <a:bodyPr wrap="square" lIns="0" tIns="0" rIns="0" bIns="0" rtlCol="0" anchor="ctr"/>
          <a:lstStyle/>
          <a:p>
            <a:pPr indent="0" marL="0">
              <a:buNone/>
            </a:pPr>
            <a:r>
              <a:rPr lang="en-US" sz="950" b="1" spc="160" kern="0" dirty="0">
                <a:solidFill>
                  <a:srgbClr val="645C50"/>
                </a:solidFill>
                <a:latin typeface="Nunito" pitchFamily="34" charset="0"/>
                <a:ea typeface="Nunito" pitchFamily="34" charset="-122"/>
                <a:cs typeface="Nunito" pitchFamily="34" charset="-120"/>
              </a:rPr>
              <a:t>TAIDNG/UIT-VIQUAD2.0 → BA TỆP JSON ĐỊNH DẠNG SQUAD-2.0</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60120" y="2194560"/>
          <a:ext cx="5760720" cy="914400"/>
        </p:xfrm>
        <a:graphic>
          <a:graphicData uri="http://schemas.openxmlformats.org/drawingml/2006/table">
            <a:tbl>
              <a:tblPr/>
              <a:tblGrid>
                <a:gridCol w="1298448"/>
                <a:gridCol w="841248"/>
                <a:gridCol w="804672"/>
                <a:gridCol w="758952"/>
                <a:gridCol w="960120"/>
                <a:gridCol w="1097280"/>
              </a:tblGrid>
              <a:tr h="384048">
                <a:tc>
                  <a:txBody>
                    <a:bodyPr/>
                    <a:lstStyle/>
                    <a:p>
                      <a:pPr algn="l" indent="0" marL="0">
                        <a:buNone/>
                      </a:pPr>
                      <a:r>
                        <a:rPr lang="en-US" sz="950" b="1" spc="120" kern="0" dirty="0">
                          <a:solidFill>
                            <a:srgbClr val="645C50"/>
                          </a:solidFill>
                          <a:latin typeface="Nunito" pitchFamily="34" charset="0"/>
                          <a:ea typeface="Nunito" pitchFamily="34" charset="-122"/>
                          <a:cs typeface="Nunito" pitchFamily="34" charset="-120"/>
                        </a:rPr>
                        <a:t>SPLIT</a:t>
                      </a:r>
                      <a:endParaRPr lang="en-US" sz="9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950" b="1" spc="120" kern="0" dirty="0">
                          <a:solidFill>
                            <a:srgbClr val="645C50"/>
                          </a:solidFill>
                          <a:latin typeface="Nunito" pitchFamily="34" charset="0"/>
                          <a:ea typeface="Nunito" pitchFamily="34" charset="-122"/>
                          <a:cs typeface="Nunito" pitchFamily="34" charset="-120"/>
                        </a:rPr>
                        <a:t>CÂU HỎI</a:t>
                      </a:r>
                      <a:endParaRPr lang="en-US" sz="9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950" b="1" spc="120" kern="0" dirty="0">
                          <a:solidFill>
                            <a:srgbClr val="645C50"/>
                          </a:solidFill>
                          <a:latin typeface="Nunito" pitchFamily="34" charset="0"/>
                          <a:ea typeface="Nunito" pitchFamily="34" charset="-122"/>
                          <a:cs typeface="Nunito" pitchFamily="34" charset="-120"/>
                        </a:rPr>
                        <a:t>CONTEXT</a:t>
                      </a:r>
                      <a:endParaRPr lang="en-US" sz="9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950" b="1" spc="120" kern="0" dirty="0">
                          <a:solidFill>
                            <a:srgbClr val="645C50"/>
                          </a:solidFill>
                          <a:latin typeface="Nunito" pitchFamily="34" charset="0"/>
                          <a:ea typeface="Nunito" pitchFamily="34" charset="-122"/>
                          <a:cs typeface="Nunito" pitchFamily="34" charset="-120"/>
                        </a:rPr>
                        <a:t>ARTICLE</a:t>
                      </a:r>
                      <a:endParaRPr lang="en-US" sz="9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950" b="1" spc="120" kern="0" dirty="0">
                          <a:solidFill>
                            <a:srgbClr val="645C50"/>
                          </a:solidFill>
                          <a:latin typeface="Nunito" pitchFamily="34" charset="0"/>
                          <a:ea typeface="Nunito" pitchFamily="34" charset="-122"/>
                          <a:cs typeface="Nunito" pitchFamily="34" charset="-120"/>
                        </a:rPr>
                        <a:t>IMPOSSIBLE</a:t>
                      </a:r>
                      <a:endParaRPr lang="en-US" sz="9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950" b="1" spc="120" kern="0" dirty="0">
                          <a:solidFill>
                            <a:srgbClr val="645C50"/>
                          </a:solidFill>
                          <a:latin typeface="Nunito" pitchFamily="34" charset="0"/>
                          <a:ea typeface="Nunito" pitchFamily="34" charset="-122"/>
                          <a:cs typeface="Nunito" pitchFamily="34" charset="-120"/>
                        </a:rPr>
                        <a:t>CHẤM ĐƯỢC</a:t>
                      </a:r>
                      <a:endParaRPr lang="en-US" sz="9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r>
              <a:tr h="384048">
                <a:tc>
                  <a:txBody>
                    <a:bodyPr/>
                    <a:lstStyle/>
                    <a:p>
                      <a:pPr algn="l" indent="0" marL="0">
                        <a:buNone/>
                      </a:pPr>
                      <a:r>
                        <a:rPr lang="en-US" sz="1200" dirty="0">
                          <a:solidFill>
                            <a:srgbClr val="201E1D"/>
                          </a:solidFill>
                          <a:latin typeface="Nunito" pitchFamily="34" charset="0"/>
                          <a:ea typeface="Nunito" pitchFamily="34" charset="-122"/>
                          <a:cs typeface="Nunito" pitchFamily="34" charset="-120"/>
                        </a:rPr>
                        <a:t>train</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dirty="0">
                          <a:solidFill>
                            <a:srgbClr val="201E1D"/>
                          </a:solidFill>
                          <a:latin typeface="Nunito" pitchFamily="34" charset="0"/>
                          <a:ea typeface="Nunito" pitchFamily="34" charset="-122"/>
                          <a:cs typeface="Nunito" pitchFamily="34" charset="-120"/>
                        </a:rPr>
                        <a:t>28.454</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dirty="0">
                          <a:solidFill>
                            <a:srgbClr val="201E1D"/>
                          </a:solidFill>
                          <a:latin typeface="Nunito" pitchFamily="34" charset="0"/>
                          <a:ea typeface="Nunito" pitchFamily="34" charset="-122"/>
                          <a:cs typeface="Nunito" pitchFamily="34" charset="-120"/>
                        </a:rPr>
                        <a:t>4.101</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dirty="0">
                          <a:solidFill>
                            <a:srgbClr val="201E1D"/>
                          </a:solidFill>
                          <a:latin typeface="Nunito" pitchFamily="34" charset="0"/>
                          <a:ea typeface="Nunito" pitchFamily="34" charset="-122"/>
                          <a:cs typeface="Nunito" pitchFamily="34" charset="-120"/>
                        </a:rPr>
                        <a:t>138</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dirty="0">
                          <a:solidFill>
                            <a:srgbClr val="201E1D"/>
                          </a:solidFill>
                          <a:latin typeface="Nunito" pitchFamily="34" charset="0"/>
                          <a:ea typeface="Nunito" pitchFamily="34" charset="-122"/>
                          <a:cs typeface="Nunito" pitchFamily="34" charset="-120"/>
                        </a:rPr>
                        <a:t>9.216</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dirty="0">
                          <a:solidFill>
                            <a:srgbClr val="201E1D"/>
                          </a:solidFill>
                          <a:latin typeface="Nunito" pitchFamily="34" charset="0"/>
                          <a:ea typeface="Nunito" pitchFamily="34" charset="-122"/>
                          <a:cs typeface="Nunito" pitchFamily="34" charset="-120"/>
                        </a:rPr>
                        <a:t>28.454</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384048">
                <a:tc>
                  <a:txBody>
                    <a:bodyPr/>
                    <a:lstStyle/>
                    <a:p>
                      <a:pPr algn="l" indent="0" marL="0">
                        <a:buNone/>
                      </a:pPr>
                      <a:r>
                        <a:rPr lang="en-US" sz="1200" dirty="0">
                          <a:solidFill>
                            <a:srgbClr val="201E1D"/>
                          </a:solidFill>
                          <a:latin typeface="Nunito" pitchFamily="34" charset="0"/>
                          <a:ea typeface="Nunito" pitchFamily="34" charset="-122"/>
                          <a:cs typeface="Nunito" pitchFamily="34" charset="-120"/>
                        </a:rPr>
                        <a:t>validation</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dirty="0">
                          <a:solidFill>
                            <a:srgbClr val="201E1D"/>
                          </a:solidFill>
                          <a:latin typeface="Nunito" pitchFamily="34" charset="0"/>
                          <a:ea typeface="Nunito" pitchFamily="34" charset="-122"/>
                          <a:cs typeface="Nunito" pitchFamily="34" charset="-120"/>
                        </a:rPr>
                        <a:t>3.814</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dirty="0">
                          <a:solidFill>
                            <a:srgbClr val="201E1D"/>
                          </a:solidFill>
                          <a:latin typeface="Nunito" pitchFamily="34" charset="0"/>
                          <a:ea typeface="Nunito" pitchFamily="34" charset="-122"/>
                          <a:cs typeface="Nunito" pitchFamily="34" charset="-120"/>
                        </a:rPr>
                        <a:t>557</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dirty="0">
                          <a:solidFill>
                            <a:srgbClr val="201E1D"/>
                          </a:solidFill>
                          <a:latin typeface="Nunito" pitchFamily="34" charset="0"/>
                          <a:ea typeface="Nunito" pitchFamily="34" charset="-122"/>
                          <a:cs typeface="Nunito" pitchFamily="34" charset="-120"/>
                        </a:rPr>
                        <a:t>19</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dirty="0">
                          <a:solidFill>
                            <a:srgbClr val="201E1D"/>
                          </a:solidFill>
                          <a:latin typeface="Nunito" pitchFamily="34" charset="0"/>
                          <a:ea typeface="Nunito" pitchFamily="34" charset="-122"/>
                          <a:cs typeface="Nunito" pitchFamily="34" charset="-120"/>
                        </a:rPr>
                        <a:t>1.161</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dirty="0">
                          <a:solidFill>
                            <a:srgbClr val="201E1D"/>
                          </a:solidFill>
                          <a:latin typeface="Nunito" pitchFamily="34" charset="0"/>
                          <a:ea typeface="Nunito" pitchFamily="34" charset="-122"/>
                          <a:cs typeface="Nunito" pitchFamily="34" charset="-120"/>
                        </a:rPr>
                        <a:t>3.814</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384048">
                <a:tc>
                  <a:txBody>
                    <a:bodyPr/>
                    <a:lstStyle/>
                    <a:p>
                      <a:pPr algn="l" indent="0" marL="0">
                        <a:buNone/>
                      </a:pPr>
                      <a:r>
                        <a:rPr lang="en-US" sz="1200" dirty="0">
                          <a:solidFill>
                            <a:srgbClr val="201E1D"/>
                          </a:solidFill>
                          <a:latin typeface="Nunito" pitchFamily="34" charset="0"/>
                          <a:ea typeface="Nunito" pitchFamily="34" charset="-122"/>
                          <a:cs typeface="Nunito" pitchFamily="34" charset="-120"/>
                        </a:rPr>
                        <a:t>test</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dirty="0">
                          <a:solidFill>
                            <a:srgbClr val="201E1D"/>
                          </a:solidFill>
                          <a:latin typeface="Nunito" pitchFamily="34" charset="0"/>
                          <a:ea typeface="Nunito" pitchFamily="34" charset="-122"/>
                          <a:cs typeface="Nunito" pitchFamily="34" charset="-120"/>
                        </a:rPr>
                        <a:t>7.301</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dirty="0">
                          <a:solidFill>
                            <a:srgbClr val="201E1D"/>
                          </a:solidFill>
                          <a:latin typeface="Nunito" pitchFamily="34" charset="0"/>
                          <a:ea typeface="Nunito" pitchFamily="34" charset="-122"/>
                          <a:cs typeface="Nunito" pitchFamily="34" charset="-120"/>
                        </a:rPr>
                        <a:t>1.241</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dirty="0">
                          <a:solidFill>
                            <a:srgbClr val="201E1D"/>
                          </a:solidFill>
                          <a:latin typeface="Nunito" pitchFamily="34" charset="0"/>
                          <a:ea typeface="Nunito" pitchFamily="34" charset="-122"/>
                          <a:cs typeface="Nunito" pitchFamily="34" charset="-120"/>
                        </a:rPr>
                        <a:t>48</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dirty="0">
                          <a:solidFill>
                            <a:srgbClr val="201E1D"/>
                          </a:solidFill>
                          <a:latin typeface="Nunito" pitchFamily="34" charset="0"/>
                          <a:ea typeface="Nunito" pitchFamily="34" charset="-122"/>
                          <a:cs typeface="Nunito" pitchFamily="34" charset="-120"/>
                        </a:rPr>
                        <a:t>0</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b="1" dirty="0">
                          <a:solidFill>
                            <a:srgbClr val="8C491A"/>
                          </a:solidFill>
                          <a:latin typeface="Nunito" pitchFamily="34" charset="0"/>
                          <a:ea typeface="Nunito" pitchFamily="34" charset="-122"/>
                          <a:cs typeface="Nunito" pitchFamily="34" charset="-120"/>
                        </a:rPr>
                        <a:t>0</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bl>
          </a:graphicData>
        </a:graphic>
      </p:graphicFrame>
      <p:sp>
        <p:nvSpPr>
          <p:cNvPr id="7" name="Text 4"/>
          <p:cNvSpPr txBox="1"/>
          <p:nvPr/>
        </p:nvSpPr>
        <p:spPr>
          <a:xfrm>
            <a:off x="960120" y="3657600"/>
            <a:ext cx="5760720" cy="548640"/>
          </a:xfrm>
          <a:prstGeom prst="rect">
            <a:avLst/>
          </a:prstGeom>
          <a:noFill/>
          <a:ln/>
        </p:spPr>
        <p:txBody>
          <a:bodyPr wrap="square" lIns="0" tIns="0" rIns="0" bIns="0" rtlCol="0" anchor="t"/>
          <a:lstStyle/>
          <a:p>
            <a:pPr algn="l" indent="0" marL="0">
              <a:lnSpc>
                <a:spcPts val="1595"/>
              </a:lnSpc>
              <a:buNone/>
            </a:pPr>
            <a:r>
              <a:rPr lang="en-US" sz="1100" dirty="0">
                <a:solidFill>
                  <a:srgbClr val="645C50"/>
                </a:solidFill>
                <a:latin typeface="Nunito" pitchFamily="34" charset="0"/>
                <a:ea typeface="Nunito" pitchFamily="34" charset="-122"/>
                <a:cs typeface="Nunito" pitchFamily="34" charset="-120"/>
              </a:rPr>
              <a:t>Đơn vị dedup và chống rò rỉ là CONTEXT, không phải ARTICLE: train có 138 bài viết nhưng 4.101 đoạn văn — nhầm hai đơn vị này làm vô hiệu hoá chính cơ chế bảo vệ.</a:t>
            </a:r>
            <a:endParaRPr lang="en-US" sz="1100" dirty="0"/>
          </a:p>
        </p:txBody>
      </p:sp>
      <p:sp>
        <p:nvSpPr>
          <p:cNvPr id="8" name="Shape 5"/>
          <p:cNvSpPr/>
          <p:nvPr/>
        </p:nvSpPr>
        <p:spPr>
          <a:xfrm>
            <a:off x="7223760" y="1664208"/>
            <a:ext cx="4279392" cy="2651760"/>
          </a:xfrm>
          <a:prstGeom prst="roundRect">
            <a:avLst>
              <a:gd name="adj" fmla="val 5517"/>
            </a:avLst>
          </a:prstGeom>
          <a:solidFill>
            <a:srgbClr val="FFF2EB"/>
          </a:solidFill>
          <a:ln w="12700">
            <a:solidFill>
              <a:srgbClr val="FFF2EB"/>
            </a:solidFill>
            <a:prstDash val="solid"/>
          </a:ln>
          <a:effectLst>
            <a:outerShdw sx="100000" sy="100000" kx="0" ky="0" algn="bl" rotWithShape="0" blurRad="101600" dist="25400" dir="5400000">
              <a:srgbClr val="2E2B25">
                <a:alpha val="12000"/>
              </a:srgbClr>
            </a:outerShdw>
          </a:effectLst>
        </p:spPr>
      </p:sp>
      <p:sp>
        <p:nvSpPr>
          <p:cNvPr id="9" name="Text 6"/>
          <p:cNvSpPr txBox="1"/>
          <p:nvPr/>
        </p:nvSpPr>
        <p:spPr>
          <a:xfrm>
            <a:off x="7498080" y="1865376"/>
            <a:ext cx="3749040" cy="219456"/>
          </a:xfrm>
          <a:prstGeom prst="rect">
            <a:avLst/>
          </a:prstGeom>
          <a:noFill/>
          <a:ln/>
        </p:spPr>
        <p:txBody>
          <a:bodyPr wrap="square" lIns="0" tIns="0" rIns="0" bIns="0" rtlCol="0" anchor="ctr"/>
          <a:lstStyle/>
          <a:p>
            <a:pPr indent="0" marL="0">
              <a:buNone/>
            </a:pPr>
            <a:r>
              <a:rPr lang="en-US" sz="950" b="1" spc="160" kern="0" dirty="0">
                <a:solidFill>
                  <a:srgbClr val="8C491A"/>
                </a:solidFill>
                <a:latin typeface="Nunito" pitchFamily="34" charset="0"/>
                <a:ea typeface="Nunito" pitchFamily="34" charset="-122"/>
                <a:cs typeface="Nunito" pitchFamily="34" charset="-120"/>
              </a:rPr>
              <a:t>PHÁT HIỆN: TEST SPLIT LÀ TẬP ẨN NHÃN</a:t>
            </a:r>
            <a:endParaRPr lang="en-US" sz="950" dirty="0"/>
          </a:p>
        </p:txBody>
      </p:sp>
      <p:sp>
        <p:nvSpPr>
          <p:cNvPr id="10" name="Text 7"/>
          <p:cNvSpPr txBox="1"/>
          <p:nvPr/>
        </p:nvSpPr>
        <p:spPr>
          <a:xfrm>
            <a:off x="7498080" y="2139696"/>
            <a:ext cx="3749040" cy="548640"/>
          </a:xfrm>
          <a:prstGeom prst="rect">
            <a:avLst/>
          </a:prstGeom>
          <a:noFill/>
          <a:ln/>
        </p:spPr>
        <p:txBody>
          <a:bodyPr wrap="square" lIns="0" tIns="0" rIns="0" bIns="0" rtlCol="0" anchor="t"/>
          <a:lstStyle/>
          <a:p>
            <a:pPr algn="l" indent="0" marL="0">
              <a:lnSpc>
                <a:spcPts val="1958"/>
              </a:lnSpc>
              <a:buNone/>
            </a:pPr>
            <a:r>
              <a:rPr lang="en-US" sz="1350" b="1" dirty="0">
                <a:solidFill>
                  <a:srgbClr val="8C491A"/>
                </a:solidFill>
                <a:latin typeface="Nunito" pitchFamily="34" charset="0"/>
                <a:ea typeface="Nunito" pitchFamily="34" charset="-122"/>
                <a:cs typeface="Nunito" pitchFamily="34" charset="-120"/>
              </a:rPr>
              <a:t>7.301 câu test đều có gold rỗng, đồng thời is_impossible = False.</a:t>
            </a:r>
            <a:endParaRPr lang="en-US" sz="1350" dirty="0"/>
          </a:p>
        </p:txBody>
      </p:sp>
      <p:sp>
        <p:nvSpPr>
          <p:cNvPr id="11" name="Text 8"/>
          <p:cNvSpPr txBox="1"/>
          <p:nvPr/>
        </p:nvSpPr>
        <p:spPr>
          <a:xfrm>
            <a:off x="7498080" y="2743200"/>
            <a:ext cx="3749040" cy="731520"/>
          </a:xfrm>
          <a:prstGeom prst="rect">
            <a:avLst/>
          </a:prstGeom>
          <a:noFill/>
          <a:ln/>
        </p:spPr>
        <p:txBody>
          <a:bodyPr wrap="square" lIns="0" tIns="0" rIns="0" bIns="0" rtlCol="0" anchor="t"/>
          <a:lstStyle/>
          <a:p>
            <a:pPr algn="l" indent="0" marL="0">
              <a:lnSpc>
                <a:spcPts val="1740"/>
              </a:lnSpc>
              <a:buNone/>
            </a:pPr>
            <a:r>
              <a:rPr lang="en-US" sz="1200" dirty="0">
                <a:solidFill>
                  <a:srgbClr val="8C491A"/>
                </a:solidFill>
                <a:latin typeface="Nunito" pitchFamily="34" charset="0"/>
                <a:ea typeface="Nunito" pitchFamily="34" charset="-122"/>
                <a:cs typeface="Nunito" pitchFamily="34" charset="-120"/>
              </a:rPr>
              <a:t>Hai điều đó mâu thuẫn nhau nếu coi là nhãn thật ⇒ đáp án đã bị lược bỏ để dùng cho bảng xếp hạng.</a:t>
            </a:r>
            <a:endParaRPr lang="en-US" sz="1200" dirty="0"/>
          </a:p>
        </p:txBody>
      </p:sp>
      <p:sp>
        <p:nvSpPr>
          <p:cNvPr id="12" name="Text 9"/>
          <p:cNvSpPr txBox="1"/>
          <p:nvPr/>
        </p:nvSpPr>
        <p:spPr>
          <a:xfrm>
            <a:off x="7498080" y="3529584"/>
            <a:ext cx="3749040" cy="320040"/>
          </a:xfrm>
          <a:prstGeom prst="rect">
            <a:avLst/>
          </a:prstGeom>
          <a:noFill/>
          <a:ln/>
        </p:spPr>
        <p:txBody>
          <a:bodyPr wrap="square" lIns="0" tIns="0" rIns="0" bIns="0" rtlCol="0" anchor="t"/>
          <a:lstStyle/>
          <a:p>
            <a:pPr algn="l" indent="0" marL="0">
              <a:lnSpc>
                <a:spcPts val="1885"/>
              </a:lnSpc>
              <a:buNone/>
            </a:pPr>
            <a:r>
              <a:rPr lang="en-US" sz="1300" b="1" dirty="0">
                <a:solidFill>
                  <a:srgbClr val="8C491A"/>
                </a:solidFill>
                <a:latin typeface="Nunito" pitchFamily="34" charset="0"/>
                <a:ea typeface="Nunito" pitchFamily="34" charset="-122"/>
                <a:cs typeface="Nunito" pitchFamily="34" charset="-120"/>
              </a:rPr>
              <a:t>Chấm nhầm trên tập này → EM 100%.</a:t>
            </a:r>
            <a:endParaRPr lang="en-US" sz="1300" dirty="0"/>
          </a:p>
        </p:txBody>
      </p:sp>
      <p:sp>
        <p:nvSpPr>
          <p:cNvPr id="13" name="Text 10"/>
          <p:cNvSpPr txBox="1"/>
          <p:nvPr/>
        </p:nvSpPr>
        <p:spPr>
          <a:xfrm>
            <a:off x="7498080" y="3877056"/>
            <a:ext cx="3749040" cy="320040"/>
          </a:xfrm>
          <a:prstGeom prst="rect">
            <a:avLst/>
          </a:prstGeom>
          <a:noFill/>
          <a:ln/>
        </p:spPr>
        <p:txBody>
          <a:bodyPr wrap="square" lIns="0" tIns="0" rIns="0" bIns="0" rtlCol="0" anchor="t"/>
          <a:lstStyle/>
          <a:p>
            <a:pPr algn="l" indent="0" marL="0">
              <a:lnSpc>
                <a:spcPts val="1740"/>
              </a:lnSpc>
              <a:buNone/>
            </a:pPr>
            <a:r>
              <a:rPr lang="en-US" sz="1200" i="1" dirty="0">
                <a:solidFill>
                  <a:srgbClr val="8C491A"/>
                </a:solidFill>
                <a:latin typeface="Nunito" pitchFamily="34" charset="0"/>
                <a:ea typeface="Nunito" pitchFamily="34" charset="-122"/>
                <a:cs typeface="Nunito" pitchFamily="34" charset="-120"/>
              </a:rPr>
              <a:t>⇒ Mọi kết quả của đồ án đo trên validation.</a:t>
            </a:r>
            <a:endParaRPr lang="en-US" sz="1200" dirty="0"/>
          </a:p>
        </p:txBody>
      </p:sp>
      <p:sp>
        <p:nvSpPr>
          <p:cNvPr id="14" name="Shape 11"/>
          <p:cNvSpPr/>
          <p:nvPr/>
        </p:nvSpPr>
        <p:spPr>
          <a:xfrm>
            <a:off x="685800" y="4480560"/>
            <a:ext cx="10820095" cy="914400"/>
          </a:xfrm>
          <a:prstGeom prst="roundRect">
            <a:avLst>
              <a:gd name="adj" fmla="val 16000"/>
            </a:avLst>
          </a:prstGeom>
          <a:solidFill>
            <a:srgbClr val="EBDDC5"/>
          </a:solidFill>
          <a:ln w="12700">
            <a:solidFill>
              <a:srgbClr val="EBDDC5"/>
            </a:solidFill>
            <a:prstDash val="solid"/>
          </a:ln>
        </p:spPr>
      </p:sp>
      <p:sp>
        <p:nvSpPr>
          <p:cNvPr id="15" name="Text 12"/>
          <p:cNvSpPr txBox="1"/>
          <p:nvPr/>
        </p:nvSpPr>
        <p:spPr>
          <a:xfrm>
            <a:off x="1005840" y="4626864"/>
            <a:ext cx="4206240" cy="292608"/>
          </a:xfrm>
          <a:prstGeom prst="rect">
            <a:avLst/>
          </a:prstGeom>
          <a:noFill/>
          <a:ln/>
        </p:spPr>
        <p:txBody>
          <a:bodyPr wrap="square" lIns="0" tIns="0" rIns="0" bIns="0" rtlCol="0" anchor="t"/>
          <a:lstStyle/>
          <a:p>
            <a:pPr algn="l" indent="0" marL="0">
              <a:lnSpc>
                <a:spcPts val="2103"/>
              </a:lnSpc>
              <a:buNone/>
            </a:pPr>
            <a:r>
              <a:rPr lang="en-US" sz="1450" b="1" dirty="0">
                <a:solidFill>
                  <a:srgbClr val="201E1D"/>
                </a:solidFill>
                <a:latin typeface="Nunito" pitchFamily="34" charset="0"/>
                <a:ea typeface="Nunito" pitchFamily="34" charset="-122"/>
                <a:cs typeface="Nunito" pitchFamily="34" charset="-120"/>
              </a:rPr>
              <a:t>Chặn bằng code, không bằng lời hứa</a:t>
            </a:r>
            <a:endParaRPr lang="en-US" sz="1450" dirty="0"/>
          </a:p>
        </p:txBody>
      </p:sp>
      <p:sp>
        <p:nvSpPr>
          <p:cNvPr id="16" name="Text 13"/>
          <p:cNvSpPr txBox="1"/>
          <p:nvPr/>
        </p:nvSpPr>
        <p:spPr>
          <a:xfrm>
            <a:off x="1005840" y="4937760"/>
            <a:ext cx="4206240" cy="292608"/>
          </a:xfrm>
          <a:prstGeom prst="rect">
            <a:avLst/>
          </a:prstGeom>
          <a:noFill/>
          <a:ln/>
        </p:spPr>
        <p:txBody>
          <a:bodyPr wrap="square" lIns="0" tIns="0" rIns="0" bIns="0" rtlCol="0" anchor="ctr"/>
          <a:lstStyle/>
          <a:p>
            <a:pPr algn="l" indent="0" marL="0">
              <a:buNone/>
            </a:pPr>
            <a:r>
              <a:rPr lang="en-US" sz="1300" b="1" dirty="0">
                <a:solidFill>
                  <a:srgbClr val="8C491A"/>
                </a:solidFill>
                <a:latin typeface="Courier New" pitchFamily="34" charset="0"/>
                <a:ea typeface="Courier New" pitchFamily="34" charset="-122"/>
                <a:cs typeface="Courier New" pitchFamily="34" charset="-120"/>
              </a:rPr>
              <a:t>assert_gradeable(examples)</a:t>
            </a:r>
            <a:endParaRPr lang="en-US" sz="1300" dirty="0"/>
          </a:p>
        </p:txBody>
      </p:sp>
      <p:sp>
        <p:nvSpPr>
          <p:cNvPr id="17" name="Text 14"/>
          <p:cNvSpPr txBox="1"/>
          <p:nvPr/>
        </p:nvSpPr>
        <p:spPr>
          <a:xfrm>
            <a:off x="5120640" y="4590288"/>
            <a:ext cx="1097280" cy="365760"/>
          </a:xfrm>
          <a:prstGeom prst="rect">
            <a:avLst/>
          </a:prstGeom>
          <a:noFill/>
          <a:ln/>
        </p:spPr>
        <p:txBody>
          <a:bodyPr wrap="square" lIns="0" tIns="0" rIns="0" bIns="0" rtlCol="0" anchor="ctr"/>
          <a:lstStyle/>
          <a:p>
            <a:pPr indent="0" marL="0">
              <a:buNone/>
            </a:pPr>
            <a:r>
              <a:rPr lang="en-US" sz="2000" b="1" dirty="0">
                <a:solidFill>
                  <a:srgbClr val="C67139"/>
                </a:solidFill>
                <a:latin typeface="Baloo 2" pitchFamily="34" charset="0"/>
                <a:ea typeface="Baloo 2" pitchFamily="34" charset="-122"/>
                <a:cs typeface="Baloo 2" pitchFamily="34" charset="-120"/>
              </a:rPr>
              <a:t>0</a:t>
            </a:r>
            <a:endParaRPr lang="en-US" sz="2000" dirty="0"/>
          </a:p>
        </p:txBody>
      </p:sp>
      <p:sp>
        <p:nvSpPr>
          <p:cNvPr id="18" name="Text 15"/>
          <p:cNvSpPr txBox="1"/>
          <p:nvPr/>
        </p:nvSpPr>
        <p:spPr>
          <a:xfrm>
            <a:off x="6263640" y="4608576"/>
            <a:ext cx="2057400" cy="731520"/>
          </a:xfrm>
          <a:prstGeom prst="rect">
            <a:avLst/>
          </a:prstGeom>
          <a:noFill/>
          <a:ln/>
        </p:spPr>
        <p:txBody>
          <a:bodyPr wrap="square" lIns="0" tIns="0" rIns="0" bIns="0" rtlCol="0" anchor="t"/>
          <a:lstStyle/>
          <a:p>
            <a:pPr algn="l" indent="0" marL="0">
              <a:lnSpc>
                <a:spcPts val="1450"/>
              </a:lnSpc>
              <a:buNone/>
            </a:pPr>
            <a:r>
              <a:rPr lang="en-US" sz="1000" dirty="0">
                <a:solidFill>
                  <a:srgbClr val="645C50"/>
                </a:solidFill>
                <a:latin typeface="Nunito" pitchFamily="34" charset="0"/>
                <a:ea typeface="Nunito" pitchFamily="34" charset="-122"/>
                <a:cs typeface="Nunito" pitchFamily="34" charset="-120"/>
              </a:rPr>
              <a:t>đoạn văn chung giữa train và validation — assert_no_leakage() xác nhận trước mỗi lần fine-tune</a:t>
            </a:r>
            <a:endParaRPr lang="en-US" sz="1000" dirty="0"/>
          </a:p>
        </p:txBody>
      </p:sp>
      <p:sp>
        <p:nvSpPr>
          <p:cNvPr id="19" name="Text 16"/>
          <p:cNvSpPr txBox="1"/>
          <p:nvPr/>
        </p:nvSpPr>
        <p:spPr>
          <a:xfrm>
            <a:off x="8366760" y="4590288"/>
            <a:ext cx="1097280" cy="365760"/>
          </a:xfrm>
          <a:prstGeom prst="rect">
            <a:avLst/>
          </a:prstGeom>
          <a:noFill/>
          <a:ln/>
        </p:spPr>
        <p:txBody>
          <a:bodyPr wrap="square" lIns="0" tIns="0" rIns="0" bIns="0" rtlCol="0" anchor="ctr"/>
          <a:lstStyle/>
          <a:p>
            <a:pPr indent="0" marL="0">
              <a:buNone/>
            </a:pPr>
            <a:r>
              <a:rPr lang="en-US" sz="2000" b="1" dirty="0">
                <a:solidFill>
                  <a:srgbClr val="C67139"/>
                </a:solidFill>
                <a:latin typeface="Baloo 2" pitchFamily="34" charset="0"/>
                <a:ea typeface="Baloo 2" pitchFamily="34" charset="-122"/>
                <a:cs typeface="Baloo 2" pitchFamily="34" charset="-120"/>
              </a:rPr>
              <a:t>449 / 133</a:t>
            </a:r>
            <a:endParaRPr lang="en-US" sz="2000" dirty="0"/>
          </a:p>
        </p:txBody>
      </p:sp>
      <p:sp>
        <p:nvSpPr>
          <p:cNvPr id="20" name="Text 17"/>
          <p:cNvSpPr txBox="1"/>
          <p:nvPr/>
        </p:nvSpPr>
        <p:spPr>
          <a:xfrm>
            <a:off x="9509760" y="4608576"/>
            <a:ext cx="2057400" cy="731520"/>
          </a:xfrm>
          <a:prstGeom prst="rect">
            <a:avLst/>
          </a:prstGeom>
          <a:noFill/>
          <a:ln/>
        </p:spPr>
        <p:txBody>
          <a:bodyPr wrap="square" lIns="0" tIns="0" rIns="0" bIns="0" rtlCol="0" anchor="t"/>
          <a:lstStyle/>
          <a:p>
            <a:pPr algn="l" indent="0" marL="0">
              <a:lnSpc>
                <a:spcPts val="1450"/>
              </a:lnSpc>
              <a:buNone/>
            </a:pPr>
            <a:r>
              <a:rPr lang="en-US" sz="1000" dirty="0">
                <a:solidFill>
                  <a:srgbClr val="645C50"/>
                </a:solidFill>
                <a:latin typeface="Nunito" pitchFamily="34" charset="0"/>
                <a:ea typeface="Nunito" pitchFamily="34" charset="-122"/>
                <a:cs typeface="Nunito" pitchFamily="34" charset="-120"/>
              </a:rPr>
              <a:t>đoạn văn test chung với train / với validation — cảnh báo cho ai định tự gán nhãn lại test</a:t>
            </a:r>
            <a:endParaRPr lang="en-US" sz="1000" dirty="0"/>
          </a:p>
        </p:txBody>
      </p:sp>
      <p:sp>
        <p:nvSpPr>
          <p:cNvPr id="21" name="Shape 18"/>
          <p:cNvSpPr/>
          <p:nvPr/>
        </p:nvSpPr>
        <p:spPr>
          <a:xfrm>
            <a:off x="685800" y="5486400"/>
            <a:ext cx="10820095" cy="731520"/>
          </a:xfrm>
          <a:prstGeom prst="roundRect">
            <a:avLst>
              <a:gd name="adj" fmla="val 20000"/>
            </a:avLst>
          </a:prstGeom>
          <a:solidFill>
            <a:srgbClr val="F0FAE1"/>
          </a:solidFill>
          <a:ln w="12700">
            <a:solidFill>
              <a:srgbClr val="F0FAE1"/>
            </a:solidFill>
            <a:prstDash val="solid"/>
          </a:ln>
        </p:spPr>
      </p:sp>
      <p:sp>
        <p:nvSpPr>
          <p:cNvPr id="22" name="Text 19"/>
          <p:cNvSpPr txBox="1"/>
          <p:nvPr/>
        </p:nvSpPr>
        <p:spPr>
          <a:xfrm>
            <a:off x="1005840" y="5605272"/>
            <a:ext cx="10180015" cy="310896"/>
          </a:xfrm>
          <a:prstGeom prst="rect">
            <a:avLst/>
          </a:prstGeom>
          <a:noFill/>
          <a:ln/>
        </p:spPr>
        <p:txBody>
          <a:bodyPr wrap="square" lIns="0" tIns="0" rIns="0" bIns="0" rtlCol="0" anchor="t"/>
          <a:lstStyle/>
          <a:p>
            <a:pPr algn="l" indent="0" marL="0">
              <a:lnSpc>
                <a:spcPts val="2103"/>
              </a:lnSpc>
              <a:buNone/>
            </a:pPr>
            <a:r>
              <a:rPr lang="en-US" sz="1450" b="1" dirty="0">
                <a:solidFill>
                  <a:srgbClr val="3D472B"/>
                </a:solidFill>
                <a:latin typeface="Nunito" pitchFamily="34" charset="0"/>
                <a:ea typeface="Nunito" pitchFamily="34" charset="-122"/>
                <a:cs typeface="Nunito" pitchFamily="34" charset="-120"/>
              </a:rPr>
              <a:t>Hệ quả thiết kế: validation là tập đánh giá cuối, và điều đó được nói rõ trong phần hạn chế.</a:t>
            </a:r>
            <a:endParaRPr lang="en-US" sz="1450" dirty="0"/>
          </a:p>
        </p:txBody>
      </p:sp>
      <p:sp>
        <p:nvSpPr>
          <p:cNvPr id="23" name="Text 20"/>
          <p:cNvSpPr txBox="1"/>
          <p:nvPr/>
        </p:nvSpPr>
        <p:spPr>
          <a:xfrm>
            <a:off x="1005840" y="5888736"/>
            <a:ext cx="10180015" cy="274320"/>
          </a:xfrm>
          <a:prstGeom prst="rect">
            <a:avLst/>
          </a:prstGeom>
          <a:noFill/>
          <a:ln/>
        </p:spPr>
        <p:txBody>
          <a:bodyPr wrap="square" lIns="0" tIns="0" rIns="0" bIns="0" rtlCol="0" anchor="t"/>
          <a:lstStyle/>
          <a:p>
            <a:pPr algn="l" indent="0" marL="0">
              <a:lnSpc>
                <a:spcPts val="1668"/>
              </a:lnSpc>
              <a:buNone/>
            </a:pPr>
            <a:r>
              <a:rPr lang="en-US" sz="1150" dirty="0">
                <a:solidFill>
                  <a:srgbClr val="3D472B"/>
                </a:solidFill>
                <a:latin typeface="Nunito" pitchFamily="34" charset="0"/>
                <a:ea typeface="Nunito" pitchFamily="34" charset="-122"/>
                <a:cs typeface="Nunito" pitchFamily="34" charset="-120"/>
              </a:rPr>
              <a:t>Validation cũng được dùng để chọn epoch (trên mẫu 300 câu), nên hai mô hình fine-tune có thể lạc quan nhẹ so với một tập kiểm tra độc lập hoàn toàn.</a:t>
            </a:r>
            <a:endParaRPr lang="en-US" sz="1150" dirty="0"/>
          </a:p>
        </p:txBody>
      </p:sp>
      <p:sp>
        <p:nvSpPr>
          <p:cNvPr id="24" name="Text 21"/>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3 · Xây dựng dữ liệu · Nguồn &amp; split</a:t>
            </a:r>
            <a:endParaRPr lang="en-US" sz="1000" dirty="0"/>
          </a:p>
        </p:txBody>
      </p:sp>
      <p:sp>
        <p:nvSpPr>
          <p:cNvPr id="25" name="Text 22"/>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3 · XÂY DỰNG DỮ LIỆU · THỐNG KÊ &amp; PHÂN TÍCH</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808"/>
              </a:lnSpc>
              <a:buNone/>
            </a:pPr>
            <a:r>
              <a:rPr lang="en-US" sz="3400" b="1" dirty="0">
                <a:solidFill>
                  <a:srgbClr val="201E1D"/>
                </a:solidFill>
                <a:latin typeface="Baloo 2" pitchFamily="34" charset="0"/>
                <a:ea typeface="Baloo 2" pitchFamily="34" charset="-122"/>
                <a:cs typeface="Baloo 2" pitchFamily="34" charset="-120"/>
              </a:rPr>
              <a:t>Phân bố nhãn và phân bố độ dài</a:t>
            </a:r>
            <a:endParaRPr lang="en-US" sz="3400" dirty="0"/>
          </a:p>
        </p:txBody>
      </p:sp>
      <p:sp>
        <p:nvSpPr>
          <p:cNvPr id="4" name="Shape 2"/>
          <p:cNvSpPr/>
          <p:nvPr/>
        </p:nvSpPr>
        <p:spPr>
          <a:xfrm>
            <a:off x="685800" y="1645920"/>
            <a:ext cx="5120640" cy="2377440"/>
          </a:xfrm>
          <a:prstGeom prst="roundRect">
            <a:avLst>
              <a:gd name="adj" fmla="val 6154"/>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5" name="Text 3"/>
          <p:cNvSpPr txBox="1"/>
          <p:nvPr/>
        </p:nvSpPr>
        <p:spPr>
          <a:xfrm>
            <a:off x="978408" y="1828800"/>
            <a:ext cx="448056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PHÂN BỐ NHÃN</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78408" y="2103120"/>
          <a:ext cx="4480560" cy="914400"/>
        </p:xfrm>
        <a:graphic>
          <a:graphicData uri="http://schemas.openxmlformats.org/drawingml/2006/table">
            <a:tbl>
              <a:tblPr/>
              <a:tblGrid>
                <a:gridCol w="1828800"/>
                <a:gridCol w="1737360"/>
                <a:gridCol w="914400"/>
              </a:tblGrid>
              <a:tr h="274320">
                <a:tc>
                  <a:txBody>
                    <a:bodyPr/>
                    <a:lstStyle/>
                    <a:p>
                      <a:pPr algn="l" indent="0" marL="0">
                        <a:buNone/>
                      </a:pPr>
                      <a:r>
                        <a:rPr lang="en-US" sz="850" b="1" spc="120" kern="0" dirty="0">
                          <a:solidFill>
                            <a:srgbClr val="645C50"/>
                          </a:solidFill>
                          <a:latin typeface="Nunito" pitchFamily="34" charset="0"/>
                          <a:ea typeface="Nunito" pitchFamily="34" charset="-122"/>
                          <a:cs typeface="Nunito" pitchFamily="34" charset="-120"/>
                        </a:rPr>
                        <a:t>TẬP</a:t>
                      </a:r>
                      <a:endParaRPr lang="en-US" sz="8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850" b="1" spc="120" kern="0" dirty="0">
                          <a:solidFill>
                            <a:srgbClr val="645C50"/>
                          </a:solidFill>
                          <a:latin typeface="Nunito" pitchFamily="34" charset="0"/>
                          <a:ea typeface="Nunito" pitchFamily="34" charset="-122"/>
                          <a:cs typeface="Nunito" pitchFamily="34" charset="-120"/>
                        </a:rPr>
                        <a:t>KHÔNG CÓ ĐÁP ÁN</a:t>
                      </a:r>
                      <a:endParaRPr lang="en-US" sz="8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850" b="1" spc="120" kern="0" dirty="0">
                          <a:solidFill>
                            <a:srgbClr val="645C50"/>
                          </a:solidFill>
                          <a:latin typeface="Nunito" pitchFamily="34" charset="0"/>
                          <a:ea typeface="Nunito" pitchFamily="34" charset="-122"/>
                          <a:cs typeface="Nunito" pitchFamily="34" charset="-120"/>
                        </a:rPr>
                        <a:t>TỈ LỆ</a:t>
                      </a:r>
                      <a:endParaRPr lang="en-US" sz="8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r>
              <a:tr h="274320">
                <a:tc>
                  <a:txBody>
                    <a:bodyPr/>
                    <a:lstStyle/>
                    <a:p>
                      <a:pPr algn="l" indent="0" marL="0">
                        <a:buNone/>
                      </a:pPr>
                      <a:r>
                        <a:rPr lang="en-US" sz="1100" dirty="0">
                          <a:solidFill>
                            <a:srgbClr val="201E1D"/>
                          </a:solidFill>
                          <a:latin typeface="Nunito" pitchFamily="34" charset="0"/>
                          <a:ea typeface="Nunito" pitchFamily="34" charset="-122"/>
                          <a:cs typeface="Nunito" pitchFamily="34" charset="-120"/>
                        </a:rPr>
                        <a:t>train</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9.216 / 28.454</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32,39%</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74320">
                <a:tc>
                  <a:txBody>
                    <a:bodyPr/>
                    <a:lstStyle/>
                    <a:p>
                      <a:pPr algn="l" indent="0" marL="0">
                        <a:buNone/>
                      </a:pPr>
                      <a:r>
                        <a:rPr lang="en-US" sz="1100" dirty="0">
                          <a:solidFill>
                            <a:srgbClr val="201E1D"/>
                          </a:solidFill>
                          <a:latin typeface="Nunito" pitchFamily="34" charset="0"/>
                          <a:ea typeface="Nunito" pitchFamily="34" charset="-122"/>
                          <a:cs typeface="Nunito" pitchFamily="34" charset="-120"/>
                        </a:rPr>
                        <a:t>validation</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1.161 / 3.814</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30,44%</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74320">
                <a:tc>
                  <a:txBody>
                    <a:bodyPr/>
                    <a:lstStyle/>
                    <a:p>
                      <a:pPr algn="l" indent="0" marL="0">
                        <a:buNone/>
                      </a:pPr>
                      <a:r>
                        <a:rPr lang="en-US" sz="1100" dirty="0">
                          <a:solidFill>
                            <a:srgbClr val="201E1D"/>
                          </a:solidFill>
                          <a:latin typeface="Nunito" pitchFamily="34" charset="0"/>
                          <a:ea typeface="Nunito" pitchFamily="34" charset="-122"/>
                          <a:cs typeface="Nunito" pitchFamily="34" charset="-120"/>
                        </a:rPr>
                        <a:t>test</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 (đã lược nhãn)</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74320">
                <a:tc>
                  <a:txBody>
                    <a:bodyPr/>
                    <a:lstStyle/>
                    <a:p>
                      <a:pPr algn="l" indent="0" marL="0">
                        <a:buNone/>
                      </a:pPr>
                      <a:r>
                        <a:rPr lang="en-US" sz="1100" b="1" dirty="0">
                          <a:solidFill>
                            <a:srgbClr val="201E1D"/>
                          </a:solidFill>
                          <a:latin typeface="Nunito" pitchFamily="34" charset="0"/>
                          <a:ea typeface="Nunito" pitchFamily="34" charset="-122"/>
                          <a:cs typeface="Nunito" pitchFamily="34" charset="-120"/>
                        </a:rPr>
                        <a:t>mẫu đánh giá 3814 câu</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b="1" dirty="0">
                          <a:solidFill>
                            <a:srgbClr val="201E1D"/>
                          </a:solidFill>
                          <a:latin typeface="Nunito" pitchFamily="34" charset="0"/>
                          <a:ea typeface="Nunito" pitchFamily="34" charset="-122"/>
                          <a:cs typeface="Nunito" pitchFamily="34" charset="-120"/>
                        </a:rPr>
                        <a:t>1161 / 3814</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b="1" dirty="0">
                          <a:solidFill>
                            <a:srgbClr val="8C491A"/>
                          </a:solidFill>
                          <a:latin typeface="Nunito" pitchFamily="34" charset="0"/>
                          <a:ea typeface="Nunito" pitchFamily="34" charset="-122"/>
                          <a:cs typeface="Nunito" pitchFamily="34" charset="-120"/>
                        </a:rPr>
                        <a:t>30,44%</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bl>
          </a:graphicData>
        </a:graphic>
      </p:graphicFrame>
      <p:sp>
        <p:nvSpPr>
          <p:cNvPr id="7" name="Text 4"/>
          <p:cNvSpPr txBox="1"/>
          <p:nvPr/>
        </p:nvSpPr>
        <p:spPr>
          <a:xfrm>
            <a:off x="978408" y="3730752"/>
            <a:ext cx="4480560" cy="320040"/>
          </a:xfrm>
          <a:prstGeom prst="rect">
            <a:avLst/>
          </a:prstGeom>
          <a:noFill/>
          <a:ln/>
        </p:spPr>
        <p:txBody>
          <a:bodyPr wrap="square" lIns="0" tIns="0" rIns="0" bIns="0" rtlCol="0" anchor="t"/>
          <a:lstStyle/>
          <a:p>
            <a:pPr algn="l" indent="0" marL="0">
              <a:lnSpc>
                <a:spcPts val="1523"/>
              </a:lnSpc>
              <a:buNone/>
            </a:pPr>
            <a:r>
              <a:rPr lang="en-US" sz="1050" i="1" dirty="0">
                <a:solidFill>
                  <a:srgbClr val="645C50"/>
                </a:solidFill>
                <a:latin typeface="Nunito" pitchFamily="34" charset="0"/>
                <a:ea typeface="Nunito" pitchFamily="34" charset="-122"/>
                <a:cs typeface="Nunito" pitchFamily="34" charset="-120"/>
              </a:rPr>
              <a:t>Điểm tổng là trung bình có trọng số của hai kỹ năng theo đúng tỉ lệ này — mục 5 bóc tách ra.</a:t>
            </a:r>
            <a:endParaRPr lang="en-US" sz="1050" dirty="0"/>
          </a:p>
        </p:txBody>
      </p:sp>
      <p:sp>
        <p:nvSpPr>
          <p:cNvPr id="8" name="Shape 5"/>
          <p:cNvSpPr/>
          <p:nvPr/>
        </p:nvSpPr>
        <p:spPr>
          <a:xfrm>
            <a:off x="6126480" y="1645920"/>
            <a:ext cx="5376672" cy="2377440"/>
          </a:xfrm>
          <a:prstGeom prst="roundRect">
            <a:avLst>
              <a:gd name="adj" fmla="val 6154"/>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9" name="Text 6"/>
          <p:cNvSpPr txBox="1"/>
          <p:nvPr/>
        </p:nvSpPr>
        <p:spPr>
          <a:xfrm>
            <a:off x="6419088" y="1828800"/>
            <a:ext cx="475488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PHÂN BỐ ĐỘ DÀI (ĐƠN VỊ: ÂM TIẾT, TÁCH THEO KHOẢNG TRẮNG)</a:t>
            </a:r>
            <a:endParaRPr lang="en-US" sz="95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419088" y="2103120"/>
          <a:ext cx="4754880" cy="914400"/>
        </p:xfrm>
        <a:graphic>
          <a:graphicData uri="http://schemas.openxmlformats.org/drawingml/2006/table">
            <a:tbl>
              <a:tblPr/>
              <a:tblGrid>
                <a:gridCol w="2103120"/>
                <a:gridCol w="1325880"/>
                <a:gridCol w="1325880"/>
              </a:tblGrid>
              <a:tr h="274320">
                <a:tc>
                  <a:txBody>
                    <a:bodyPr/>
                    <a:lstStyle/>
                    <a:p>
                      <a:pPr algn="l" indent="0" marL="0">
                        <a:buNone/>
                      </a:pPr>
                      <a:r>
                        <a:rPr lang="en-US" sz="800" b="1" spc="120" kern="0" dirty="0">
                          <a:solidFill>
                            <a:srgbClr val="645C50"/>
                          </a:solidFill>
                          <a:latin typeface="Nunito" pitchFamily="34" charset="0"/>
                          <a:ea typeface="Nunito" pitchFamily="34" charset="-122"/>
                          <a:cs typeface="Nunito" pitchFamily="34" charset="-120"/>
                        </a:rPr>
                        <a:t>CHỈ SỐ</a:t>
                      </a:r>
                      <a:endParaRPr lang="en-US" sz="80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800" b="1" spc="120" kern="0" dirty="0">
                          <a:solidFill>
                            <a:srgbClr val="645C50"/>
                          </a:solidFill>
                          <a:latin typeface="Nunito" pitchFamily="34" charset="0"/>
                          <a:ea typeface="Nunito" pitchFamily="34" charset="-122"/>
                          <a:cs typeface="Nunito" pitchFamily="34" charset="-120"/>
                        </a:rPr>
                        <a:t>TRAIN</a:t>
                      </a:r>
                      <a:endParaRPr lang="en-US" sz="80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800" b="1" spc="120" kern="0" dirty="0">
                          <a:solidFill>
                            <a:srgbClr val="645C50"/>
                          </a:solidFill>
                          <a:latin typeface="Nunito" pitchFamily="34" charset="0"/>
                          <a:ea typeface="Nunito" pitchFamily="34" charset="-122"/>
                          <a:cs typeface="Nunito" pitchFamily="34" charset="-120"/>
                        </a:rPr>
                        <a:t>VALIDATION</a:t>
                      </a:r>
                      <a:endParaRPr lang="en-US" sz="80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r>
              <a:tr h="274320">
                <a:tc>
                  <a:txBody>
                    <a:bodyPr/>
                    <a:lstStyle/>
                    <a:p>
                      <a:pPr algn="l" indent="0" marL="0">
                        <a:buNone/>
                      </a:pPr>
                      <a:r>
                        <a:rPr lang="en-US" sz="1050" dirty="0">
                          <a:solidFill>
                            <a:srgbClr val="201E1D"/>
                          </a:solidFill>
                          <a:latin typeface="Nunito" pitchFamily="34" charset="0"/>
                          <a:ea typeface="Nunito" pitchFamily="34" charset="-122"/>
                          <a:cs typeface="Nunito" pitchFamily="34" charset="-120"/>
                        </a:rPr>
                        <a:t>Đoạn văn — TB / trung vị / max</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179,0 / 160 / 1.537</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167,6 / 152 / 618</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74320">
                <a:tc>
                  <a:txBody>
                    <a:bodyPr/>
                    <a:lstStyle/>
                    <a:p>
                      <a:pPr algn="l" indent="0" marL="0">
                        <a:buNone/>
                      </a:pPr>
                      <a:r>
                        <a:rPr lang="en-US" sz="1050" dirty="0">
                          <a:solidFill>
                            <a:srgbClr val="201E1D"/>
                          </a:solidFill>
                          <a:latin typeface="Nunito" pitchFamily="34" charset="0"/>
                          <a:ea typeface="Nunito" pitchFamily="34" charset="-122"/>
                          <a:cs typeface="Nunito" pitchFamily="34" charset="-120"/>
                        </a:rPr>
                        <a:t>Đáp án vàng — TB / trung vị / p95</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9,95 / 6 / 31</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9,81 / 6 / 30</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74320">
                <a:tc>
                  <a:txBody>
                    <a:bodyPr/>
                    <a:lstStyle/>
                    <a:p>
                      <a:pPr algn="l" indent="0" marL="0">
                        <a:buNone/>
                      </a:pPr>
                      <a:r>
                        <a:rPr lang="en-US" sz="1050" dirty="0">
                          <a:solidFill>
                            <a:srgbClr val="201E1D"/>
                          </a:solidFill>
                          <a:latin typeface="Nunito" pitchFamily="34" charset="0"/>
                          <a:ea typeface="Nunito" pitchFamily="34" charset="-122"/>
                          <a:cs typeface="Nunito" pitchFamily="34" charset="-120"/>
                        </a:rPr>
                        <a:t>Câu hỏi — TB</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14,6</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14,2</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74320">
                <a:tc>
                  <a:txBody>
                    <a:bodyPr/>
                    <a:lstStyle/>
                    <a:p>
                      <a:pPr algn="l" indent="0" marL="0">
                        <a:buNone/>
                      </a:pPr>
                      <a:r>
                        <a:rPr lang="en-US" sz="1050" dirty="0">
                          <a:solidFill>
                            <a:srgbClr val="201E1D"/>
                          </a:solidFill>
                          <a:latin typeface="Nunito" pitchFamily="34" charset="0"/>
                          <a:ea typeface="Nunito" pitchFamily="34" charset="-122"/>
                          <a:cs typeface="Nunito" pitchFamily="34" charset="-120"/>
                        </a:rPr>
                        <a:t>Đoạn văn dài hơn 300 từ</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239 / 4.101 · 5,8%</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bl>
          </a:graphicData>
        </a:graphic>
      </p:graphicFrame>
      <p:sp>
        <p:nvSpPr>
          <p:cNvPr id="11" name="Text 7"/>
          <p:cNvSpPr txBox="1"/>
          <p:nvPr/>
        </p:nvSpPr>
        <p:spPr>
          <a:xfrm>
            <a:off x="6419088" y="3730752"/>
            <a:ext cx="4754880" cy="320040"/>
          </a:xfrm>
          <a:prstGeom prst="rect">
            <a:avLst/>
          </a:prstGeom>
          <a:noFill/>
          <a:ln/>
        </p:spPr>
        <p:txBody>
          <a:bodyPr wrap="square" lIns="0" tIns="0" rIns="0" bIns="0" rtlCol="0" anchor="t"/>
          <a:lstStyle/>
          <a:p>
            <a:pPr algn="l" indent="0" marL="0">
              <a:lnSpc>
                <a:spcPts val="1523"/>
              </a:lnSpc>
              <a:buNone/>
            </a:pPr>
            <a:r>
              <a:rPr lang="en-US" sz="1050" i="1" dirty="0">
                <a:solidFill>
                  <a:srgbClr val="645C50"/>
                </a:solidFill>
                <a:latin typeface="Nunito" pitchFamily="34" charset="0"/>
                <a:ea typeface="Nunito" pitchFamily="34" charset="-122"/>
                <a:cs typeface="Nunito" pitchFamily="34" charset="-120"/>
              </a:rPr>
              <a:t>Đáp án có trung vị 6 âm tiết nhưng p95 = 31: đuôi dài, và đuôi này quyết định ngưỡng độ dài đáp án theo token.</a:t>
            </a:r>
            <a:endParaRPr lang="en-US" sz="1050" dirty="0"/>
          </a:p>
        </p:txBody>
      </p:sp>
      <p:sp>
        <p:nvSpPr>
          <p:cNvPr id="12" name="Text 8"/>
          <p:cNvSpPr txBox="1"/>
          <p:nvPr/>
        </p:nvSpPr>
        <p:spPr>
          <a:xfrm>
            <a:off x="685800" y="4133088"/>
            <a:ext cx="777240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MẪU ĐÁNH GIÁ 3814 CÂU THEO NHÓM ĐỘ DÀI ĐOẠN VĂN — NGUỒN: RESULTS/EVAL_*.JSON</a:t>
            </a:r>
            <a:endParaRPr lang="en-US" sz="950" dirty="0"/>
          </a:p>
        </p:txBody>
      </p:sp>
      <p:sp>
        <p:nvSpPr>
          <p:cNvPr id="13" name="Text 9"/>
          <p:cNvSpPr txBox="1"/>
          <p:nvPr/>
        </p:nvSpPr>
        <p:spPr>
          <a:xfrm>
            <a:off x="685800" y="4407408"/>
            <a:ext cx="2560320" cy="396240"/>
          </a:xfrm>
          <a:prstGeom prst="rect">
            <a:avLst/>
          </a:prstGeom>
          <a:noFill/>
          <a:ln/>
        </p:spPr>
        <p:txBody>
          <a:bodyPr wrap="square" lIns="0" tIns="0" rIns="0" bIns="0" rtlCol="0" anchor="b"/>
          <a:lstStyle/>
          <a:p>
            <a:pPr indent="0" marL="0">
              <a:buNone/>
            </a:pPr>
            <a:r>
              <a:rPr lang="en-US" sz="2600" b="1" dirty="0">
                <a:solidFill>
                  <a:srgbClr val="645C50"/>
                </a:solidFill>
                <a:latin typeface="Baloo 2" pitchFamily="34" charset="0"/>
                <a:ea typeface="Baloo 2" pitchFamily="34" charset="-122"/>
                <a:cs typeface="Baloo 2" pitchFamily="34" charset="-120"/>
              </a:rPr>
              <a:t>10</a:t>
            </a:r>
            <a:pPr indent="0" marL="0">
              <a:buNone/>
            </a:pPr>
            <a:r>
              <a:rPr lang="en-US" sz="1400" dirty="0">
                <a:solidFill>
                  <a:srgbClr val="645C50"/>
                </a:solidFill>
                <a:latin typeface="Nunito" pitchFamily="34" charset="0"/>
                <a:ea typeface="Nunito" pitchFamily="34" charset="-122"/>
                <a:cs typeface="Nunito" pitchFamily="34" charset="-120"/>
              </a:rPr>
              <a:t> câu</a:t>
            </a:r>
            <a:endParaRPr lang="en-US" sz="2600" dirty="0"/>
          </a:p>
        </p:txBody>
      </p:sp>
      <p:sp>
        <p:nvSpPr>
          <p:cNvPr id="14" name="Text 10"/>
          <p:cNvSpPr txBox="1"/>
          <p:nvPr/>
        </p:nvSpPr>
        <p:spPr>
          <a:xfrm>
            <a:off x="685800" y="4785360"/>
            <a:ext cx="2560320" cy="457200"/>
          </a:xfrm>
          <a:prstGeom prst="rect">
            <a:avLst/>
          </a:prstGeom>
          <a:noFill/>
          <a:ln/>
        </p:spPr>
        <p:txBody>
          <a:bodyPr wrap="square" lIns="0" tIns="0" rIns="0" bIns="0" rtlCol="0" anchor="t"/>
          <a:lstStyle/>
          <a:p>
            <a:pPr indent="0" marL="0">
              <a:lnSpc>
                <a:spcPts val="1500"/>
              </a:lnSpc>
              <a:buNone/>
            </a:pPr>
            <a:r>
              <a:rPr lang="en-US" sz="1150" dirty="0">
                <a:solidFill>
                  <a:srgbClr val="645C50"/>
                </a:solidFill>
                <a:latin typeface="Nunito" pitchFamily="34" charset="0"/>
                <a:ea typeface="Nunito" pitchFamily="34" charset="-122"/>
                <a:cs typeface="Nunito" pitchFamily="34" charset="-120"/>
              </a:rPr>
              <a:t>&lt; 100 từ · n &lt; 30 ⇒ cờ unreliable</a:t>
            </a:r>
            <a:endParaRPr lang="en-US" sz="1150" dirty="0"/>
          </a:p>
        </p:txBody>
      </p:sp>
      <p:sp>
        <p:nvSpPr>
          <p:cNvPr id="15" name="Text 11"/>
          <p:cNvSpPr txBox="1"/>
          <p:nvPr/>
        </p:nvSpPr>
        <p:spPr>
          <a:xfrm>
            <a:off x="3429000" y="4407408"/>
            <a:ext cx="2560320" cy="396240"/>
          </a:xfrm>
          <a:prstGeom prst="rect">
            <a:avLst/>
          </a:prstGeom>
          <a:noFill/>
          <a:ln/>
        </p:spPr>
        <p:txBody>
          <a:bodyPr wrap="square" lIns="0" tIns="0" rIns="0" bIns="0" rtlCol="0" anchor="b"/>
          <a:lstStyle/>
          <a:p>
            <a:pPr indent="0" marL="0">
              <a:buNone/>
            </a:pPr>
            <a:r>
              <a:rPr lang="en-US" sz="2600" b="1" dirty="0">
                <a:solidFill>
                  <a:srgbClr val="C67139"/>
                </a:solidFill>
                <a:latin typeface="Baloo 2" pitchFamily="34" charset="0"/>
                <a:ea typeface="Baloo 2" pitchFamily="34" charset="-122"/>
                <a:cs typeface="Baloo 2" pitchFamily="34" charset="-120"/>
              </a:rPr>
              <a:t>2982</a:t>
            </a:r>
            <a:pPr indent="0" marL="0">
              <a:buNone/>
            </a:pPr>
            <a:r>
              <a:rPr lang="en-US" sz="1400" dirty="0">
                <a:solidFill>
                  <a:srgbClr val="645C50"/>
                </a:solidFill>
                <a:latin typeface="Nunito" pitchFamily="34" charset="0"/>
                <a:ea typeface="Nunito" pitchFamily="34" charset="-122"/>
                <a:cs typeface="Nunito" pitchFamily="34" charset="-120"/>
              </a:rPr>
              <a:t> câu</a:t>
            </a:r>
            <a:endParaRPr lang="en-US" sz="2600" dirty="0"/>
          </a:p>
        </p:txBody>
      </p:sp>
      <p:sp>
        <p:nvSpPr>
          <p:cNvPr id="16" name="Text 12"/>
          <p:cNvSpPr txBox="1"/>
          <p:nvPr/>
        </p:nvSpPr>
        <p:spPr>
          <a:xfrm>
            <a:off x="3429000" y="4785360"/>
            <a:ext cx="2560320" cy="457200"/>
          </a:xfrm>
          <a:prstGeom prst="rect">
            <a:avLst/>
          </a:prstGeom>
          <a:noFill/>
          <a:ln/>
        </p:spPr>
        <p:txBody>
          <a:bodyPr wrap="square" lIns="0" tIns="0" rIns="0" bIns="0" rtlCol="0" anchor="t"/>
          <a:lstStyle/>
          <a:p>
            <a:pPr indent="0" marL="0">
              <a:lnSpc>
                <a:spcPts val="1500"/>
              </a:lnSpc>
              <a:buNone/>
            </a:pPr>
            <a:r>
              <a:rPr lang="en-US" sz="1150" dirty="0">
                <a:solidFill>
                  <a:srgbClr val="645C50"/>
                </a:solidFill>
                <a:latin typeface="Nunito" pitchFamily="34" charset="0"/>
                <a:ea typeface="Nunito" pitchFamily="34" charset="-122"/>
                <a:cs typeface="Nunito" pitchFamily="34" charset="-120"/>
              </a:rPr>
              <a:t>100 – 200 từ</a:t>
            </a:r>
            <a:endParaRPr lang="en-US" sz="1150" dirty="0"/>
          </a:p>
        </p:txBody>
      </p:sp>
      <p:sp>
        <p:nvSpPr>
          <p:cNvPr id="17" name="Text 13"/>
          <p:cNvSpPr txBox="1"/>
          <p:nvPr/>
        </p:nvSpPr>
        <p:spPr>
          <a:xfrm>
            <a:off x="6172200" y="4407408"/>
            <a:ext cx="2560320" cy="396240"/>
          </a:xfrm>
          <a:prstGeom prst="rect">
            <a:avLst/>
          </a:prstGeom>
          <a:noFill/>
          <a:ln/>
        </p:spPr>
        <p:txBody>
          <a:bodyPr wrap="square" lIns="0" tIns="0" rIns="0" bIns="0" rtlCol="0" anchor="b"/>
          <a:lstStyle/>
          <a:p>
            <a:pPr indent="0" marL="0">
              <a:buNone/>
            </a:pPr>
            <a:r>
              <a:rPr lang="en-US" sz="2600" b="1" dirty="0">
                <a:solidFill>
                  <a:srgbClr val="C67139"/>
                </a:solidFill>
                <a:latin typeface="Baloo 2" pitchFamily="34" charset="0"/>
                <a:ea typeface="Baloo 2" pitchFamily="34" charset="-122"/>
                <a:cs typeface="Baloo 2" pitchFamily="34" charset="-120"/>
              </a:rPr>
              <a:t>693</a:t>
            </a:r>
            <a:pPr indent="0" marL="0">
              <a:buNone/>
            </a:pPr>
            <a:r>
              <a:rPr lang="en-US" sz="1400" dirty="0">
                <a:solidFill>
                  <a:srgbClr val="645C50"/>
                </a:solidFill>
                <a:latin typeface="Nunito" pitchFamily="34" charset="0"/>
                <a:ea typeface="Nunito" pitchFamily="34" charset="-122"/>
                <a:cs typeface="Nunito" pitchFamily="34" charset="-120"/>
              </a:rPr>
              <a:t> câu</a:t>
            </a:r>
            <a:endParaRPr lang="en-US" sz="2600" dirty="0"/>
          </a:p>
        </p:txBody>
      </p:sp>
      <p:sp>
        <p:nvSpPr>
          <p:cNvPr id="18" name="Text 14"/>
          <p:cNvSpPr txBox="1"/>
          <p:nvPr/>
        </p:nvSpPr>
        <p:spPr>
          <a:xfrm>
            <a:off x="6172200" y="4785360"/>
            <a:ext cx="2560320" cy="457200"/>
          </a:xfrm>
          <a:prstGeom prst="rect">
            <a:avLst/>
          </a:prstGeom>
          <a:noFill/>
          <a:ln/>
        </p:spPr>
        <p:txBody>
          <a:bodyPr wrap="square" lIns="0" tIns="0" rIns="0" bIns="0" rtlCol="0" anchor="t"/>
          <a:lstStyle/>
          <a:p>
            <a:pPr indent="0" marL="0">
              <a:lnSpc>
                <a:spcPts val="1500"/>
              </a:lnSpc>
              <a:buNone/>
            </a:pPr>
            <a:r>
              <a:rPr lang="en-US" sz="1150" dirty="0">
                <a:solidFill>
                  <a:srgbClr val="645C50"/>
                </a:solidFill>
                <a:latin typeface="Nunito" pitchFamily="34" charset="0"/>
                <a:ea typeface="Nunito" pitchFamily="34" charset="-122"/>
                <a:cs typeface="Nunito" pitchFamily="34" charset="-120"/>
              </a:rPr>
              <a:t>200 – 300 từ</a:t>
            </a:r>
            <a:endParaRPr lang="en-US" sz="1150" dirty="0"/>
          </a:p>
        </p:txBody>
      </p:sp>
      <p:sp>
        <p:nvSpPr>
          <p:cNvPr id="19" name="Text 15"/>
          <p:cNvSpPr txBox="1"/>
          <p:nvPr/>
        </p:nvSpPr>
        <p:spPr>
          <a:xfrm>
            <a:off x="8915400" y="4407408"/>
            <a:ext cx="2560320" cy="396240"/>
          </a:xfrm>
          <a:prstGeom prst="rect">
            <a:avLst/>
          </a:prstGeom>
          <a:noFill/>
          <a:ln/>
        </p:spPr>
        <p:txBody>
          <a:bodyPr wrap="square" lIns="0" tIns="0" rIns="0" bIns="0" rtlCol="0" anchor="b"/>
          <a:lstStyle/>
          <a:p>
            <a:pPr indent="0" marL="0">
              <a:buNone/>
            </a:pPr>
            <a:r>
              <a:rPr lang="en-US" sz="2600" b="1" dirty="0">
                <a:solidFill>
                  <a:srgbClr val="C67139"/>
                </a:solidFill>
                <a:latin typeface="Baloo 2" pitchFamily="34" charset="0"/>
                <a:ea typeface="Baloo 2" pitchFamily="34" charset="-122"/>
                <a:cs typeface="Baloo 2" pitchFamily="34" charset="-120"/>
              </a:rPr>
              <a:t>129</a:t>
            </a:r>
            <a:pPr indent="0" marL="0">
              <a:buNone/>
            </a:pPr>
            <a:r>
              <a:rPr lang="en-US" sz="1400" dirty="0">
                <a:solidFill>
                  <a:srgbClr val="645C50"/>
                </a:solidFill>
                <a:latin typeface="Nunito" pitchFamily="34" charset="0"/>
                <a:ea typeface="Nunito" pitchFamily="34" charset="-122"/>
                <a:cs typeface="Nunito" pitchFamily="34" charset="-120"/>
              </a:rPr>
              <a:t> câu</a:t>
            </a:r>
            <a:endParaRPr lang="en-US" sz="2600" dirty="0"/>
          </a:p>
        </p:txBody>
      </p:sp>
      <p:sp>
        <p:nvSpPr>
          <p:cNvPr id="20" name="Text 16"/>
          <p:cNvSpPr txBox="1"/>
          <p:nvPr/>
        </p:nvSpPr>
        <p:spPr>
          <a:xfrm>
            <a:off x="8915400" y="4785360"/>
            <a:ext cx="2560320" cy="457200"/>
          </a:xfrm>
          <a:prstGeom prst="rect">
            <a:avLst/>
          </a:prstGeom>
          <a:noFill/>
          <a:ln/>
        </p:spPr>
        <p:txBody>
          <a:bodyPr wrap="square" lIns="0" tIns="0" rIns="0" bIns="0" rtlCol="0" anchor="t"/>
          <a:lstStyle/>
          <a:p>
            <a:pPr indent="0" marL="0">
              <a:lnSpc>
                <a:spcPts val="1500"/>
              </a:lnSpc>
              <a:buNone/>
            </a:pPr>
            <a:r>
              <a:rPr lang="en-US" sz="1150" dirty="0">
                <a:solidFill>
                  <a:srgbClr val="645C50"/>
                </a:solidFill>
                <a:latin typeface="Nunito" pitchFamily="34" charset="0"/>
                <a:ea typeface="Nunito" pitchFamily="34" charset="-122"/>
                <a:cs typeface="Nunito" pitchFamily="34" charset="-120"/>
              </a:rPr>
              <a:t>300+ từ</a:t>
            </a:r>
            <a:endParaRPr lang="en-US" sz="1150" dirty="0"/>
          </a:p>
        </p:txBody>
      </p:sp>
      <p:sp>
        <p:nvSpPr>
          <p:cNvPr id="21" name="Shape 17"/>
          <p:cNvSpPr/>
          <p:nvPr/>
        </p:nvSpPr>
        <p:spPr>
          <a:xfrm>
            <a:off x="685800" y="5376672"/>
            <a:ext cx="10820095" cy="841248"/>
          </a:xfrm>
          <a:prstGeom prst="roundRect">
            <a:avLst>
              <a:gd name="adj" fmla="val 17391"/>
            </a:avLst>
          </a:prstGeom>
          <a:solidFill>
            <a:srgbClr val="F0FAE1"/>
          </a:solidFill>
          <a:ln w="12700">
            <a:solidFill>
              <a:srgbClr val="F0FAE1"/>
            </a:solidFill>
            <a:prstDash val="solid"/>
          </a:ln>
        </p:spPr>
      </p:sp>
      <p:sp>
        <p:nvSpPr>
          <p:cNvPr id="22" name="Text 18"/>
          <p:cNvSpPr txBox="1"/>
          <p:nvPr/>
        </p:nvSpPr>
        <p:spPr>
          <a:xfrm>
            <a:off x="1005840" y="5495544"/>
            <a:ext cx="10180015" cy="310896"/>
          </a:xfrm>
          <a:prstGeom prst="rect">
            <a:avLst/>
          </a:prstGeom>
          <a:noFill/>
          <a:ln/>
        </p:spPr>
        <p:txBody>
          <a:bodyPr wrap="square" lIns="0" tIns="0" rIns="0" bIns="0" rtlCol="0" anchor="t"/>
          <a:lstStyle/>
          <a:p>
            <a:pPr algn="l" indent="0" marL="0">
              <a:lnSpc>
                <a:spcPts val="2103"/>
              </a:lnSpc>
              <a:buNone/>
            </a:pPr>
            <a:r>
              <a:rPr lang="en-US" sz="1450" b="1" dirty="0">
                <a:solidFill>
                  <a:srgbClr val="3D472B"/>
                </a:solidFill>
                <a:latin typeface="Nunito" pitchFamily="34" charset="0"/>
                <a:ea typeface="Nunito" pitchFamily="34" charset="-122"/>
                <a:cs typeface="Nunito" pitchFamily="34" charset="-120"/>
              </a:rPr>
              <a:t>Hai hệ quả đọc thẳng ra từ phân bố, không phải suy diễn.</a:t>
            </a:r>
            <a:endParaRPr lang="en-US" sz="1450" dirty="0"/>
          </a:p>
        </p:txBody>
      </p:sp>
      <p:sp>
        <p:nvSpPr>
          <p:cNvPr id="23" name="Text 19"/>
          <p:cNvSpPr txBox="1"/>
          <p:nvPr/>
        </p:nvSpPr>
        <p:spPr>
          <a:xfrm>
            <a:off x="1005840" y="5779008"/>
            <a:ext cx="10180015" cy="384048"/>
          </a:xfrm>
          <a:prstGeom prst="rect">
            <a:avLst/>
          </a:prstGeom>
          <a:noFill/>
          <a:ln/>
        </p:spPr>
        <p:txBody>
          <a:bodyPr wrap="square" lIns="0" tIns="0" rIns="0" bIns="0" rtlCol="0" anchor="t"/>
          <a:lstStyle/>
          <a:p>
            <a:pPr algn="l" indent="0" marL="0">
              <a:lnSpc>
                <a:spcPts val="1668"/>
              </a:lnSpc>
              <a:buNone/>
            </a:pPr>
            <a:r>
              <a:rPr lang="en-US" sz="1150" dirty="0">
                <a:solidFill>
                  <a:srgbClr val="3D472B"/>
                </a:solidFill>
                <a:latin typeface="Nunito" pitchFamily="34" charset="0"/>
                <a:ea typeface="Nunito" pitchFamily="34" charset="-122"/>
                <a:cs typeface="Nunito" pitchFamily="34" charset="-120"/>
              </a:rPr>
              <a:t>Một: mẫu 3814 câu gần như không có đoạn dài (129 câu ở nhóm 300+), nên câu hỏi “độ dài context ảnh hưởng thế nào” CHƯA được trả lời — nhóm ghi vào phần hạn chế. Hai: đuôi dài của đáp án là lý do L_max phải đặt theo tokenizer.</a:t>
            </a:r>
            <a:endParaRPr lang="en-US" sz="1150" dirty="0"/>
          </a:p>
        </p:txBody>
      </p:sp>
      <p:sp>
        <p:nvSpPr>
          <p:cNvPr id="24" name="Text 20"/>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3 · Xây dựng dữ liệu · Phân bố nhãn &amp; độ dài</a:t>
            </a:r>
            <a:endParaRPr lang="en-US" sz="1000" dirty="0"/>
          </a:p>
        </p:txBody>
      </p:sp>
      <p:sp>
        <p:nvSpPr>
          <p:cNvPr id="25" name="Text 21"/>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3 · XÂY DỰNG DỮ LIỆU · THỐNG KÊ &amp; PHÂN TÍCH</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808"/>
              </a:lnSpc>
              <a:buNone/>
            </a:pPr>
            <a:r>
              <a:rPr lang="en-US" sz="3400" b="1" dirty="0">
                <a:solidFill>
                  <a:srgbClr val="201E1D"/>
                </a:solidFill>
                <a:latin typeface="Baloo 2" pitchFamily="34" charset="0"/>
                <a:ea typeface="Baloo 2" pitchFamily="34" charset="-122"/>
                <a:cs typeface="Baloo 2" pitchFamily="34" charset="-120"/>
              </a:rPr>
              <a:t>Phân bố chủ đề — và cái bẫy lấy mẫu nó gây ra</a:t>
            </a:r>
            <a:endParaRPr lang="en-US" sz="3400" dirty="0"/>
          </a:p>
        </p:txBody>
      </p:sp>
      <p:sp>
        <p:nvSpPr>
          <p:cNvPr id="4" name="Shape 2"/>
          <p:cNvSpPr/>
          <p:nvPr/>
        </p:nvSpPr>
        <p:spPr>
          <a:xfrm>
            <a:off x="685800" y="1627632"/>
            <a:ext cx="5577840" cy="2788920"/>
          </a:xfrm>
          <a:prstGeom prst="roundRect">
            <a:avLst>
              <a:gd name="adj" fmla="val 5246"/>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5" name="Text 3"/>
          <p:cNvSpPr txBox="1"/>
          <p:nvPr/>
        </p:nvSpPr>
        <p:spPr>
          <a:xfrm>
            <a:off x="978408" y="1792224"/>
            <a:ext cx="493776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VALIDATION: 19 BÀI VIẾT · 3.814 CÂU HỎI</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78408" y="2066544"/>
          <a:ext cx="4937760" cy="914400"/>
        </p:xfrm>
        <a:graphic>
          <a:graphicData uri="http://schemas.openxmlformats.org/drawingml/2006/table">
            <a:tbl>
              <a:tblPr/>
              <a:tblGrid>
                <a:gridCol w="2926080"/>
                <a:gridCol w="1097280"/>
                <a:gridCol w="914400"/>
              </a:tblGrid>
              <a:tr h="256032">
                <a:tc>
                  <a:txBody>
                    <a:bodyPr/>
                    <a:lstStyle/>
                    <a:p>
                      <a:pPr algn="l" indent="0" marL="0">
                        <a:buNone/>
                      </a:pPr>
                      <a:r>
                        <a:rPr lang="en-US" sz="850" b="1" spc="120" kern="0" dirty="0">
                          <a:solidFill>
                            <a:srgbClr val="645C50"/>
                          </a:solidFill>
                          <a:latin typeface="Nunito" pitchFamily="34" charset="0"/>
                          <a:ea typeface="Nunito" pitchFamily="34" charset="-122"/>
                          <a:cs typeface="Nunito" pitchFamily="34" charset="-120"/>
                        </a:rPr>
                        <a:t>BÀI VIẾT (TOP 5)</a:t>
                      </a:r>
                      <a:endParaRPr lang="en-US" sz="8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850" b="1" spc="120" kern="0" dirty="0">
                          <a:solidFill>
                            <a:srgbClr val="645C50"/>
                          </a:solidFill>
                          <a:latin typeface="Nunito" pitchFamily="34" charset="0"/>
                          <a:ea typeface="Nunito" pitchFamily="34" charset="-122"/>
                          <a:cs typeface="Nunito" pitchFamily="34" charset="-120"/>
                        </a:rPr>
                        <a:t>SỐ CÂU</a:t>
                      </a:r>
                      <a:endParaRPr lang="en-US" sz="8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850" b="1" spc="120" kern="0" dirty="0">
                          <a:solidFill>
                            <a:srgbClr val="645C50"/>
                          </a:solidFill>
                          <a:latin typeface="Nunito" pitchFamily="34" charset="0"/>
                          <a:ea typeface="Nunito" pitchFamily="34" charset="-122"/>
                          <a:cs typeface="Nunito" pitchFamily="34" charset="-120"/>
                        </a:rPr>
                        <a:t>%</a:t>
                      </a:r>
                      <a:endParaRPr lang="en-US" sz="8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r>
              <a:tr h="256032">
                <a:tc>
                  <a:txBody>
                    <a:bodyPr/>
                    <a:lstStyle/>
                    <a:p>
                      <a:pPr algn="l" indent="0" marL="0">
                        <a:buNone/>
                      </a:pPr>
                      <a:r>
                        <a:rPr lang="en-US" sz="1100" dirty="0">
                          <a:solidFill>
                            <a:srgbClr val="201E1D"/>
                          </a:solidFill>
                          <a:latin typeface="Nunito" pitchFamily="34" charset="0"/>
                          <a:ea typeface="Nunito" pitchFamily="34" charset="-122"/>
                          <a:cs typeface="Nunito" pitchFamily="34" charset="-120"/>
                        </a:rPr>
                        <a:t>Franklin D. Roosevelt</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503</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13,2</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56032">
                <a:tc>
                  <a:txBody>
                    <a:bodyPr/>
                    <a:lstStyle/>
                    <a:p>
                      <a:pPr algn="l" indent="0" marL="0">
                        <a:buNone/>
                      </a:pPr>
                      <a:r>
                        <a:rPr lang="en-US" sz="1100" dirty="0">
                          <a:solidFill>
                            <a:srgbClr val="201E1D"/>
                          </a:solidFill>
                          <a:latin typeface="Nunito" pitchFamily="34" charset="0"/>
                          <a:ea typeface="Nunito" pitchFamily="34" charset="-122"/>
                          <a:cs typeface="Nunito" pitchFamily="34" charset="-120"/>
                        </a:rPr>
                        <a:t>Paris</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462</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12,1</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56032">
                <a:tc>
                  <a:txBody>
                    <a:bodyPr/>
                    <a:lstStyle/>
                    <a:p>
                      <a:pPr algn="l" indent="0" marL="0">
                        <a:buNone/>
                      </a:pPr>
                      <a:r>
                        <a:rPr lang="en-US" sz="1100" dirty="0">
                          <a:solidFill>
                            <a:srgbClr val="201E1D"/>
                          </a:solidFill>
                          <a:latin typeface="Nunito" pitchFamily="34" charset="0"/>
                          <a:ea typeface="Nunito" pitchFamily="34" charset="-122"/>
                          <a:cs typeface="Nunito" pitchFamily="34" charset="-120"/>
                        </a:rPr>
                        <a:t>Chiến tranh Vùng Vịnh</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379</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9,9</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56032">
                <a:tc>
                  <a:txBody>
                    <a:bodyPr/>
                    <a:lstStyle/>
                    <a:p>
                      <a:pPr algn="l" indent="0" marL="0">
                        <a:buNone/>
                      </a:pPr>
                      <a:r>
                        <a:rPr lang="en-US" sz="1100" dirty="0">
                          <a:solidFill>
                            <a:srgbClr val="201E1D"/>
                          </a:solidFill>
                          <a:latin typeface="Nunito" pitchFamily="34" charset="0"/>
                          <a:ea typeface="Nunito" pitchFamily="34" charset="-122"/>
                          <a:cs typeface="Nunito" pitchFamily="34" charset="-120"/>
                        </a:rPr>
                        <a:t>Canada</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356</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9,3</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56032">
                <a:tc>
                  <a:txBody>
                    <a:bodyPr/>
                    <a:lstStyle/>
                    <a:p>
                      <a:pPr algn="l" indent="0" marL="0">
                        <a:buNone/>
                      </a:pPr>
                      <a:r>
                        <a:rPr lang="en-US" sz="1100" dirty="0">
                          <a:solidFill>
                            <a:srgbClr val="201E1D"/>
                          </a:solidFill>
                          <a:latin typeface="Nunito" pitchFamily="34" charset="0"/>
                          <a:ea typeface="Nunito" pitchFamily="34" charset="-122"/>
                          <a:cs typeface="Nunito" pitchFamily="34" charset="-120"/>
                        </a:rPr>
                        <a:t>Mahatma Gandhi</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324</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8,5</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bl>
          </a:graphicData>
        </a:graphic>
      </p:graphicFrame>
      <p:sp>
        <p:nvSpPr>
          <p:cNvPr id="7" name="Text 4"/>
          <p:cNvSpPr txBox="1"/>
          <p:nvPr/>
        </p:nvSpPr>
        <p:spPr>
          <a:xfrm>
            <a:off x="978408" y="3895344"/>
            <a:ext cx="4937760" cy="457200"/>
          </a:xfrm>
          <a:prstGeom prst="rect">
            <a:avLst/>
          </a:prstGeom>
          <a:noFill/>
          <a:ln/>
        </p:spPr>
        <p:txBody>
          <a:bodyPr wrap="square" lIns="0" tIns="0" rIns="0" bIns="0" rtlCol="0" anchor="t"/>
          <a:lstStyle/>
          <a:p>
            <a:pPr algn="l" indent="0" marL="0">
              <a:lnSpc>
                <a:spcPts val="1523"/>
              </a:lnSpc>
              <a:buNone/>
            </a:pPr>
            <a:r>
              <a:rPr lang="en-US" sz="1050" dirty="0">
                <a:solidFill>
                  <a:srgbClr val="645C50"/>
                </a:solidFill>
                <a:latin typeface="Nunito" pitchFamily="34" charset="0"/>
                <a:ea typeface="Nunito" pitchFamily="34" charset="-122"/>
                <a:cs typeface="Nunito" pitchFamily="34" charset="-120"/>
              </a:rPr>
              <a:t>5 bài lớn nhất chiếm 53,1% · đuôi rất mỏng: Montréal 42 · Kiến 57 · Gia cầm 59 câu. Chỉ 3 trong 19 bài viết thuộc khoa học tự nhiên (169 câu, 4,4%) — còn lại là lịch sử, chính trị, địa lý.</a:t>
            </a:r>
            <a:endParaRPr lang="en-US" sz="1050" dirty="0"/>
          </a:p>
        </p:txBody>
      </p:sp>
      <p:sp>
        <p:nvSpPr>
          <p:cNvPr id="8" name="Shape 5"/>
          <p:cNvSpPr/>
          <p:nvPr/>
        </p:nvSpPr>
        <p:spPr>
          <a:xfrm>
            <a:off x="6492240" y="1627632"/>
            <a:ext cx="5010912" cy="2788920"/>
          </a:xfrm>
          <a:prstGeom prst="roundRect">
            <a:avLst>
              <a:gd name="adj" fmla="val 5246"/>
            </a:avLst>
          </a:prstGeom>
          <a:solidFill>
            <a:srgbClr val="FFF2EB"/>
          </a:solidFill>
          <a:ln w="12700">
            <a:solidFill>
              <a:srgbClr val="FFF2EB"/>
            </a:solidFill>
            <a:prstDash val="solid"/>
          </a:ln>
          <a:effectLst>
            <a:outerShdw sx="100000" sy="100000" kx="0" ky="0" algn="bl" rotWithShape="0" blurRad="101600" dist="25400" dir="5400000">
              <a:srgbClr val="2E2B25">
                <a:alpha val="12000"/>
              </a:srgbClr>
            </a:outerShdw>
          </a:effectLst>
        </p:spPr>
      </p:sp>
      <p:sp>
        <p:nvSpPr>
          <p:cNvPr id="9" name="Text 6"/>
          <p:cNvSpPr txBox="1"/>
          <p:nvPr/>
        </p:nvSpPr>
        <p:spPr>
          <a:xfrm>
            <a:off x="6784848" y="1792224"/>
            <a:ext cx="4389120" cy="219456"/>
          </a:xfrm>
          <a:prstGeom prst="rect">
            <a:avLst/>
          </a:prstGeom>
          <a:noFill/>
          <a:ln/>
        </p:spPr>
        <p:txBody>
          <a:bodyPr wrap="square" lIns="0" tIns="0" rIns="0" bIns="0" rtlCol="0" anchor="ctr"/>
          <a:lstStyle/>
          <a:p>
            <a:pPr indent="0" marL="0">
              <a:buNone/>
            </a:pPr>
            <a:r>
              <a:rPr lang="en-US" sz="950" b="1" spc="160" kern="0" dirty="0">
                <a:solidFill>
                  <a:srgbClr val="8C491A"/>
                </a:solidFill>
                <a:latin typeface="Nunito" pitchFamily="34" charset="0"/>
                <a:ea typeface="Nunito" pitchFamily="34" charset="-122"/>
                <a:cs typeface="Nunito" pitchFamily="34" charset="-120"/>
              </a:rPr>
              <a:t>CÁI BẪY: CÂU HỎI TRONG TỆP ĐƯỢC SẮP THEO BÀI VIẾT</a:t>
            </a:r>
            <a:endParaRPr lang="en-US" sz="950" dirty="0"/>
          </a:p>
        </p:txBody>
      </p:sp>
      <p:sp>
        <p:nvSpPr>
          <p:cNvPr id="10" name="Text 7"/>
          <p:cNvSpPr txBox="1"/>
          <p:nvPr/>
        </p:nvSpPr>
        <p:spPr>
          <a:xfrm>
            <a:off x="6784848" y="2048256"/>
            <a:ext cx="4389120" cy="502920"/>
          </a:xfrm>
          <a:prstGeom prst="rect">
            <a:avLst/>
          </a:prstGeom>
          <a:noFill/>
          <a:ln/>
        </p:spPr>
        <p:txBody>
          <a:bodyPr wrap="square" lIns="0" tIns="0" rIns="0" bIns="0" rtlCol="0" anchor="t"/>
          <a:lstStyle/>
          <a:p>
            <a:pPr algn="l" indent="0" marL="0">
              <a:lnSpc>
                <a:spcPts val="2030"/>
              </a:lnSpc>
              <a:buNone/>
            </a:pPr>
            <a:r>
              <a:rPr lang="en-US" sz="1400" b="1" dirty="0">
                <a:solidFill>
                  <a:srgbClr val="8C491A"/>
                </a:solidFill>
                <a:latin typeface="Nunito" pitchFamily="34" charset="0"/>
                <a:ea typeface="Nunito" pitchFamily="34" charset="-122"/>
                <a:cs typeface="Nunito" pitchFamily="34" charset="-120"/>
              </a:rPr>
              <a:t>300 câu đầu tệp validation thuộc DUY NHẤT một bài viết: “Paris”.</a:t>
            </a:r>
            <a:endParaRPr lang="en-US" sz="1400" dirty="0"/>
          </a:p>
        </p:txBody>
      </p:sp>
      <p:sp>
        <p:nvSpPr>
          <p:cNvPr id="11" name="Text 8"/>
          <p:cNvSpPr txBox="1"/>
          <p:nvPr/>
        </p:nvSpPr>
        <p:spPr>
          <a:xfrm>
            <a:off x="6784848" y="2615184"/>
            <a:ext cx="4389120" cy="502920"/>
          </a:xfrm>
          <a:prstGeom prst="rect">
            <a:avLst/>
          </a:prstGeom>
          <a:noFill/>
          <a:ln/>
        </p:spPr>
        <p:txBody>
          <a:bodyPr wrap="square" lIns="0" tIns="0" rIns="0" bIns="0" rtlCol="0" anchor="ctr"/>
          <a:lstStyle/>
          <a:p>
            <a:pPr indent="0" marL="0">
              <a:buNone/>
            </a:pPr>
            <a:r>
              <a:rPr lang="en-US" sz="3000" b="1" dirty="0">
                <a:solidFill>
                  <a:srgbClr val="8C491A"/>
                </a:solidFill>
                <a:latin typeface="Baloo 2" pitchFamily="34" charset="0"/>
                <a:ea typeface="Baloo 2" pitchFamily="34" charset="-122"/>
                <a:cs typeface="Baloo 2" pitchFamily="34" charset="-120"/>
              </a:rPr>
              <a:t>42,00</a:t>
            </a:r>
            <a:pPr indent="0" marL="0">
              <a:buNone/>
            </a:pPr>
            <a:r>
              <a:rPr lang="en-US" sz="1200" dirty="0">
                <a:solidFill>
                  <a:srgbClr val="8C491A"/>
                </a:solidFill>
                <a:latin typeface="Nunito" pitchFamily="34" charset="0"/>
                <a:ea typeface="Nunito" pitchFamily="34" charset="-122"/>
                <a:cs typeface="Nunito" pitchFamily="34" charset="-120"/>
              </a:rPr>
              <a:t>   so với   </a:t>
            </a:r>
            <a:pPr indent="0" marL="0">
              <a:buNone/>
            </a:pPr>
            <a:r>
              <a:rPr lang="en-US" sz="3000" b="1" dirty="0">
                <a:solidFill>
                  <a:srgbClr val="3D472B"/>
                </a:solidFill>
                <a:latin typeface="Baloo 2" pitchFamily="34" charset="0"/>
                <a:ea typeface="Baloo 2" pitchFamily="34" charset="-122"/>
                <a:cs typeface="Baloo 2" pitchFamily="34" charset="-120"/>
              </a:rPr>
              <a:t>52,00</a:t>
            </a:r>
            <a:endParaRPr lang="en-US" sz="3000" dirty="0"/>
          </a:p>
        </p:txBody>
      </p:sp>
      <p:sp>
        <p:nvSpPr>
          <p:cNvPr id="12" name="Text 9"/>
          <p:cNvSpPr txBox="1"/>
          <p:nvPr/>
        </p:nvSpPr>
        <p:spPr>
          <a:xfrm>
            <a:off x="6784848" y="3182112"/>
            <a:ext cx="4389120" cy="640080"/>
          </a:xfrm>
          <a:prstGeom prst="rect">
            <a:avLst/>
          </a:prstGeom>
          <a:noFill/>
          <a:ln/>
        </p:spPr>
        <p:txBody>
          <a:bodyPr wrap="square" lIns="0" tIns="0" rIns="0" bIns="0" rtlCol="0" anchor="t"/>
          <a:lstStyle/>
          <a:p>
            <a:pPr algn="l" indent="0" marL="0">
              <a:lnSpc>
                <a:spcPts val="1668"/>
              </a:lnSpc>
              <a:buNone/>
            </a:pPr>
            <a:r>
              <a:rPr lang="en-US" sz="1150" dirty="0">
                <a:solidFill>
                  <a:srgbClr val="8C491A"/>
                </a:solidFill>
                <a:latin typeface="Nunito" pitchFamily="34" charset="0"/>
                <a:ea typeface="Nunito" pitchFamily="34" charset="-122"/>
                <a:cs typeface="Nunito" pitchFamily="34" charset="-120"/>
              </a:rPr>
              <a:t>EM của cùng một checkpoint mBERT (epoch 2): 300 câu đầu tệp so với 300 câu ngẫu nhiên seed 42. Chênh 10 điểm chỉ do CÁCH LẤY MẪU, không do mô hình.</a:t>
            </a:r>
            <a:endParaRPr lang="en-US" sz="1150" dirty="0"/>
          </a:p>
        </p:txBody>
      </p:sp>
      <p:sp>
        <p:nvSpPr>
          <p:cNvPr id="13" name="Text 10"/>
          <p:cNvSpPr txBox="1"/>
          <p:nvPr/>
        </p:nvSpPr>
        <p:spPr>
          <a:xfrm>
            <a:off x="6784848" y="3931920"/>
            <a:ext cx="4389120" cy="274320"/>
          </a:xfrm>
          <a:prstGeom prst="rect">
            <a:avLst/>
          </a:prstGeom>
          <a:noFill/>
          <a:ln/>
        </p:spPr>
        <p:txBody>
          <a:bodyPr wrap="square" lIns="0" tIns="0" rIns="0" bIns="0" rtlCol="0" anchor="ctr"/>
          <a:lstStyle/>
          <a:p>
            <a:pPr algn="l" indent="0" marL="0">
              <a:buNone/>
            </a:pPr>
            <a:r>
              <a:rPr lang="en-US" sz="1150" b="1" dirty="0">
                <a:solidFill>
                  <a:srgbClr val="8C491A"/>
                </a:solidFill>
                <a:latin typeface="Courier New" pitchFamily="34" charset="0"/>
                <a:ea typeface="Courier New" pitchFamily="34" charset="-122"/>
                <a:cs typeface="Courier New" pitchFamily="34" charset="-120"/>
              </a:rPr>
              <a:t>reproducible_subset(examples, n, seed=42)</a:t>
            </a:r>
            <a:endParaRPr lang="en-US" sz="1150" dirty="0"/>
          </a:p>
        </p:txBody>
      </p:sp>
      <p:sp>
        <p:nvSpPr>
          <p:cNvPr id="14" name="Shape 11"/>
          <p:cNvSpPr/>
          <p:nvPr/>
        </p:nvSpPr>
        <p:spPr>
          <a:xfrm>
            <a:off x="685800" y="4526280"/>
            <a:ext cx="10820095" cy="731520"/>
          </a:xfrm>
          <a:prstGeom prst="roundRect">
            <a:avLst>
              <a:gd name="adj" fmla="val 20000"/>
            </a:avLst>
          </a:prstGeom>
          <a:solidFill>
            <a:srgbClr val="EBDDC5"/>
          </a:solidFill>
          <a:ln w="12700">
            <a:solidFill>
              <a:srgbClr val="EBDDC5"/>
            </a:solidFill>
            <a:prstDash val="solid"/>
          </a:ln>
        </p:spPr>
      </p:sp>
      <p:sp>
        <p:nvSpPr>
          <p:cNvPr id="15" name="Text 12"/>
          <p:cNvSpPr txBox="1"/>
          <p:nvPr/>
        </p:nvSpPr>
        <p:spPr>
          <a:xfrm>
            <a:off x="1005840" y="4608576"/>
            <a:ext cx="6858000" cy="219456"/>
          </a:xfrm>
          <a:prstGeom prst="rect">
            <a:avLst/>
          </a:prstGeom>
          <a:noFill/>
          <a:ln/>
        </p:spPr>
        <p:txBody>
          <a:bodyPr wrap="square" lIns="0" tIns="0" rIns="0" bIns="0" rtlCol="0" anchor="ctr"/>
          <a:lstStyle/>
          <a:p>
            <a:pPr indent="0" marL="0">
              <a:buNone/>
            </a:pPr>
            <a:r>
              <a:rPr lang="en-US" sz="950" b="1" spc="160" kern="0" dirty="0">
                <a:solidFill>
                  <a:srgbClr val="645C50"/>
                </a:solidFill>
                <a:latin typeface="Nunito" pitchFamily="34" charset="0"/>
                <a:ea typeface="Nunito" pitchFamily="34" charset="-122"/>
                <a:cs typeface="Nunito" pitchFamily="34" charset="-120"/>
              </a:rPr>
              <a:t>PHÂN BỐ TỪ ĐỂ HỎI (PHÂN NHÓM TỪ KHOÁ THÔ, CHỈ ĐỂ MÔ TẢ)</a:t>
            </a:r>
            <a:endParaRPr lang="en-US" sz="950" dirty="0"/>
          </a:p>
        </p:txBody>
      </p:sp>
      <p:sp>
        <p:nvSpPr>
          <p:cNvPr id="16" name="Text 13"/>
          <p:cNvSpPr txBox="1"/>
          <p:nvPr/>
        </p:nvSpPr>
        <p:spPr>
          <a:xfrm>
            <a:off x="1005840" y="4828032"/>
            <a:ext cx="1645920" cy="256032"/>
          </a:xfrm>
          <a:prstGeom prst="rect">
            <a:avLst/>
          </a:prstGeom>
          <a:noFill/>
          <a:ln/>
        </p:spPr>
        <p:txBody>
          <a:bodyPr wrap="square" lIns="0" tIns="0" rIns="0" bIns="0" rtlCol="0" anchor="ctr"/>
          <a:lstStyle/>
          <a:p>
            <a:pPr indent="0" marL="0">
              <a:buNone/>
            </a:pPr>
            <a:r>
              <a:rPr lang="en-US" sz="1500" b="1" dirty="0">
                <a:solidFill>
                  <a:srgbClr val="C67139"/>
                </a:solidFill>
                <a:latin typeface="Baloo 2" pitchFamily="34" charset="0"/>
                <a:ea typeface="Baloo 2" pitchFamily="34" charset="-122"/>
                <a:cs typeface="Baloo 2" pitchFamily="34" charset="-120"/>
              </a:rPr>
              <a:t>30,3%</a:t>
            </a:r>
            <a:endParaRPr lang="en-US" sz="1500" dirty="0"/>
          </a:p>
        </p:txBody>
      </p:sp>
      <p:sp>
        <p:nvSpPr>
          <p:cNvPr id="17" name="Text 14"/>
          <p:cNvSpPr txBox="1"/>
          <p:nvPr/>
        </p:nvSpPr>
        <p:spPr>
          <a:xfrm>
            <a:off x="1005840" y="5047488"/>
            <a:ext cx="1645920" cy="201168"/>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gì</a:t>
            </a:r>
            <a:endParaRPr lang="en-US" sz="1000" dirty="0"/>
          </a:p>
        </p:txBody>
      </p:sp>
      <p:sp>
        <p:nvSpPr>
          <p:cNvPr id="18" name="Text 15"/>
          <p:cNvSpPr txBox="1"/>
          <p:nvPr/>
        </p:nvSpPr>
        <p:spPr>
          <a:xfrm>
            <a:off x="2706624" y="4828032"/>
            <a:ext cx="1645920" cy="256032"/>
          </a:xfrm>
          <a:prstGeom prst="rect">
            <a:avLst/>
          </a:prstGeom>
          <a:noFill/>
          <a:ln/>
        </p:spPr>
        <p:txBody>
          <a:bodyPr wrap="square" lIns="0" tIns="0" rIns="0" bIns="0" rtlCol="0" anchor="ctr"/>
          <a:lstStyle/>
          <a:p>
            <a:pPr indent="0" marL="0">
              <a:buNone/>
            </a:pPr>
            <a:r>
              <a:rPr lang="en-US" sz="1500" b="1" dirty="0">
                <a:solidFill>
                  <a:srgbClr val="C67139"/>
                </a:solidFill>
                <a:latin typeface="Baloo 2" pitchFamily="34" charset="0"/>
                <a:ea typeface="Baloo 2" pitchFamily="34" charset="-122"/>
                <a:cs typeface="Baloo 2" pitchFamily="34" charset="-120"/>
              </a:rPr>
              <a:t>27,6%</a:t>
            </a:r>
            <a:endParaRPr lang="en-US" sz="1500" dirty="0"/>
          </a:p>
        </p:txBody>
      </p:sp>
      <p:sp>
        <p:nvSpPr>
          <p:cNvPr id="19" name="Text 16"/>
          <p:cNvSpPr txBox="1"/>
          <p:nvPr/>
        </p:nvSpPr>
        <p:spPr>
          <a:xfrm>
            <a:off x="2706624" y="5047488"/>
            <a:ext cx="1645920" cy="201168"/>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nào</a:t>
            </a:r>
            <a:endParaRPr lang="en-US" sz="1000" dirty="0"/>
          </a:p>
        </p:txBody>
      </p:sp>
      <p:sp>
        <p:nvSpPr>
          <p:cNvPr id="20" name="Text 17"/>
          <p:cNvSpPr txBox="1"/>
          <p:nvPr/>
        </p:nvSpPr>
        <p:spPr>
          <a:xfrm>
            <a:off x="4407408" y="4828032"/>
            <a:ext cx="1645920" cy="256032"/>
          </a:xfrm>
          <a:prstGeom prst="rect">
            <a:avLst/>
          </a:prstGeom>
          <a:noFill/>
          <a:ln/>
        </p:spPr>
        <p:txBody>
          <a:bodyPr wrap="square" lIns="0" tIns="0" rIns="0" bIns="0" rtlCol="0" anchor="ctr"/>
          <a:lstStyle/>
          <a:p>
            <a:pPr indent="0" marL="0">
              <a:buNone/>
            </a:pPr>
            <a:r>
              <a:rPr lang="en-US" sz="1500" b="1" dirty="0">
                <a:solidFill>
                  <a:srgbClr val="C67139"/>
                </a:solidFill>
                <a:latin typeface="Baloo 2" pitchFamily="34" charset="0"/>
                <a:ea typeface="Baloo 2" pitchFamily="34" charset="-122"/>
                <a:cs typeface="Baloo 2" pitchFamily="34" charset="-120"/>
              </a:rPr>
              <a:t>9,1%</a:t>
            </a:r>
            <a:endParaRPr lang="en-US" sz="1500" dirty="0"/>
          </a:p>
        </p:txBody>
      </p:sp>
      <p:sp>
        <p:nvSpPr>
          <p:cNvPr id="21" name="Text 18"/>
          <p:cNvSpPr txBox="1"/>
          <p:nvPr/>
        </p:nvSpPr>
        <p:spPr>
          <a:xfrm>
            <a:off x="4407408" y="5047488"/>
            <a:ext cx="1645920" cy="201168"/>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ai</a:t>
            </a:r>
            <a:endParaRPr lang="en-US" sz="1000" dirty="0"/>
          </a:p>
        </p:txBody>
      </p:sp>
      <p:sp>
        <p:nvSpPr>
          <p:cNvPr id="22" name="Text 19"/>
          <p:cNvSpPr txBox="1"/>
          <p:nvPr/>
        </p:nvSpPr>
        <p:spPr>
          <a:xfrm>
            <a:off x="6108192" y="4828032"/>
            <a:ext cx="1645920" cy="256032"/>
          </a:xfrm>
          <a:prstGeom prst="rect">
            <a:avLst/>
          </a:prstGeom>
          <a:noFill/>
          <a:ln/>
        </p:spPr>
        <p:txBody>
          <a:bodyPr wrap="square" lIns="0" tIns="0" rIns="0" bIns="0" rtlCol="0" anchor="ctr"/>
          <a:lstStyle/>
          <a:p>
            <a:pPr indent="0" marL="0">
              <a:buNone/>
            </a:pPr>
            <a:r>
              <a:rPr lang="en-US" sz="1500" b="1" dirty="0">
                <a:solidFill>
                  <a:srgbClr val="C67139"/>
                </a:solidFill>
                <a:latin typeface="Baloo 2" pitchFamily="34" charset="0"/>
                <a:ea typeface="Baloo 2" pitchFamily="34" charset="-122"/>
                <a:cs typeface="Baloo 2" pitchFamily="34" charset="-120"/>
              </a:rPr>
              <a:t>8,3%</a:t>
            </a:r>
            <a:endParaRPr lang="en-US" sz="1500" dirty="0"/>
          </a:p>
        </p:txBody>
      </p:sp>
      <p:sp>
        <p:nvSpPr>
          <p:cNvPr id="23" name="Text 20"/>
          <p:cNvSpPr txBox="1"/>
          <p:nvPr/>
        </p:nvSpPr>
        <p:spPr>
          <a:xfrm>
            <a:off x="6108192" y="5047488"/>
            <a:ext cx="1645920" cy="201168"/>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như thế nào</a:t>
            </a:r>
            <a:endParaRPr lang="en-US" sz="1000" dirty="0"/>
          </a:p>
        </p:txBody>
      </p:sp>
      <p:sp>
        <p:nvSpPr>
          <p:cNvPr id="24" name="Text 21"/>
          <p:cNvSpPr txBox="1"/>
          <p:nvPr/>
        </p:nvSpPr>
        <p:spPr>
          <a:xfrm>
            <a:off x="7808976" y="4828032"/>
            <a:ext cx="1645920" cy="256032"/>
          </a:xfrm>
          <a:prstGeom prst="rect">
            <a:avLst/>
          </a:prstGeom>
          <a:noFill/>
          <a:ln/>
        </p:spPr>
        <p:txBody>
          <a:bodyPr wrap="square" lIns="0" tIns="0" rIns="0" bIns="0" rtlCol="0" anchor="ctr"/>
          <a:lstStyle/>
          <a:p>
            <a:pPr indent="0" marL="0">
              <a:buNone/>
            </a:pPr>
            <a:r>
              <a:rPr lang="en-US" sz="1500" b="1" dirty="0">
                <a:solidFill>
                  <a:srgbClr val="C67139"/>
                </a:solidFill>
                <a:latin typeface="Baloo 2" pitchFamily="34" charset="0"/>
                <a:ea typeface="Baloo 2" pitchFamily="34" charset="-122"/>
                <a:cs typeface="Baloo 2" pitchFamily="34" charset="-120"/>
              </a:rPr>
              <a:t>7,9%</a:t>
            </a:r>
            <a:endParaRPr lang="en-US" sz="1500" dirty="0"/>
          </a:p>
        </p:txBody>
      </p:sp>
      <p:sp>
        <p:nvSpPr>
          <p:cNvPr id="25" name="Text 22"/>
          <p:cNvSpPr txBox="1"/>
          <p:nvPr/>
        </p:nvSpPr>
        <p:spPr>
          <a:xfrm>
            <a:off x="7808976" y="5047488"/>
            <a:ext cx="1645920" cy="201168"/>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bao nhiêu</a:t>
            </a:r>
            <a:endParaRPr lang="en-US" sz="1000" dirty="0"/>
          </a:p>
        </p:txBody>
      </p:sp>
      <p:sp>
        <p:nvSpPr>
          <p:cNvPr id="26" name="Text 23"/>
          <p:cNvSpPr txBox="1"/>
          <p:nvPr/>
        </p:nvSpPr>
        <p:spPr>
          <a:xfrm>
            <a:off x="9509760" y="4828032"/>
            <a:ext cx="1645920" cy="256032"/>
          </a:xfrm>
          <a:prstGeom prst="rect">
            <a:avLst/>
          </a:prstGeom>
          <a:noFill/>
          <a:ln/>
        </p:spPr>
        <p:txBody>
          <a:bodyPr wrap="square" lIns="0" tIns="0" rIns="0" bIns="0" rtlCol="0" anchor="ctr"/>
          <a:lstStyle/>
          <a:p>
            <a:pPr indent="0" marL="0">
              <a:buNone/>
            </a:pPr>
            <a:r>
              <a:rPr lang="en-US" sz="1500" b="1" dirty="0">
                <a:solidFill>
                  <a:srgbClr val="C67139"/>
                </a:solidFill>
                <a:latin typeface="Baloo 2" pitchFamily="34" charset="0"/>
                <a:ea typeface="Baloo 2" pitchFamily="34" charset="-122"/>
                <a:cs typeface="Baloo 2" pitchFamily="34" charset="-120"/>
              </a:rPr>
              <a:t>5,1%</a:t>
            </a:r>
            <a:endParaRPr lang="en-US" sz="1500" dirty="0"/>
          </a:p>
        </p:txBody>
      </p:sp>
      <p:sp>
        <p:nvSpPr>
          <p:cNvPr id="27" name="Text 24"/>
          <p:cNvSpPr txBox="1"/>
          <p:nvPr/>
        </p:nvSpPr>
        <p:spPr>
          <a:xfrm>
            <a:off x="9509760" y="5047488"/>
            <a:ext cx="1645920" cy="201168"/>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vì sao + tại sao</a:t>
            </a:r>
            <a:endParaRPr lang="en-US" sz="1000" dirty="0"/>
          </a:p>
        </p:txBody>
      </p:sp>
      <p:sp>
        <p:nvSpPr>
          <p:cNvPr id="28" name="Shape 25"/>
          <p:cNvSpPr/>
          <p:nvPr/>
        </p:nvSpPr>
        <p:spPr>
          <a:xfrm>
            <a:off x="685800" y="5349240"/>
            <a:ext cx="10820095" cy="868680"/>
          </a:xfrm>
          <a:prstGeom prst="roundRect">
            <a:avLst>
              <a:gd name="adj" fmla="val 16842"/>
            </a:avLst>
          </a:prstGeom>
          <a:solidFill>
            <a:srgbClr val="F0FAE1"/>
          </a:solidFill>
          <a:ln w="12700">
            <a:solidFill>
              <a:srgbClr val="F0FAE1"/>
            </a:solidFill>
            <a:prstDash val="solid"/>
          </a:ln>
        </p:spPr>
      </p:sp>
      <p:sp>
        <p:nvSpPr>
          <p:cNvPr id="29" name="Text 26"/>
          <p:cNvSpPr txBox="1"/>
          <p:nvPr/>
        </p:nvSpPr>
        <p:spPr>
          <a:xfrm>
            <a:off x="1005840" y="5468112"/>
            <a:ext cx="10180015" cy="310896"/>
          </a:xfrm>
          <a:prstGeom prst="rect">
            <a:avLst/>
          </a:prstGeom>
          <a:noFill/>
          <a:ln/>
        </p:spPr>
        <p:txBody>
          <a:bodyPr wrap="square" lIns="0" tIns="0" rIns="0" bIns="0" rtlCol="0" anchor="t"/>
          <a:lstStyle/>
          <a:p>
            <a:pPr algn="l" indent="0" marL="0">
              <a:lnSpc>
                <a:spcPts val="2103"/>
              </a:lnSpc>
              <a:buNone/>
            </a:pPr>
            <a:r>
              <a:rPr lang="en-US" sz="1450" b="1" dirty="0">
                <a:solidFill>
                  <a:srgbClr val="3D472B"/>
                </a:solidFill>
                <a:latin typeface="Nunito" pitchFamily="34" charset="0"/>
                <a:ea typeface="Nunito" pitchFamily="34" charset="-122"/>
                <a:cs typeface="Nunito" pitchFamily="34" charset="-120"/>
              </a:rPr>
              <a:t>Vì phân bố chủ đề lệch, mẫu đánh giá phải ngẫu nhiên có seed — và mẫu đó được kiểm lại.</a:t>
            </a:r>
            <a:endParaRPr lang="en-US" sz="1450" dirty="0"/>
          </a:p>
        </p:txBody>
      </p:sp>
      <p:sp>
        <p:nvSpPr>
          <p:cNvPr id="30" name="Text 27"/>
          <p:cNvSpPr txBox="1"/>
          <p:nvPr/>
        </p:nvSpPr>
        <p:spPr>
          <a:xfrm>
            <a:off x="1005840" y="5751576"/>
            <a:ext cx="10180015" cy="411480"/>
          </a:xfrm>
          <a:prstGeom prst="rect">
            <a:avLst/>
          </a:prstGeom>
          <a:noFill/>
          <a:ln/>
        </p:spPr>
        <p:txBody>
          <a:bodyPr wrap="square" lIns="0" tIns="0" rIns="0" bIns="0" rtlCol="0" anchor="t"/>
          <a:lstStyle/>
          <a:p>
            <a:pPr algn="l" indent="0" marL="0">
              <a:lnSpc>
                <a:spcPts val="1668"/>
              </a:lnSpc>
              <a:buNone/>
            </a:pPr>
            <a:r>
              <a:rPr lang="en-US" sz="1150" dirty="0">
                <a:solidFill>
                  <a:srgbClr val="3D472B"/>
                </a:solidFill>
                <a:latin typeface="Nunito" pitchFamily="34" charset="0"/>
                <a:ea typeface="Nunito" pitchFamily="34" charset="-122"/>
                <a:cs typeface="Nunito" pitchFamily="34" charset="-120"/>
              </a:rPr>
              <a:t>Mẫu 3814 câu phủ 19/19 bài viết, 5 bài lớn nhất chiếm 57,0% so với 53,1% của toàn tập: mẫu đại diện được về chủ đề. Cùng hàm lấy mẫu dùng cho cả đường cong huấn luyện và bảng kết quả cuối, nên hai nguồn số liệu so sánh được với nhau.</a:t>
            </a:r>
            <a:endParaRPr lang="en-US" sz="1150" dirty="0"/>
          </a:p>
        </p:txBody>
      </p:sp>
      <p:sp>
        <p:nvSpPr>
          <p:cNvPr id="31" name="Text 28"/>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3 · Xây dựng dữ liệu · Phân bố chủ đề</a:t>
            </a:r>
            <a:endParaRPr lang="en-US" sz="1000" dirty="0"/>
          </a:p>
        </p:txBody>
      </p:sp>
      <p:sp>
        <p:nvSpPr>
          <p:cNvPr id="32" name="Text 29"/>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4 · PHƯƠNG PHÁP &amp; THỰC NGHIỆM</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808"/>
              </a:lnSpc>
              <a:buNone/>
            </a:pPr>
            <a:r>
              <a:rPr lang="en-US" sz="3400" b="1" dirty="0">
                <a:solidFill>
                  <a:srgbClr val="201E1D"/>
                </a:solidFill>
                <a:latin typeface="Baloo 2" pitchFamily="34" charset="0"/>
                <a:ea typeface="Baloo 2" pitchFamily="34" charset="-122"/>
                <a:cs typeface="Baloo 2" pitchFamily="34" charset="-120"/>
              </a:rPr>
              <a:t>Bốn hệ thống — mỗi cái trả lời một câu hỏi khác nhau</a:t>
            </a:r>
            <a:endParaRPr lang="en-US" sz="3400" dirty="0"/>
          </a:p>
        </p:txBody>
      </p:sp>
      <p:sp>
        <p:nvSpPr>
          <p:cNvPr id="4" name="Shape 2"/>
          <p:cNvSpPr/>
          <p:nvPr/>
        </p:nvSpPr>
        <p:spPr>
          <a:xfrm>
            <a:off x="685800" y="1691640"/>
            <a:ext cx="5285232" cy="1554480"/>
          </a:xfrm>
          <a:prstGeom prst="roundRect">
            <a:avLst>
              <a:gd name="adj" fmla="val 9412"/>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5" name="Shape 3"/>
          <p:cNvSpPr/>
          <p:nvPr/>
        </p:nvSpPr>
        <p:spPr>
          <a:xfrm>
            <a:off x="978408" y="2002536"/>
            <a:ext cx="310896" cy="310896"/>
          </a:xfrm>
          <a:prstGeom prst="ellipse">
            <a:avLst/>
          </a:prstGeom>
          <a:solidFill>
            <a:srgbClr val="645C50"/>
          </a:solidFill>
          <a:ln w="12700">
            <a:solidFill>
              <a:srgbClr val="645C50"/>
            </a:solidFill>
            <a:prstDash val="solid"/>
          </a:ln>
        </p:spPr>
      </p:sp>
      <p:sp>
        <p:nvSpPr>
          <p:cNvPr id="6" name="Text 4"/>
          <p:cNvSpPr txBox="1"/>
          <p:nvPr/>
        </p:nvSpPr>
        <p:spPr>
          <a:xfrm>
            <a:off x="978408" y="200253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Baloo 2" pitchFamily="34" charset="0"/>
                <a:ea typeface="Baloo 2" pitchFamily="34" charset="-122"/>
                <a:cs typeface="Baloo 2" pitchFamily="34" charset="-120"/>
              </a:rPr>
              <a:t>1</a:t>
            </a:r>
            <a:endParaRPr lang="en-US" sz="1300" dirty="0"/>
          </a:p>
        </p:txBody>
      </p:sp>
      <p:sp>
        <p:nvSpPr>
          <p:cNvPr id="7" name="Text 5"/>
          <p:cNvSpPr txBox="1"/>
          <p:nvPr/>
        </p:nvSpPr>
        <p:spPr>
          <a:xfrm>
            <a:off x="1435608" y="1947672"/>
            <a:ext cx="2743200" cy="365760"/>
          </a:xfrm>
          <a:prstGeom prst="rect">
            <a:avLst/>
          </a:prstGeom>
          <a:noFill/>
          <a:ln/>
        </p:spPr>
        <p:txBody>
          <a:bodyPr wrap="square" lIns="0" tIns="0" rIns="0" bIns="0" rtlCol="0" anchor="ctr"/>
          <a:lstStyle/>
          <a:p>
            <a:pPr indent="0" marL="0">
              <a:buNone/>
            </a:pPr>
            <a:r>
              <a:rPr lang="en-US" sz="1900" b="1" dirty="0">
                <a:solidFill>
                  <a:srgbClr val="201E1D"/>
                </a:solidFill>
                <a:latin typeface="Baloo 2" pitchFamily="34" charset="0"/>
                <a:ea typeface="Baloo 2" pitchFamily="34" charset="-122"/>
                <a:cs typeface="Baloo 2" pitchFamily="34" charset="-120"/>
              </a:rPr>
              <a:t>TF-IDF Baseline</a:t>
            </a:r>
            <a:endParaRPr lang="en-US" sz="1900" dirty="0"/>
          </a:p>
        </p:txBody>
      </p:sp>
      <p:sp>
        <p:nvSpPr>
          <p:cNvPr id="8" name="Shape 6"/>
          <p:cNvSpPr/>
          <p:nvPr/>
        </p:nvSpPr>
        <p:spPr>
          <a:xfrm>
            <a:off x="4297680" y="2002536"/>
            <a:ext cx="1417320" cy="310896"/>
          </a:xfrm>
          <a:prstGeom prst="roundRect">
            <a:avLst>
              <a:gd name="adj" fmla="val 50000"/>
            </a:avLst>
          </a:prstGeom>
          <a:solidFill>
            <a:srgbClr val="EBDDC5"/>
          </a:solidFill>
          <a:ln w="12700">
            <a:solidFill>
              <a:srgbClr val="EBDDC5"/>
            </a:solidFill>
            <a:prstDash val="solid"/>
          </a:ln>
        </p:spPr>
      </p:sp>
      <p:sp>
        <p:nvSpPr>
          <p:cNvPr id="9" name="Text 7"/>
          <p:cNvSpPr txBox="1"/>
          <p:nvPr/>
        </p:nvSpPr>
        <p:spPr>
          <a:xfrm>
            <a:off x="4297680" y="2002536"/>
            <a:ext cx="1417320" cy="310896"/>
          </a:xfrm>
          <a:prstGeom prst="rect">
            <a:avLst/>
          </a:prstGeom>
          <a:noFill/>
          <a:ln/>
        </p:spPr>
        <p:txBody>
          <a:bodyPr wrap="square" lIns="0" tIns="0" rIns="0" bIns="0" rtlCol="0" anchor="ctr"/>
          <a:lstStyle/>
          <a:p>
            <a:pPr algn="ctr" indent="0" marL="0">
              <a:buNone/>
            </a:pPr>
            <a:r>
              <a:rPr lang="en-US" sz="950" dirty="0">
                <a:solidFill>
                  <a:srgbClr val="645C50"/>
                </a:solidFill>
                <a:latin typeface="Nunito" pitchFamily="34" charset="0"/>
                <a:ea typeface="Nunito" pitchFamily="34" charset="-122"/>
                <a:cs typeface="Nunito" pitchFamily="34" charset="-120"/>
              </a:rPr>
              <a:t>không huấn luyện</a:t>
            </a:r>
            <a:endParaRPr lang="en-US" sz="950" dirty="0"/>
          </a:p>
        </p:txBody>
      </p:sp>
      <p:sp>
        <p:nvSpPr>
          <p:cNvPr id="10" name="Text 8"/>
          <p:cNvSpPr txBox="1"/>
          <p:nvPr/>
        </p:nvSpPr>
        <p:spPr>
          <a:xfrm>
            <a:off x="978408" y="2496312"/>
            <a:ext cx="4709160" cy="640080"/>
          </a:xfrm>
          <a:prstGeom prst="rect">
            <a:avLst/>
          </a:prstGeom>
          <a:noFill/>
          <a:ln/>
        </p:spPr>
        <p:txBody>
          <a:bodyPr wrap="square" lIns="0" tIns="0" rIns="0" bIns="0" rtlCol="0" anchor="t"/>
          <a:lstStyle/>
          <a:p>
            <a:pPr algn="l" indent="0" marL="0">
              <a:lnSpc>
                <a:spcPts val="1885"/>
              </a:lnSpc>
              <a:buNone/>
            </a:pPr>
            <a:r>
              <a:rPr lang="en-US" sz="1300" i="1" dirty="0">
                <a:solidFill>
                  <a:srgbClr val="645C50"/>
                </a:solidFill>
                <a:latin typeface="Nunito" pitchFamily="34" charset="0"/>
                <a:ea typeface="Nunito" pitchFamily="34" charset="-122"/>
                <a:cs typeface="Nunito" pitchFamily="34" charset="-120"/>
              </a:rPr>
              <a:t>Bài toán này giải được bằng so khớp từ khoá thuần không?</a:t>
            </a:r>
            <a:endParaRPr lang="en-US" sz="1300" dirty="0"/>
          </a:p>
        </p:txBody>
      </p:sp>
      <p:sp>
        <p:nvSpPr>
          <p:cNvPr id="11" name="Shape 9"/>
          <p:cNvSpPr/>
          <p:nvPr/>
        </p:nvSpPr>
        <p:spPr>
          <a:xfrm>
            <a:off x="6217920" y="1691640"/>
            <a:ext cx="5285232" cy="1554480"/>
          </a:xfrm>
          <a:prstGeom prst="roundRect">
            <a:avLst>
              <a:gd name="adj" fmla="val 9412"/>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12" name="Shape 10"/>
          <p:cNvSpPr/>
          <p:nvPr/>
        </p:nvSpPr>
        <p:spPr>
          <a:xfrm>
            <a:off x="6510528" y="2002536"/>
            <a:ext cx="310896" cy="310896"/>
          </a:xfrm>
          <a:prstGeom prst="ellipse">
            <a:avLst/>
          </a:prstGeom>
          <a:solidFill>
            <a:srgbClr val="645C50"/>
          </a:solidFill>
          <a:ln w="12700">
            <a:solidFill>
              <a:srgbClr val="645C50"/>
            </a:solidFill>
            <a:prstDash val="solid"/>
          </a:ln>
        </p:spPr>
      </p:sp>
      <p:sp>
        <p:nvSpPr>
          <p:cNvPr id="13" name="Text 11"/>
          <p:cNvSpPr txBox="1"/>
          <p:nvPr/>
        </p:nvSpPr>
        <p:spPr>
          <a:xfrm>
            <a:off x="6510528" y="200253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Baloo 2" pitchFamily="34" charset="0"/>
                <a:ea typeface="Baloo 2" pitchFamily="34" charset="-122"/>
                <a:cs typeface="Baloo 2" pitchFamily="34" charset="-120"/>
              </a:rPr>
              <a:t>2</a:t>
            </a:r>
            <a:endParaRPr lang="en-US" sz="1300" dirty="0"/>
          </a:p>
        </p:txBody>
      </p:sp>
      <p:sp>
        <p:nvSpPr>
          <p:cNvPr id="14" name="Text 12"/>
          <p:cNvSpPr txBox="1"/>
          <p:nvPr/>
        </p:nvSpPr>
        <p:spPr>
          <a:xfrm>
            <a:off x="6967728" y="1947672"/>
            <a:ext cx="2743200" cy="365760"/>
          </a:xfrm>
          <a:prstGeom prst="rect">
            <a:avLst/>
          </a:prstGeom>
          <a:noFill/>
          <a:ln/>
        </p:spPr>
        <p:txBody>
          <a:bodyPr wrap="square" lIns="0" tIns="0" rIns="0" bIns="0" rtlCol="0" anchor="ctr"/>
          <a:lstStyle/>
          <a:p>
            <a:pPr indent="0" marL="0">
              <a:buNone/>
            </a:pPr>
            <a:r>
              <a:rPr lang="en-US" sz="1900" b="1" dirty="0">
                <a:solidFill>
                  <a:srgbClr val="201E1D"/>
                </a:solidFill>
                <a:latin typeface="Baloo 2" pitchFamily="34" charset="0"/>
                <a:ea typeface="Baloo 2" pitchFamily="34" charset="-122"/>
                <a:cs typeface="Baloo 2" pitchFamily="34" charset="-120"/>
              </a:rPr>
              <a:t>XLM-R squad2</a:t>
            </a:r>
            <a:endParaRPr lang="en-US" sz="1900" dirty="0"/>
          </a:p>
        </p:txBody>
      </p:sp>
      <p:sp>
        <p:nvSpPr>
          <p:cNvPr id="15" name="Shape 13"/>
          <p:cNvSpPr/>
          <p:nvPr/>
        </p:nvSpPr>
        <p:spPr>
          <a:xfrm>
            <a:off x="9829800" y="2002536"/>
            <a:ext cx="1417320" cy="310896"/>
          </a:xfrm>
          <a:prstGeom prst="roundRect">
            <a:avLst>
              <a:gd name="adj" fmla="val 50000"/>
            </a:avLst>
          </a:prstGeom>
          <a:solidFill>
            <a:srgbClr val="EBDDC5"/>
          </a:solidFill>
          <a:ln w="12700">
            <a:solidFill>
              <a:srgbClr val="EBDDC5"/>
            </a:solidFill>
            <a:prstDash val="solid"/>
          </a:ln>
        </p:spPr>
      </p:sp>
      <p:sp>
        <p:nvSpPr>
          <p:cNvPr id="16" name="Text 14"/>
          <p:cNvSpPr txBox="1"/>
          <p:nvPr/>
        </p:nvSpPr>
        <p:spPr>
          <a:xfrm>
            <a:off x="9829800" y="2002536"/>
            <a:ext cx="1417320" cy="310896"/>
          </a:xfrm>
          <a:prstGeom prst="rect">
            <a:avLst/>
          </a:prstGeom>
          <a:noFill/>
          <a:ln/>
        </p:spPr>
        <p:txBody>
          <a:bodyPr wrap="square" lIns="0" tIns="0" rIns="0" bIns="0" rtlCol="0" anchor="ctr"/>
          <a:lstStyle/>
          <a:p>
            <a:pPr algn="ctr" indent="0" marL="0">
              <a:buNone/>
            </a:pPr>
            <a:r>
              <a:rPr lang="en-US" sz="950" dirty="0">
                <a:solidFill>
                  <a:srgbClr val="645C50"/>
                </a:solidFill>
                <a:latin typeface="Nunito" pitchFamily="34" charset="0"/>
                <a:ea typeface="Nunito" pitchFamily="34" charset="-122"/>
                <a:cs typeface="Nunito" pitchFamily="34" charset="-120"/>
              </a:rPr>
              <a:t>zero-shot</a:t>
            </a:r>
            <a:endParaRPr lang="en-US" sz="950" dirty="0"/>
          </a:p>
        </p:txBody>
      </p:sp>
      <p:sp>
        <p:nvSpPr>
          <p:cNvPr id="17" name="Text 15"/>
          <p:cNvSpPr txBox="1"/>
          <p:nvPr/>
        </p:nvSpPr>
        <p:spPr>
          <a:xfrm>
            <a:off x="6510528" y="2496312"/>
            <a:ext cx="4709160" cy="640080"/>
          </a:xfrm>
          <a:prstGeom prst="rect">
            <a:avLst/>
          </a:prstGeom>
          <a:noFill/>
          <a:ln/>
        </p:spPr>
        <p:txBody>
          <a:bodyPr wrap="square" lIns="0" tIns="0" rIns="0" bIns="0" rtlCol="0" anchor="t"/>
          <a:lstStyle/>
          <a:p>
            <a:pPr algn="l" indent="0" marL="0">
              <a:lnSpc>
                <a:spcPts val="1885"/>
              </a:lnSpc>
              <a:buNone/>
            </a:pPr>
            <a:r>
              <a:rPr lang="en-US" sz="1300" i="1" dirty="0">
                <a:solidFill>
                  <a:srgbClr val="645C50"/>
                </a:solidFill>
                <a:latin typeface="Nunito" pitchFamily="34" charset="0"/>
                <a:ea typeface="Nunito" pitchFamily="34" charset="-122"/>
                <a:cs typeface="Nunito" pitchFamily="34" charset="-120"/>
              </a:rPr>
              <a:t>Transfer từ SQuAD-2.0 tiếng Anh sang tiếng Việt được bao nhiêu?</a:t>
            </a:r>
            <a:endParaRPr lang="en-US" sz="1300" dirty="0"/>
          </a:p>
        </p:txBody>
      </p:sp>
      <p:sp>
        <p:nvSpPr>
          <p:cNvPr id="18" name="Shape 16"/>
          <p:cNvSpPr/>
          <p:nvPr/>
        </p:nvSpPr>
        <p:spPr>
          <a:xfrm>
            <a:off x="685800" y="3474720"/>
            <a:ext cx="5285232" cy="1554480"/>
          </a:xfrm>
          <a:prstGeom prst="roundRect">
            <a:avLst>
              <a:gd name="adj" fmla="val 9412"/>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19" name="Shape 17"/>
          <p:cNvSpPr/>
          <p:nvPr/>
        </p:nvSpPr>
        <p:spPr>
          <a:xfrm>
            <a:off x="978408" y="3785616"/>
            <a:ext cx="310896" cy="310896"/>
          </a:xfrm>
          <a:prstGeom prst="ellipse">
            <a:avLst/>
          </a:prstGeom>
          <a:solidFill>
            <a:srgbClr val="C67139"/>
          </a:solidFill>
          <a:ln w="12700">
            <a:solidFill>
              <a:srgbClr val="C67139"/>
            </a:solidFill>
            <a:prstDash val="solid"/>
          </a:ln>
        </p:spPr>
      </p:sp>
      <p:sp>
        <p:nvSpPr>
          <p:cNvPr id="20" name="Text 18"/>
          <p:cNvSpPr txBox="1"/>
          <p:nvPr/>
        </p:nvSpPr>
        <p:spPr>
          <a:xfrm>
            <a:off x="978408" y="37856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Baloo 2" pitchFamily="34" charset="0"/>
                <a:ea typeface="Baloo 2" pitchFamily="34" charset="-122"/>
                <a:cs typeface="Baloo 2" pitchFamily="34" charset="-120"/>
              </a:rPr>
              <a:t>3</a:t>
            </a:r>
            <a:endParaRPr lang="en-US" sz="1300" dirty="0"/>
          </a:p>
        </p:txBody>
      </p:sp>
      <p:sp>
        <p:nvSpPr>
          <p:cNvPr id="21" name="Text 19"/>
          <p:cNvSpPr txBox="1"/>
          <p:nvPr/>
        </p:nvSpPr>
        <p:spPr>
          <a:xfrm>
            <a:off x="1435608" y="3730752"/>
            <a:ext cx="2743200" cy="365760"/>
          </a:xfrm>
          <a:prstGeom prst="rect">
            <a:avLst/>
          </a:prstGeom>
          <a:noFill/>
          <a:ln/>
        </p:spPr>
        <p:txBody>
          <a:bodyPr wrap="square" lIns="0" tIns="0" rIns="0" bIns="0" rtlCol="0" anchor="ctr"/>
          <a:lstStyle/>
          <a:p>
            <a:pPr indent="0" marL="0">
              <a:buNone/>
            </a:pPr>
            <a:r>
              <a:rPr lang="en-US" sz="1900" b="1" dirty="0">
                <a:solidFill>
                  <a:srgbClr val="201E1D"/>
                </a:solidFill>
                <a:latin typeface="Baloo 2" pitchFamily="34" charset="0"/>
                <a:ea typeface="Baloo 2" pitchFamily="34" charset="-122"/>
                <a:cs typeface="Baloo 2" pitchFamily="34" charset="-120"/>
              </a:rPr>
              <a:t>mBERT + QA</a:t>
            </a:r>
            <a:endParaRPr lang="en-US" sz="1900" dirty="0"/>
          </a:p>
        </p:txBody>
      </p:sp>
      <p:sp>
        <p:nvSpPr>
          <p:cNvPr id="22" name="Shape 20"/>
          <p:cNvSpPr/>
          <p:nvPr/>
        </p:nvSpPr>
        <p:spPr>
          <a:xfrm>
            <a:off x="4297680" y="3785616"/>
            <a:ext cx="1417320" cy="310896"/>
          </a:xfrm>
          <a:prstGeom prst="roundRect">
            <a:avLst>
              <a:gd name="adj" fmla="val 50000"/>
            </a:avLst>
          </a:prstGeom>
          <a:solidFill>
            <a:srgbClr val="EBDDC5"/>
          </a:solidFill>
          <a:ln w="12700">
            <a:solidFill>
              <a:srgbClr val="EBDDC5"/>
            </a:solidFill>
            <a:prstDash val="solid"/>
          </a:ln>
        </p:spPr>
      </p:sp>
      <p:sp>
        <p:nvSpPr>
          <p:cNvPr id="23" name="Text 21"/>
          <p:cNvSpPr txBox="1"/>
          <p:nvPr/>
        </p:nvSpPr>
        <p:spPr>
          <a:xfrm>
            <a:off x="4297680" y="3785616"/>
            <a:ext cx="1417320" cy="310896"/>
          </a:xfrm>
          <a:prstGeom prst="rect">
            <a:avLst/>
          </a:prstGeom>
          <a:noFill/>
          <a:ln/>
        </p:spPr>
        <p:txBody>
          <a:bodyPr wrap="square" lIns="0" tIns="0" rIns="0" bIns="0" rtlCol="0" anchor="ctr"/>
          <a:lstStyle/>
          <a:p>
            <a:pPr algn="ctr" indent="0" marL="0">
              <a:buNone/>
            </a:pPr>
            <a:r>
              <a:rPr lang="en-US" sz="950" dirty="0">
                <a:solidFill>
                  <a:srgbClr val="645C50"/>
                </a:solidFill>
                <a:latin typeface="Nunito" pitchFamily="34" charset="0"/>
                <a:ea typeface="Nunito" pitchFamily="34" charset="-122"/>
                <a:cs typeface="Nunito" pitchFamily="34" charset="-120"/>
              </a:rPr>
              <a:t>fine-tuned · MPS</a:t>
            </a:r>
            <a:endParaRPr lang="en-US" sz="950" dirty="0"/>
          </a:p>
        </p:txBody>
      </p:sp>
      <p:sp>
        <p:nvSpPr>
          <p:cNvPr id="24" name="Text 22"/>
          <p:cNvSpPr txBox="1"/>
          <p:nvPr/>
        </p:nvSpPr>
        <p:spPr>
          <a:xfrm>
            <a:off x="978408" y="4279392"/>
            <a:ext cx="4709160" cy="640080"/>
          </a:xfrm>
          <a:prstGeom prst="rect">
            <a:avLst/>
          </a:prstGeom>
          <a:noFill/>
          <a:ln/>
        </p:spPr>
        <p:txBody>
          <a:bodyPr wrap="square" lIns="0" tIns="0" rIns="0" bIns="0" rtlCol="0" anchor="t"/>
          <a:lstStyle/>
          <a:p>
            <a:pPr algn="l" indent="0" marL="0">
              <a:lnSpc>
                <a:spcPts val="1885"/>
              </a:lnSpc>
              <a:buNone/>
            </a:pPr>
            <a:r>
              <a:rPr lang="en-US" sz="1300" i="1" dirty="0">
                <a:solidFill>
                  <a:srgbClr val="645C50"/>
                </a:solidFill>
                <a:latin typeface="Nunito" pitchFamily="34" charset="0"/>
                <a:ea typeface="Nunito" pitchFamily="34" charset="-122"/>
                <a:cs typeface="Nunito" pitchFamily="34" charset="-120"/>
              </a:rPr>
              <a:t>Fine-tune trong miền thêm được bao nhiêu, với encoder đa ngữ?</a:t>
            </a:r>
            <a:endParaRPr lang="en-US" sz="1300" dirty="0"/>
          </a:p>
        </p:txBody>
      </p:sp>
      <p:sp>
        <p:nvSpPr>
          <p:cNvPr id="25" name="Shape 23"/>
          <p:cNvSpPr/>
          <p:nvPr/>
        </p:nvSpPr>
        <p:spPr>
          <a:xfrm>
            <a:off x="6217920" y="3474720"/>
            <a:ext cx="5285232" cy="1554480"/>
          </a:xfrm>
          <a:prstGeom prst="roundRect">
            <a:avLst>
              <a:gd name="adj" fmla="val 9412"/>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26" name="Shape 24"/>
          <p:cNvSpPr/>
          <p:nvPr/>
        </p:nvSpPr>
        <p:spPr>
          <a:xfrm>
            <a:off x="6510528" y="3785616"/>
            <a:ext cx="310896" cy="310896"/>
          </a:xfrm>
          <a:prstGeom prst="ellipse">
            <a:avLst/>
          </a:prstGeom>
          <a:solidFill>
            <a:srgbClr val="7A8A5E"/>
          </a:solidFill>
          <a:ln w="12700">
            <a:solidFill>
              <a:srgbClr val="7A8A5E"/>
            </a:solidFill>
            <a:prstDash val="solid"/>
          </a:ln>
        </p:spPr>
      </p:sp>
      <p:sp>
        <p:nvSpPr>
          <p:cNvPr id="27" name="Text 25"/>
          <p:cNvSpPr txBox="1"/>
          <p:nvPr/>
        </p:nvSpPr>
        <p:spPr>
          <a:xfrm>
            <a:off x="6510528" y="37856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Baloo 2" pitchFamily="34" charset="0"/>
                <a:ea typeface="Baloo 2" pitchFamily="34" charset="-122"/>
                <a:cs typeface="Baloo 2" pitchFamily="34" charset="-120"/>
              </a:rPr>
              <a:t>4</a:t>
            </a:r>
            <a:endParaRPr lang="en-US" sz="1300" dirty="0"/>
          </a:p>
        </p:txBody>
      </p:sp>
      <p:sp>
        <p:nvSpPr>
          <p:cNvPr id="28" name="Text 26"/>
          <p:cNvSpPr txBox="1"/>
          <p:nvPr/>
        </p:nvSpPr>
        <p:spPr>
          <a:xfrm>
            <a:off x="6967728" y="3730752"/>
            <a:ext cx="2743200" cy="365760"/>
          </a:xfrm>
          <a:prstGeom prst="rect">
            <a:avLst/>
          </a:prstGeom>
          <a:noFill/>
          <a:ln/>
        </p:spPr>
        <p:txBody>
          <a:bodyPr wrap="square" lIns="0" tIns="0" rIns="0" bIns="0" rtlCol="0" anchor="ctr"/>
          <a:lstStyle/>
          <a:p>
            <a:pPr indent="0" marL="0">
              <a:buNone/>
            </a:pPr>
            <a:r>
              <a:rPr lang="en-US" sz="1900" b="1" dirty="0">
                <a:solidFill>
                  <a:srgbClr val="201E1D"/>
                </a:solidFill>
                <a:latin typeface="Baloo 2" pitchFamily="34" charset="0"/>
                <a:ea typeface="Baloo 2" pitchFamily="34" charset="-122"/>
                <a:cs typeface="Baloo 2" pitchFamily="34" charset="-120"/>
              </a:rPr>
              <a:t>ViSoBERT + QA</a:t>
            </a:r>
            <a:endParaRPr lang="en-US" sz="1900" dirty="0"/>
          </a:p>
        </p:txBody>
      </p:sp>
      <p:sp>
        <p:nvSpPr>
          <p:cNvPr id="29" name="Shape 27"/>
          <p:cNvSpPr/>
          <p:nvPr/>
        </p:nvSpPr>
        <p:spPr>
          <a:xfrm>
            <a:off x="9829800" y="3785616"/>
            <a:ext cx="1417320" cy="310896"/>
          </a:xfrm>
          <a:prstGeom prst="roundRect">
            <a:avLst>
              <a:gd name="adj" fmla="val 50000"/>
            </a:avLst>
          </a:prstGeom>
          <a:solidFill>
            <a:srgbClr val="EBDDC5"/>
          </a:solidFill>
          <a:ln w="12700">
            <a:solidFill>
              <a:srgbClr val="EBDDC5"/>
            </a:solidFill>
            <a:prstDash val="solid"/>
          </a:ln>
        </p:spPr>
      </p:sp>
      <p:sp>
        <p:nvSpPr>
          <p:cNvPr id="30" name="Text 28"/>
          <p:cNvSpPr txBox="1"/>
          <p:nvPr/>
        </p:nvSpPr>
        <p:spPr>
          <a:xfrm>
            <a:off x="9829800" y="3785616"/>
            <a:ext cx="1417320" cy="310896"/>
          </a:xfrm>
          <a:prstGeom prst="rect">
            <a:avLst/>
          </a:prstGeom>
          <a:noFill/>
          <a:ln/>
        </p:spPr>
        <p:txBody>
          <a:bodyPr wrap="square" lIns="0" tIns="0" rIns="0" bIns="0" rtlCol="0" anchor="ctr"/>
          <a:lstStyle/>
          <a:p>
            <a:pPr algn="ctr" indent="0" marL="0">
              <a:buNone/>
            </a:pPr>
            <a:r>
              <a:rPr lang="en-US" sz="950" dirty="0">
                <a:solidFill>
                  <a:srgbClr val="645C50"/>
                </a:solidFill>
                <a:latin typeface="Nunito" pitchFamily="34" charset="0"/>
                <a:ea typeface="Nunito" pitchFamily="34" charset="-122"/>
                <a:cs typeface="Nunito" pitchFamily="34" charset="-120"/>
              </a:rPr>
              <a:t>fine-tuned · MPS</a:t>
            </a:r>
            <a:endParaRPr lang="en-US" sz="950" dirty="0"/>
          </a:p>
        </p:txBody>
      </p:sp>
      <p:sp>
        <p:nvSpPr>
          <p:cNvPr id="31" name="Text 29"/>
          <p:cNvSpPr txBox="1"/>
          <p:nvPr/>
        </p:nvSpPr>
        <p:spPr>
          <a:xfrm>
            <a:off x="6510528" y="4279392"/>
            <a:ext cx="4709160" cy="640080"/>
          </a:xfrm>
          <a:prstGeom prst="rect">
            <a:avLst/>
          </a:prstGeom>
          <a:noFill/>
          <a:ln/>
        </p:spPr>
        <p:txBody>
          <a:bodyPr wrap="square" lIns="0" tIns="0" rIns="0" bIns="0" rtlCol="0" anchor="t"/>
          <a:lstStyle/>
          <a:p>
            <a:pPr algn="l" indent="0" marL="0">
              <a:lnSpc>
                <a:spcPts val="1885"/>
              </a:lnSpc>
              <a:buNone/>
            </a:pPr>
            <a:r>
              <a:rPr lang="en-US" sz="1300" i="1" dirty="0">
                <a:solidFill>
                  <a:srgbClr val="645C50"/>
                </a:solidFill>
                <a:latin typeface="Nunito" pitchFamily="34" charset="0"/>
                <a:ea typeface="Nunito" pitchFamily="34" charset="-122"/>
                <a:cs typeface="Nunito" pitchFamily="34" charset="-120"/>
              </a:rPr>
              <a:t>Pretraining chuyên tiếng Việt đóng góp bao nhiêu?</a:t>
            </a:r>
            <a:endParaRPr lang="en-US" sz="1300" dirty="0"/>
          </a:p>
        </p:txBody>
      </p:sp>
      <p:sp>
        <p:nvSpPr>
          <p:cNvPr id="32" name="Shape 30"/>
          <p:cNvSpPr/>
          <p:nvPr/>
        </p:nvSpPr>
        <p:spPr>
          <a:xfrm>
            <a:off x="685800" y="5349240"/>
            <a:ext cx="10820095" cy="868680"/>
          </a:xfrm>
          <a:prstGeom prst="roundRect">
            <a:avLst>
              <a:gd name="adj" fmla="val 16842"/>
            </a:avLst>
          </a:prstGeom>
          <a:solidFill>
            <a:srgbClr val="FFF2EB"/>
          </a:solidFill>
          <a:ln w="12700">
            <a:solidFill>
              <a:srgbClr val="FFF2EB"/>
            </a:solidFill>
            <a:prstDash val="solid"/>
          </a:ln>
        </p:spPr>
      </p:sp>
      <p:sp>
        <p:nvSpPr>
          <p:cNvPr id="33" name="Text 31"/>
          <p:cNvSpPr txBox="1"/>
          <p:nvPr/>
        </p:nvSpPr>
        <p:spPr>
          <a:xfrm>
            <a:off x="1005840" y="5468112"/>
            <a:ext cx="10180015" cy="310896"/>
          </a:xfrm>
          <a:prstGeom prst="rect">
            <a:avLst/>
          </a:prstGeom>
          <a:noFill/>
          <a:ln/>
        </p:spPr>
        <p:txBody>
          <a:bodyPr wrap="square" lIns="0" tIns="0" rIns="0" bIns="0" rtlCol="0" anchor="t"/>
          <a:lstStyle/>
          <a:p>
            <a:pPr algn="l" indent="0" marL="0">
              <a:lnSpc>
                <a:spcPts val="2103"/>
              </a:lnSpc>
              <a:buNone/>
            </a:pPr>
            <a:r>
              <a:rPr lang="en-US" sz="1450" b="1" dirty="0">
                <a:solidFill>
                  <a:srgbClr val="8C491A"/>
                </a:solidFill>
                <a:latin typeface="Nunito" pitchFamily="34" charset="0"/>
                <a:ea typeface="Nunito" pitchFamily="34" charset="-122"/>
                <a:cs typeface="Nunito" pitchFamily="34" charset="-120"/>
              </a:rPr>
              <a:t>Giả thuyết được đăng ký TRƯỚC khi chạy (results/hypotheses.md) — và nó viết cho PhoBERT.</a:t>
            </a:r>
            <a:endParaRPr lang="en-US" sz="1450" dirty="0"/>
          </a:p>
        </p:txBody>
      </p:sp>
      <p:sp>
        <p:nvSpPr>
          <p:cNvPr id="34" name="Text 32"/>
          <p:cNvSpPr txBox="1"/>
          <p:nvPr/>
        </p:nvSpPr>
        <p:spPr>
          <a:xfrm>
            <a:off x="1005840" y="5751576"/>
            <a:ext cx="10180015" cy="411480"/>
          </a:xfrm>
          <a:prstGeom prst="rect">
            <a:avLst/>
          </a:prstGeom>
          <a:noFill/>
          <a:ln/>
        </p:spPr>
        <p:txBody>
          <a:bodyPr wrap="square" lIns="0" tIns="0" rIns="0" bIns="0" rtlCol="0" anchor="t"/>
          <a:lstStyle/>
          <a:p>
            <a:pPr algn="l" indent="0" marL="0">
              <a:lnSpc>
                <a:spcPts val="1668"/>
              </a:lnSpc>
              <a:buNone/>
            </a:pPr>
            <a:r>
              <a:rPr lang="en-US" sz="1150" dirty="0">
                <a:solidFill>
                  <a:srgbClr val="8C491A"/>
                </a:solidFill>
                <a:latin typeface="Nunito" pitchFamily="34" charset="0"/>
                <a:ea typeface="Nunito" pitchFamily="34" charset="-122"/>
                <a:cs typeface="Nunito" pitchFamily="34" charset="-120"/>
              </a:rPr>
              <a:t>Giả thuyết dự đoán encoder tiếng Việt sẽ vượt mBERT. PhoBERT không chạy được vì lý do kỹ thuật (slide sau), nên ViSoBERT là mô hình THAY THẾ, không phải phép kiểm cho giả thuyết đó: giả thuyết trung tâm vẫn CHƯA kiểm được, không phải bị bác bỏ.</a:t>
            </a:r>
            <a:endParaRPr lang="en-US" sz="1150" dirty="0"/>
          </a:p>
        </p:txBody>
      </p:sp>
      <p:sp>
        <p:nvSpPr>
          <p:cNvPr id="35" name="Text 33"/>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4 · Phương pháp · Bốn mô hình</a:t>
            </a:r>
            <a:endParaRPr lang="en-US" sz="1000" dirty="0"/>
          </a:p>
        </p:txBody>
      </p:sp>
      <p:sp>
        <p:nvSpPr>
          <p:cNvPr id="36" name="Text 34"/>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4 · PHƯƠNG PHÁP · KIẾN TRÚC</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808"/>
              </a:lnSpc>
              <a:buNone/>
            </a:pPr>
            <a:r>
              <a:rPr lang="en-US" sz="3400" b="1" dirty="0">
                <a:solidFill>
                  <a:srgbClr val="201E1D"/>
                </a:solidFill>
                <a:latin typeface="Baloo 2" pitchFamily="34" charset="0"/>
                <a:ea typeface="Baloo 2" pitchFamily="34" charset="-122"/>
                <a:cs typeface="Baloo 2" pitchFamily="34" charset="-120"/>
              </a:rPr>
              <a:t>Bốn tầng, một chiều phụ thuộc</a:t>
            </a:r>
            <a:endParaRPr lang="en-US" sz="3400" dirty="0"/>
          </a:p>
        </p:txBody>
      </p:sp>
      <p:sp>
        <p:nvSpPr>
          <p:cNvPr id="4" name="Shape 2"/>
          <p:cNvSpPr/>
          <p:nvPr/>
        </p:nvSpPr>
        <p:spPr>
          <a:xfrm>
            <a:off x="685800" y="1627632"/>
            <a:ext cx="10820095" cy="896112"/>
          </a:xfrm>
          <a:prstGeom prst="roundRect">
            <a:avLst>
              <a:gd name="adj" fmla="val 16327"/>
            </a:avLst>
          </a:prstGeom>
          <a:solidFill>
            <a:srgbClr val="F0FAE1"/>
          </a:solidFill>
          <a:ln w="12700">
            <a:solidFill>
              <a:srgbClr val="F0FAE1"/>
            </a:solidFill>
            <a:prstDash val="solid"/>
          </a:ln>
        </p:spPr>
      </p:sp>
      <p:sp>
        <p:nvSpPr>
          <p:cNvPr id="5" name="Shape 3"/>
          <p:cNvSpPr/>
          <p:nvPr/>
        </p:nvSpPr>
        <p:spPr>
          <a:xfrm>
            <a:off x="978408" y="1993392"/>
            <a:ext cx="182880" cy="182880"/>
          </a:xfrm>
          <a:prstGeom prst="ellipse">
            <a:avLst/>
          </a:prstGeom>
          <a:solidFill>
            <a:srgbClr val="7A8A5E"/>
          </a:solidFill>
          <a:ln w="12700">
            <a:solidFill>
              <a:srgbClr val="7A8A5E"/>
            </a:solidFill>
            <a:prstDash val="solid"/>
          </a:ln>
        </p:spPr>
      </p:sp>
      <p:sp>
        <p:nvSpPr>
          <p:cNvPr id="6" name="Text 4"/>
          <p:cNvSpPr txBox="1"/>
          <p:nvPr/>
        </p:nvSpPr>
        <p:spPr>
          <a:xfrm>
            <a:off x="1289304" y="1755648"/>
            <a:ext cx="2103120" cy="329184"/>
          </a:xfrm>
          <a:prstGeom prst="rect">
            <a:avLst/>
          </a:prstGeom>
          <a:noFill/>
          <a:ln/>
        </p:spPr>
        <p:txBody>
          <a:bodyPr wrap="square" lIns="0" tIns="0" rIns="0" bIns="0" rtlCol="0" anchor="ctr"/>
          <a:lstStyle/>
          <a:p>
            <a:pPr indent="0" marL="0">
              <a:buNone/>
            </a:pPr>
            <a:r>
              <a:rPr lang="en-US" sz="1600" b="1" dirty="0">
                <a:solidFill>
                  <a:srgbClr val="3D472B"/>
                </a:solidFill>
                <a:latin typeface="Baloo 2" pitchFamily="34" charset="0"/>
                <a:ea typeface="Baloo 2" pitchFamily="34" charset="-122"/>
                <a:cs typeface="Baloo 2" pitchFamily="34" charset="-120"/>
              </a:rPr>
              <a:t>Tầng dữ liệu</a:t>
            </a:r>
            <a:endParaRPr lang="en-US" sz="1600" dirty="0"/>
          </a:p>
        </p:txBody>
      </p:sp>
      <p:sp>
        <p:nvSpPr>
          <p:cNvPr id="7" name="Text 5"/>
          <p:cNvSpPr txBox="1"/>
          <p:nvPr/>
        </p:nvSpPr>
        <p:spPr>
          <a:xfrm>
            <a:off x="1289304" y="2048256"/>
            <a:ext cx="4297680" cy="384048"/>
          </a:xfrm>
          <a:prstGeom prst="rect">
            <a:avLst/>
          </a:prstGeom>
          <a:noFill/>
          <a:ln/>
        </p:spPr>
        <p:txBody>
          <a:bodyPr wrap="square" lIns="0" tIns="0" rIns="0" bIns="0" rtlCol="0" anchor="ctr"/>
          <a:lstStyle/>
          <a:p>
            <a:pPr indent="0" marL="0">
              <a:lnSpc>
                <a:spcPts val="1100"/>
              </a:lnSpc>
              <a:buNone/>
            </a:pPr>
            <a:r>
              <a:rPr lang="en-US" sz="900" dirty="0">
                <a:solidFill>
                  <a:srgbClr val="645C50"/>
                </a:solidFill>
                <a:latin typeface="Courier New" pitchFamily="34" charset="0"/>
                <a:ea typeface="Courier New" pitchFamily="34" charset="-122"/>
                <a:cs typeface="Courier New" pitchFamily="34" charset="-120"/>
              </a:rPr>
              <a:t>data.py · tagging.py</a:t>
            </a:r>
            <a:endParaRPr lang="en-US" sz="900" dirty="0"/>
          </a:p>
        </p:txBody>
      </p:sp>
      <p:sp>
        <p:nvSpPr>
          <p:cNvPr id="8" name="Text 6"/>
          <p:cNvSpPr txBox="1"/>
          <p:nvPr/>
        </p:nvSpPr>
        <p:spPr>
          <a:xfrm>
            <a:off x="5806440" y="1810512"/>
            <a:ext cx="5394960" cy="640080"/>
          </a:xfrm>
          <a:prstGeom prst="rect">
            <a:avLst/>
          </a:prstGeom>
          <a:noFill/>
          <a:ln/>
        </p:spPr>
        <p:txBody>
          <a:bodyPr wrap="square" lIns="0" tIns="0" rIns="0" bIns="0" rtlCol="0" anchor="t"/>
          <a:lstStyle/>
          <a:p>
            <a:pPr algn="l" indent="0" marL="0">
              <a:lnSpc>
                <a:spcPts val="1740"/>
              </a:lnSpc>
              <a:buNone/>
            </a:pPr>
            <a:r>
              <a:rPr lang="en-US" sz="1200" dirty="0">
                <a:solidFill>
                  <a:srgbClr val="3D472B"/>
                </a:solidFill>
                <a:latin typeface="Nunito" pitchFamily="34" charset="0"/>
                <a:ea typeface="Nunito" pitchFamily="34" charset="-122"/>
                <a:cs typeface="Nunito" pitchFamily="34" charset="-120"/>
              </a:rPr>
              <a:t>parse SQuAD-2.0 → Example · dedup &amp; split theo CONTEXT · assert_no_leakage · assert_gradeable</a:t>
            </a:r>
            <a:endParaRPr lang="en-US" sz="1200" dirty="0"/>
          </a:p>
        </p:txBody>
      </p:sp>
      <p:sp>
        <p:nvSpPr>
          <p:cNvPr id="9" name="Text 7"/>
          <p:cNvSpPr txBox="1"/>
          <p:nvPr/>
        </p:nvSpPr>
        <p:spPr>
          <a:xfrm>
            <a:off x="5943600" y="2532888"/>
            <a:ext cx="365760" cy="137160"/>
          </a:xfrm>
          <a:prstGeom prst="rect">
            <a:avLst/>
          </a:prstGeom>
          <a:noFill/>
          <a:ln/>
        </p:spPr>
        <p:txBody>
          <a:bodyPr wrap="square" lIns="0" tIns="0" rIns="0" bIns="0" rtlCol="0" anchor="ctr"/>
          <a:lstStyle/>
          <a:p>
            <a:pPr algn="ctr" indent="0" marL="0">
              <a:buNone/>
            </a:pPr>
            <a:r>
              <a:rPr lang="en-US" sz="900" dirty="0">
                <a:solidFill>
                  <a:srgbClr val="D3C9BA"/>
                </a:solidFill>
                <a:latin typeface="Nunito" pitchFamily="34" charset="0"/>
                <a:ea typeface="Nunito" pitchFamily="34" charset="-122"/>
                <a:cs typeface="Nunito" pitchFamily="34" charset="-120"/>
              </a:rPr>
              <a:t>▼</a:t>
            </a:r>
            <a:endParaRPr lang="en-US" sz="900" dirty="0"/>
          </a:p>
        </p:txBody>
      </p:sp>
      <p:sp>
        <p:nvSpPr>
          <p:cNvPr id="10" name="Shape 8"/>
          <p:cNvSpPr/>
          <p:nvPr/>
        </p:nvSpPr>
        <p:spPr>
          <a:xfrm>
            <a:off x="685800" y="2670048"/>
            <a:ext cx="10820095" cy="896112"/>
          </a:xfrm>
          <a:prstGeom prst="roundRect">
            <a:avLst>
              <a:gd name="adj" fmla="val 16327"/>
            </a:avLst>
          </a:prstGeom>
          <a:solidFill>
            <a:srgbClr val="FFF2EB"/>
          </a:solidFill>
          <a:ln w="12700">
            <a:solidFill>
              <a:srgbClr val="FFF2EB"/>
            </a:solidFill>
            <a:prstDash val="solid"/>
          </a:ln>
        </p:spPr>
      </p:sp>
      <p:sp>
        <p:nvSpPr>
          <p:cNvPr id="11" name="Shape 9"/>
          <p:cNvSpPr/>
          <p:nvPr/>
        </p:nvSpPr>
        <p:spPr>
          <a:xfrm>
            <a:off x="978408" y="3035808"/>
            <a:ext cx="182880" cy="182880"/>
          </a:xfrm>
          <a:prstGeom prst="ellipse">
            <a:avLst/>
          </a:prstGeom>
          <a:solidFill>
            <a:srgbClr val="C67139"/>
          </a:solidFill>
          <a:ln w="12700">
            <a:solidFill>
              <a:srgbClr val="C67139"/>
            </a:solidFill>
            <a:prstDash val="solid"/>
          </a:ln>
        </p:spPr>
      </p:sp>
      <p:sp>
        <p:nvSpPr>
          <p:cNvPr id="12" name="Text 10"/>
          <p:cNvSpPr txBox="1"/>
          <p:nvPr/>
        </p:nvSpPr>
        <p:spPr>
          <a:xfrm>
            <a:off x="1289304" y="2798064"/>
            <a:ext cx="2103120" cy="329184"/>
          </a:xfrm>
          <a:prstGeom prst="rect">
            <a:avLst/>
          </a:prstGeom>
          <a:noFill/>
          <a:ln/>
        </p:spPr>
        <p:txBody>
          <a:bodyPr wrap="square" lIns="0" tIns="0" rIns="0" bIns="0" rtlCol="0" anchor="ctr"/>
          <a:lstStyle/>
          <a:p>
            <a:pPr indent="0" marL="0">
              <a:buNone/>
            </a:pPr>
            <a:r>
              <a:rPr lang="en-US" sz="1600" b="1" dirty="0">
                <a:solidFill>
                  <a:srgbClr val="8C491A"/>
                </a:solidFill>
                <a:latin typeface="Baloo 2" pitchFamily="34" charset="0"/>
                <a:ea typeface="Baloo 2" pitchFamily="34" charset="-122"/>
                <a:cs typeface="Baloo 2" pitchFamily="34" charset="-120"/>
              </a:rPr>
              <a:t>Tầng mô hình</a:t>
            </a:r>
            <a:endParaRPr lang="en-US" sz="1600" dirty="0"/>
          </a:p>
        </p:txBody>
      </p:sp>
      <p:sp>
        <p:nvSpPr>
          <p:cNvPr id="13" name="Text 11"/>
          <p:cNvSpPr txBox="1"/>
          <p:nvPr/>
        </p:nvSpPr>
        <p:spPr>
          <a:xfrm>
            <a:off x="1289304" y="3090672"/>
            <a:ext cx="4297680" cy="384048"/>
          </a:xfrm>
          <a:prstGeom prst="rect">
            <a:avLst/>
          </a:prstGeom>
          <a:noFill/>
          <a:ln/>
        </p:spPr>
        <p:txBody>
          <a:bodyPr wrap="square" lIns="0" tIns="0" rIns="0" bIns="0" rtlCol="0" anchor="ctr"/>
          <a:lstStyle/>
          <a:p>
            <a:pPr indent="0" marL="0">
              <a:lnSpc>
                <a:spcPts val="1100"/>
              </a:lnSpc>
              <a:buNone/>
            </a:pPr>
            <a:r>
              <a:rPr lang="en-US" sz="900" dirty="0">
                <a:solidFill>
                  <a:srgbClr val="645C50"/>
                </a:solidFill>
                <a:latin typeface="Courier New" pitchFamily="34" charset="0"/>
                <a:ea typeface="Courier New" pitchFamily="34" charset="-122"/>
                <a:cs typeface="Courier New" pitchFamily="34" charset="-120"/>
              </a:rPr>
              <a:t>predictor.py · baseline_tfidf.py · transformer_qa.py · windowing.py · features.py · training.py</a:t>
            </a:r>
            <a:endParaRPr lang="en-US" sz="900" dirty="0"/>
          </a:p>
        </p:txBody>
      </p:sp>
      <p:sp>
        <p:nvSpPr>
          <p:cNvPr id="14" name="Text 12"/>
          <p:cNvSpPr txBox="1"/>
          <p:nvPr/>
        </p:nvSpPr>
        <p:spPr>
          <a:xfrm>
            <a:off x="5806440" y="2852928"/>
            <a:ext cx="5394960" cy="640080"/>
          </a:xfrm>
          <a:prstGeom prst="rect">
            <a:avLst/>
          </a:prstGeom>
          <a:noFill/>
          <a:ln/>
        </p:spPr>
        <p:txBody>
          <a:bodyPr wrap="square" lIns="0" tIns="0" rIns="0" bIns="0" rtlCol="0" anchor="t"/>
          <a:lstStyle/>
          <a:p>
            <a:pPr algn="l" indent="0" marL="0">
              <a:lnSpc>
                <a:spcPts val="1740"/>
              </a:lnSpc>
              <a:buNone/>
            </a:pPr>
            <a:r>
              <a:rPr lang="en-US" sz="1200" dirty="0">
                <a:solidFill>
                  <a:srgbClr val="8C491A"/>
                </a:solidFill>
                <a:latin typeface="Nunito" pitchFamily="34" charset="0"/>
                <a:ea typeface="Nunito" pitchFamily="34" charset="-122"/>
                <a:cs typeface="Nunito" pitchFamily="34" charset="-120"/>
              </a:rPr>
              <a:t>một interface duy nhất: Predictor.predict(ctx, q) -&gt; str</a:t>
            </a:r>
            <a:endParaRPr lang="en-US" sz="1200" dirty="0"/>
          </a:p>
        </p:txBody>
      </p:sp>
      <p:sp>
        <p:nvSpPr>
          <p:cNvPr id="15" name="Text 13"/>
          <p:cNvSpPr txBox="1"/>
          <p:nvPr/>
        </p:nvSpPr>
        <p:spPr>
          <a:xfrm>
            <a:off x="5943600" y="3575304"/>
            <a:ext cx="365760" cy="137160"/>
          </a:xfrm>
          <a:prstGeom prst="rect">
            <a:avLst/>
          </a:prstGeom>
          <a:noFill/>
          <a:ln/>
        </p:spPr>
        <p:txBody>
          <a:bodyPr wrap="square" lIns="0" tIns="0" rIns="0" bIns="0" rtlCol="0" anchor="ctr"/>
          <a:lstStyle/>
          <a:p>
            <a:pPr algn="ctr" indent="0" marL="0">
              <a:buNone/>
            </a:pPr>
            <a:r>
              <a:rPr lang="en-US" sz="900" dirty="0">
                <a:solidFill>
                  <a:srgbClr val="D3C9BA"/>
                </a:solidFill>
                <a:latin typeface="Nunito" pitchFamily="34" charset="0"/>
                <a:ea typeface="Nunito" pitchFamily="34" charset="-122"/>
                <a:cs typeface="Nunito" pitchFamily="34" charset="-120"/>
              </a:rPr>
              <a:t>▼</a:t>
            </a:r>
            <a:endParaRPr lang="en-US" sz="900" dirty="0"/>
          </a:p>
        </p:txBody>
      </p:sp>
      <p:sp>
        <p:nvSpPr>
          <p:cNvPr id="16" name="Shape 14"/>
          <p:cNvSpPr/>
          <p:nvPr/>
        </p:nvSpPr>
        <p:spPr>
          <a:xfrm>
            <a:off x="685800" y="3712464"/>
            <a:ext cx="10820095" cy="896112"/>
          </a:xfrm>
          <a:prstGeom prst="roundRect">
            <a:avLst>
              <a:gd name="adj" fmla="val 16327"/>
            </a:avLst>
          </a:prstGeom>
          <a:solidFill>
            <a:srgbClr val="F0FAE1"/>
          </a:solidFill>
          <a:ln w="12700">
            <a:solidFill>
              <a:srgbClr val="F0FAE1"/>
            </a:solidFill>
            <a:prstDash val="solid"/>
          </a:ln>
        </p:spPr>
      </p:sp>
      <p:sp>
        <p:nvSpPr>
          <p:cNvPr id="17" name="Shape 15"/>
          <p:cNvSpPr/>
          <p:nvPr/>
        </p:nvSpPr>
        <p:spPr>
          <a:xfrm>
            <a:off x="978408" y="4078224"/>
            <a:ext cx="182880" cy="182880"/>
          </a:xfrm>
          <a:prstGeom prst="ellipse">
            <a:avLst/>
          </a:prstGeom>
          <a:solidFill>
            <a:srgbClr val="7A8A5E"/>
          </a:solidFill>
          <a:ln w="12700">
            <a:solidFill>
              <a:srgbClr val="7A8A5E"/>
            </a:solidFill>
            <a:prstDash val="solid"/>
          </a:ln>
        </p:spPr>
      </p:sp>
      <p:sp>
        <p:nvSpPr>
          <p:cNvPr id="18" name="Text 16"/>
          <p:cNvSpPr txBox="1"/>
          <p:nvPr/>
        </p:nvSpPr>
        <p:spPr>
          <a:xfrm>
            <a:off x="1289304" y="3840480"/>
            <a:ext cx="2103120" cy="329184"/>
          </a:xfrm>
          <a:prstGeom prst="rect">
            <a:avLst/>
          </a:prstGeom>
          <a:noFill/>
          <a:ln/>
        </p:spPr>
        <p:txBody>
          <a:bodyPr wrap="square" lIns="0" tIns="0" rIns="0" bIns="0" rtlCol="0" anchor="ctr"/>
          <a:lstStyle/>
          <a:p>
            <a:pPr indent="0" marL="0">
              <a:buNone/>
            </a:pPr>
            <a:r>
              <a:rPr lang="en-US" sz="1600" b="1" dirty="0">
                <a:solidFill>
                  <a:srgbClr val="3D472B"/>
                </a:solidFill>
                <a:latin typeface="Baloo 2" pitchFamily="34" charset="0"/>
                <a:ea typeface="Baloo 2" pitchFamily="34" charset="-122"/>
                <a:cs typeface="Baloo 2" pitchFamily="34" charset="-120"/>
              </a:rPr>
              <a:t>Tầng đánh giá</a:t>
            </a:r>
            <a:endParaRPr lang="en-US" sz="1600" dirty="0"/>
          </a:p>
        </p:txBody>
      </p:sp>
      <p:sp>
        <p:nvSpPr>
          <p:cNvPr id="19" name="Text 17"/>
          <p:cNvSpPr txBox="1"/>
          <p:nvPr/>
        </p:nvSpPr>
        <p:spPr>
          <a:xfrm>
            <a:off x="1289304" y="4133088"/>
            <a:ext cx="4297680" cy="384048"/>
          </a:xfrm>
          <a:prstGeom prst="rect">
            <a:avLst/>
          </a:prstGeom>
          <a:noFill/>
          <a:ln/>
        </p:spPr>
        <p:txBody>
          <a:bodyPr wrap="square" lIns="0" tIns="0" rIns="0" bIns="0" rtlCol="0" anchor="ctr"/>
          <a:lstStyle/>
          <a:p>
            <a:pPr indent="0" marL="0">
              <a:lnSpc>
                <a:spcPts val="1100"/>
              </a:lnSpc>
              <a:buNone/>
            </a:pPr>
            <a:r>
              <a:rPr lang="en-US" sz="900" dirty="0">
                <a:solidFill>
                  <a:srgbClr val="645C50"/>
                </a:solidFill>
                <a:latin typeface="Courier New" pitchFamily="34" charset="0"/>
                <a:ea typeface="Courier New" pitchFamily="34" charset="-122"/>
                <a:cs typeface="Courier New" pitchFamily="34" charset="-120"/>
              </a:rPr>
              <a:t>normalize.py · metrics.py · evaluate.py</a:t>
            </a:r>
            <a:endParaRPr lang="en-US" sz="900" dirty="0"/>
          </a:p>
        </p:txBody>
      </p:sp>
      <p:sp>
        <p:nvSpPr>
          <p:cNvPr id="20" name="Text 18"/>
          <p:cNvSpPr txBox="1"/>
          <p:nvPr/>
        </p:nvSpPr>
        <p:spPr>
          <a:xfrm>
            <a:off x="5806440" y="3895344"/>
            <a:ext cx="5394960" cy="640080"/>
          </a:xfrm>
          <a:prstGeom prst="rect">
            <a:avLst/>
          </a:prstGeom>
          <a:noFill/>
          <a:ln/>
        </p:spPr>
        <p:txBody>
          <a:bodyPr wrap="square" lIns="0" tIns="0" rIns="0" bIns="0" rtlCol="0" anchor="t"/>
          <a:lstStyle/>
          <a:p>
            <a:pPr algn="l" indent="0" marL="0">
              <a:lnSpc>
                <a:spcPts val="1740"/>
              </a:lnSpc>
              <a:buNone/>
            </a:pPr>
            <a:r>
              <a:rPr lang="en-US" sz="1200" dirty="0">
                <a:solidFill>
                  <a:srgbClr val="3D472B"/>
                </a:solidFill>
                <a:latin typeface="Nunito" pitchFamily="34" charset="0"/>
                <a:ea typeface="Nunito" pitchFamily="34" charset="-122"/>
                <a:cs typeface="Nunito" pitchFamily="34" charset="-120"/>
              </a:rPr>
              <a:t>EM + token-F1 · tách answerable / impossible · provenance · cờ unreliable khi n &lt; 30</a:t>
            </a:r>
            <a:endParaRPr lang="en-US" sz="1200" dirty="0"/>
          </a:p>
        </p:txBody>
      </p:sp>
      <p:sp>
        <p:nvSpPr>
          <p:cNvPr id="21" name="Text 19"/>
          <p:cNvSpPr txBox="1"/>
          <p:nvPr/>
        </p:nvSpPr>
        <p:spPr>
          <a:xfrm>
            <a:off x="5943600" y="4617720"/>
            <a:ext cx="365760" cy="137160"/>
          </a:xfrm>
          <a:prstGeom prst="rect">
            <a:avLst/>
          </a:prstGeom>
          <a:noFill/>
          <a:ln/>
        </p:spPr>
        <p:txBody>
          <a:bodyPr wrap="square" lIns="0" tIns="0" rIns="0" bIns="0" rtlCol="0" anchor="ctr"/>
          <a:lstStyle/>
          <a:p>
            <a:pPr algn="ctr" indent="0" marL="0">
              <a:buNone/>
            </a:pPr>
            <a:r>
              <a:rPr lang="en-US" sz="900" dirty="0">
                <a:solidFill>
                  <a:srgbClr val="D3C9BA"/>
                </a:solidFill>
                <a:latin typeface="Nunito" pitchFamily="34" charset="0"/>
                <a:ea typeface="Nunito" pitchFamily="34" charset="-122"/>
                <a:cs typeface="Nunito" pitchFamily="34" charset="-120"/>
              </a:rPr>
              <a:t>▼</a:t>
            </a:r>
            <a:endParaRPr lang="en-US" sz="900" dirty="0"/>
          </a:p>
        </p:txBody>
      </p:sp>
      <p:sp>
        <p:nvSpPr>
          <p:cNvPr id="22" name="Shape 20"/>
          <p:cNvSpPr/>
          <p:nvPr/>
        </p:nvSpPr>
        <p:spPr>
          <a:xfrm>
            <a:off x="685800" y="4754880"/>
            <a:ext cx="10820095" cy="896112"/>
          </a:xfrm>
          <a:prstGeom prst="roundRect">
            <a:avLst>
              <a:gd name="adj" fmla="val 16327"/>
            </a:avLst>
          </a:prstGeom>
          <a:solidFill>
            <a:srgbClr val="FFF2EB"/>
          </a:solidFill>
          <a:ln w="12700">
            <a:solidFill>
              <a:srgbClr val="FFF2EB"/>
            </a:solidFill>
            <a:prstDash val="solid"/>
          </a:ln>
        </p:spPr>
      </p:sp>
      <p:sp>
        <p:nvSpPr>
          <p:cNvPr id="23" name="Shape 21"/>
          <p:cNvSpPr/>
          <p:nvPr/>
        </p:nvSpPr>
        <p:spPr>
          <a:xfrm>
            <a:off x="978408" y="5120640"/>
            <a:ext cx="182880" cy="182880"/>
          </a:xfrm>
          <a:prstGeom prst="ellipse">
            <a:avLst/>
          </a:prstGeom>
          <a:solidFill>
            <a:srgbClr val="C67139"/>
          </a:solidFill>
          <a:ln w="12700">
            <a:solidFill>
              <a:srgbClr val="C67139"/>
            </a:solidFill>
            <a:prstDash val="solid"/>
          </a:ln>
        </p:spPr>
      </p:sp>
      <p:sp>
        <p:nvSpPr>
          <p:cNvPr id="24" name="Text 22"/>
          <p:cNvSpPr txBox="1"/>
          <p:nvPr/>
        </p:nvSpPr>
        <p:spPr>
          <a:xfrm>
            <a:off x="1289304" y="4882896"/>
            <a:ext cx="2103120" cy="329184"/>
          </a:xfrm>
          <a:prstGeom prst="rect">
            <a:avLst/>
          </a:prstGeom>
          <a:noFill/>
          <a:ln/>
        </p:spPr>
        <p:txBody>
          <a:bodyPr wrap="square" lIns="0" tIns="0" rIns="0" bIns="0" rtlCol="0" anchor="ctr"/>
          <a:lstStyle/>
          <a:p>
            <a:pPr indent="0" marL="0">
              <a:buNone/>
            </a:pPr>
            <a:r>
              <a:rPr lang="en-US" sz="1600" b="1" dirty="0">
                <a:solidFill>
                  <a:srgbClr val="8C491A"/>
                </a:solidFill>
                <a:latin typeface="Baloo 2" pitchFamily="34" charset="0"/>
                <a:ea typeface="Baloo 2" pitchFamily="34" charset="-122"/>
                <a:cs typeface="Baloo 2" pitchFamily="34" charset="-120"/>
              </a:rPr>
              <a:t>Tầng trình bày</a:t>
            </a:r>
            <a:endParaRPr lang="en-US" sz="1600" dirty="0"/>
          </a:p>
        </p:txBody>
      </p:sp>
      <p:sp>
        <p:nvSpPr>
          <p:cNvPr id="25" name="Text 23"/>
          <p:cNvSpPr txBox="1"/>
          <p:nvPr/>
        </p:nvSpPr>
        <p:spPr>
          <a:xfrm>
            <a:off x="1289304" y="5175504"/>
            <a:ext cx="4297680" cy="384048"/>
          </a:xfrm>
          <a:prstGeom prst="rect">
            <a:avLst/>
          </a:prstGeom>
          <a:noFill/>
          <a:ln/>
        </p:spPr>
        <p:txBody>
          <a:bodyPr wrap="square" lIns="0" tIns="0" rIns="0" bIns="0" rtlCol="0" anchor="ctr"/>
          <a:lstStyle/>
          <a:p>
            <a:pPr indent="0" marL="0">
              <a:lnSpc>
                <a:spcPts val="1100"/>
              </a:lnSpc>
              <a:buNone/>
            </a:pPr>
            <a:r>
              <a:rPr lang="en-US" sz="900" dirty="0">
                <a:solidFill>
                  <a:srgbClr val="645C50"/>
                </a:solidFill>
                <a:latin typeface="Courier New" pitchFamily="34" charset="0"/>
                <a:ea typeface="Courier New" pitchFamily="34" charset="-122"/>
                <a:cs typeface="Courier New" pitchFamily="34" charset="-120"/>
              </a:rPr>
              <a:t>src/demo/ (hàm thuần) → app/ (chỉ gọi widget) · make_figures.py · make_report.py</a:t>
            </a:r>
            <a:endParaRPr lang="en-US" sz="900" dirty="0"/>
          </a:p>
        </p:txBody>
      </p:sp>
      <p:sp>
        <p:nvSpPr>
          <p:cNvPr id="26" name="Text 24"/>
          <p:cNvSpPr txBox="1"/>
          <p:nvPr/>
        </p:nvSpPr>
        <p:spPr>
          <a:xfrm>
            <a:off x="5806440" y="4937760"/>
            <a:ext cx="5394960" cy="640080"/>
          </a:xfrm>
          <a:prstGeom prst="rect">
            <a:avLst/>
          </a:prstGeom>
          <a:noFill/>
          <a:ln/>
        </p:spPr>
        <p:txBody>
          <a:bodyPr wrap="square" lIns="0" tIns="0" rIns="0" bIns="0" rtlCol="0" anchor="t"/>
          <a:lstStyle/>
          <a:p>
            <a:pPr algn="l" indent="0" marL="0">
              <a:lnSpc>
                <a:spcPts val="1740"/>
              </a:lnSpc>
              <a:buNone/>
            </a:pPr>
            <a:r>
              <a:rPr lang="en-US" sz="1200" dirty="0">
                <a:solidFill>
                  <a:srgbClr val="8C491A"/>
                </a:solidFill>
                <a:latin typeface="Nunito" pitchFamily="34" charset="0"/>
                <a:ea typeface="Nunito" pitchFamily="34" charset="-122"/>
                <a:cs typeface="Nunito" pitchFamily="34" charset="-120"/>
              </a:rPr>
              <a:t>CHỈ ĐỌC results/ — không bao giờ sinh ra con số</a:t>
            </a:r>
            <a:endParaRPr lang="en-US" sz="1200" dirty="0"/>
          </a:p>
        </p:txBody>
      </p:sp>
      <p:sp>
        <p:nvSpPr>
          <p:cNvPr id="27" name="Text 25"/>
          <p:cNvSpPr txBox="1"/>
          <p:nvPr/>
        </p:nvSpPr>
        <p:spPr>
          <a:xfrm>
            <a:off x="685800" y="5797296"/>
            <a:ext cx="10820095" cy="292608"/>
          </a:xfrm>
          <a:prstGeom prst="rect">
            <a:avLst/>
          </a:prstGeom>
          <a:noFill/>
          <a:ln/>
        </p:spPr>
        <p:txBody>
          <a:bodyPr wrap="square" lIns="0" tIns="0" rIns="0" bIns="0" rtlCol="0" anchor="ctr"/>
          <a:lstStyle/>
          <a:p>
            <a:pPr algn="ctr" indent="0" marL="0">
              <a:buNone/>
            </a:pPr>
            <a:r>
              <a:rPr lang="en-US" sz="1200" b="1" dirty="0">
                <a:solidFill>
                  <a:srgbClr val="8C491A"/>
                </a:solidFill>
                <a:latin typeface="Courier New" pitchFamily="34" charset="0"/>
                <a:ea typeface="Courier New" pitchFamily="34" charset="-122"/>
                <a:cs typeface="Courier New" pitchFamily="34" charset="-120"/>
              </a:rPr>
              <a:t>app/  →  src/demo/  →  src/mrc/  →  results/, data/raw/     ·     một mũi tên, một chiều, không ngoại lệ</a:t>
            </a:r>
            <a:endParaRPr lang="en-US" sz="1200" dirty="0"/>
          </a:p>
        </p:txBody>
      </p:sp>
      <p:sp>
        <p:nvSpPr>
          <p:cNvPr id="28" name="Text 26"/>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4 · Phương pháp · Kiến trúc (docs/ARCHITECTURE.md)</a:t>
            </a:r>
            <a:endParaRPr lang="en-US" sz="1000" dirty="0"/>
          </a:p>
        </p:txBody>
      </p:sp>
      <p:sp>
        <p:nvSpPr>
          <p:cNvPr id="29" name="Text 27"/>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4 · PHƯƠNG PHÁP · BẤT BIẾN</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808"/>
              </a:lnSpc>
              <a:buNone/>
            </a:pPr>
            <a:r>
              <a:rPr lang="en-US" sz="3400" b="1" dirty="0">
                <a:solidFill>
                  <a:srgbClr val="201E1D"/>
                </a:solidFill>
                <a:latin typeface="Baloo 2" pitchFamily="34" charset="0"/>
                <a:ea typeface="Baloo 2" pitchFamily="34" charset="-122"/>
                <a:cs typeface="Baloo 2" pitchFamily="34" charset="-120"/>
              </a:rPr>
              <a:t>Bốn bất biến — và cơ chế thực thi bằng máy</a:t>
            </a:r>
            <a:endParaRPr lang="en-US" sz="3400" dirty="0"/>
          </a:p>
        </p:txBody>
      </p:sp>
      <p:sp>
        <p:nvSpPr>
          <p:cNvPr id="4" name="Shape 2"/>
          <p:cNvSpPr/>
          <p:nvPr/>
        </p:nvSpPr>
        <p:spPr>
          <a:xfrm>
            <a:off x="685800" y="1627632"/>
            <a:ext cx="10820095" cy="960120"/>
          </a:xfrm>
          <a:prstGeom prst="roundRect">
            <a:avLst>
              <a:gd name="adj" fmla="val 15238"/>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5" name="Shape 3"/>
          <p:cNvSpPr/>
          <p:nvPr/>
        </p:nvSpPr>
        <p:spPr>
          <a:xfrm>
            <a:off x="941832" y="1901952"/>
            <a:ext cx="365760" cy="365760"/>
          </a:xfrm>
          <a:prstGeom prst="roundRect">
            <a:avLst>
              <a:gd name="adj" fmla="val 25000"/>
            </a:avLst>
          </a:prstGeom>
          <a:solidFill>
            <a:srgbClr val="C67139"/>
          </a:solidFill>
          <a:ln w="12700">
            <a:solidFill>
              <a:srgbClr val="C67139"/>
            </a:solidFill>
            <a:prstDash val="solid"/>
          </a:ln>
        </p:spPr>
      </p:sp>
      <p:sp>
        <p:nvSpPr>
          <p:cNvPr id="6" name="Text 4"/>
          <p:cNvSpPr txBox="1"/>
          <p:nvPr/>
        </p:nvSpPr>
        <p:spPr>
          <a:xfrm>
            <a:off x="941832" y="190195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Baloo 2" pitchFamily="34" charset="0"/>
                <a:ea typeface="Baloo 2" pitchFamily="34" charset="-122"/>
                <a:cs typeface="Baloo 2" pitchFamily="34" charset="-120"/>
              </a:rPr>
              <a:t>1</a:t>
            </a:r>
            <a:endParaRPr lang="en-US" sz="1500" dirty="0"/>
          </a:p>
        </p:txBody>
      </p:sp>
      <p:sp>
        <p:nvSpPr>
          <p:cNvPr id="7" name="Text 5"/>
          <p:cNvSpPr txBox="1"/>
          <p:nvPr/>
        </p:nvSpPr>
        <p:spPr>
          <a:xfrm>
            <a:off x="1463040" y="1764792"/>
            <a:ext cx="2011680" cy="310896"/>
          </a:xfrm>
          <a:prstGeom prst="rect">
            <a:avLst/>
          </a:prstGeom>
          <a:noFill/>
          <a:ln/>
        </p:spPr>
        <p:txBody>
          <a:bodyPr wrap="square" lIns="0" tIns="0" rIns="0" bIns="0" rtlCol="0" anchor="ctr"/>
          <a:lstStyle/>
          <a:p>
            <a:pPr indent="0" marL="0">
              <a:buNone/>
            </a:pPr>
            <a:r>
              <a:rPr lang="en-US" sz="1500" b="1" dirty="0">
                <a:solidFill>
                  <a:srgbClr val="201E1D"/>
                </a:solidFill>
                <a:latin typeface="Baloo 2" pitchFamily="34" charset="0"/>
                <a:ea typeface="Baloo 2" pitchFamily="34" charset="-122"/>
                <a:cs typeface="Baloo 2" pitchFamily="34" charset="-120"/>
              </a:rPr>
              <a:t>Extractive</a:t>
            </a:r>
            <a:endParaRPr lang="en-US" sz="1500" dirty="0"/>
          </a:p>
        </p:txBody>
      </p:sp>
      <p:sp>
        <p:nvSpPr>
          <p:cNvPr id="8" name="Text 6"/>
          <p:cNvSpPr txBox="1"/>
          <p:nvPr/>
        </p:nvSpPr>
        <p:spPr>
          <a:xfrm>
            <a:off x="1463040" y="2112264"/>
            <a:ext cx="4023360" cy="365760"/>
          </a:xfrm>
          <a:prstGeom prst="rect">
            <a:avLst/>
          </a:prstGeom>
          <a:noFill/>
          <a:ln/>
        </p:spPr>
        <p:txBody>
          <a:bodyPr wrap="square" lIns="0" tIns="0" rIns="0" bIns="0" rtlCol="0" anchor="t"/>
          <a:lstStyle/>
          <a:p>
            <a:pPr algn="l" indent="0" marL="0">
              <a:lnSpc>
                <a:spcPts val="1668"/>
              </a:lnSpc>
              <a:buNone/>
            </a:pPr>
            <a:r>
              <a:rPr lang="en-US" sz="1150" dirty="0">
                <a:solidFill>
                  <a:srgbClr val="645C50"/>
                </a:solidFill>
                <a:latin typeface="Nunito" pitchFamily="34" charset="0"/>
                <a:ea typeface="Nunito" pitchFamily="34" charset="-122"/>
                <a:cs typeface="Nunito" pitchFamily="34" charset="-120"/>
              </a:rPr>
              <a:t>Mọi predict() trả về chuỗi con của context</a:t>
            </a:r>
            <a:endParaRPr lang="en-US" sz="1150" dirty="0"/>
          </a:p>
        </p:txBody>
      </p:sp>
      <p:sp>
        <p:nvSpPr>
          <p:cNvPr id="9" name="Text 7"/>
          <p:cNvSpPr txBox="1"/>
          <p:nvPr/>
        </p:nvSpPr>
        <p:spPr>
          <a:xfrm>
            <a:off x="5806440" y="1783080"/>
            <a:ext cx="219456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CƠ CHẾ THỰC THI</a:t>
            </a:r>
            <a:endParaRPr lang="en-US" sz="950" dirty="0"/>
          </a:p>
        </p:txBody>
      </p:sp>
      <p:sp>
        <p:nvSpPr>
          <p:cNvPr id="10" name="Text 8"/>
          <p:cNvSpPr txBox="1"/>
          <p:nvPr/>
        </p:nvSpPr>
        <p:spPr>
          <a:xfrm>
            <a:off x="5806440" y="2029968"/>
            <a:ext cx="5440680" cy="475488"/>
          </a:xfrm>
          <a:prstGeom prst="rect">
            <a:avLst/>
          </a:prstGeom>
          <a:noFill/>
          <a:ln/>
        </p:spPr>
        <p:txBody>
          <a:bodyPr wrap="square" lIns="0" tIns="0" rIns="0" bIns="0" rtlCol="0" anchor="t"/>
          <a:lstStyle/>
          <a:p>
            <a:pPr algn="l" indent="0" marL="0">
              <a:lnSpc>
                <a:spcPts val="1668"/>
              </a:lnSpc>
              <a:buNone/>
            </a:pPr>
            <a:r>
              <a:rPr lang="en-US" sz="1150" dirty="0">
                <a:solidFill>
                  <a:srgbClr val="201E1D"/>
                </a:solidFill>
                <a:latin typeface="Nunito" pitchFamily="34" charset="0"/>
                <a:ea typeface="Nunito" pitchFamily="34" charset="-122"/>
                <a:cs typeface="Nunito" pitchFamily="34" charset="-120"/>
              </a:rPr>
              <a:t>Test cho mọi Predictor; decode_span() ném ValueError nếu khoảng không hợp lệ</a:t>
            </a:r>
            <a:endParaRPr lang="en-US" sz="1150" dirty="0"/>
          </a:p>
        </p:txBody>
      </p:sp>
      <p:sp>
        <p:nvSpPr>
          <p:cNvPr id="11" name="Shape 9"/>
          <p:cNvSpPr/>
          <p:nvPr/>
        </p:nvSpPr>
        <p:spPr>
          <a:xfrm>
            <a:off x="685800" y="2688336"/>
            <a:ext cx="10820095" cy="960120"/>
          </a:xfrm>
          <a:prstGeom prst="roundRect">
            <a:avLst>
              <a:gd name="adj" fmla="val 15238"/>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12" name="Shape 10"/>
          <p:cNvSpPr/>
          <p:nvPr/>
        </p:nvSpPr>
        <p:spPr>
          <a:xfrm>
            <a:off x="941832" y="2962656"/>
            <a:ext cx="365760" cy="365760"/>
          </a:xfrm>
          <a:prstGeom prst="roundRect">
            <a:avLst>
              <a:gd name="adj" fmla="val 25000"/>
            </a:avLst>
          </a:prstGeom>
          <a:solidFill>
            <a:srgbClr val="C67139"/>
          </a:solidFill>
          <a:ln w="12700">
            <a:solidFill>
              <a:srgbClr val="C67139"/>
            </a:solidFill>
            <a:prstDash val="solid"/>
          </a:ln>
        </p:spPr>
      </p:sp>
      <p:sp>
        <p:nvSpPr>
          <p:cNvPr id="13" name="Text 11"/>
          <p:cNvSpPr txBox="1"/>
          <p:nvPr/>
        </p:nvSpPr>
        <p:spPr>
          <a:xfrm>
            <a:off x="941832" y="2962656"/>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Baloo 2" pitchFamily="34" charset="0"/>
                <a:ea typeface="Baloo 2" pitchFamily="34" charset="-122"/>
                <a:cs typeface="Baloo 2" pitchFamily="34" charset="-120"/>
              </a:rPr>
              <a:t>2</a:t>
            </a:r>
            <a:endParaRPr lang="en-US" sz="1500" dirty="0"/>
          </a:p>
        </p:txBody>
      </p:sp>
      <p:sp>
        <p:nvSpPr>
          <p:cNvPr id="14" name="Text 12"/>
          <p:cNvSpPr txBox="1"/>
          <p:nvPr/>
        </p:nvSpPr>
        <p:spPr>
          <a:xfrm>
            <a:off x="1463040" y="2825496"/>
            <a:ext cx="2011680" cy="310896"/>
          </a:xfrm>
          <a:prstGeom prst="rect">
            <a:avLst/>
          </a:prstGeom>
          <a:noFill/>
          <a:ln/>
        </p:spPr>
        <p:txBody>
          <a:bodyPr wrap="square" lIns="0" tIns="0" rIns="0" bIns="0" rtlCol="0" anchor="ctr"/>
          <a:lstStyle/>
          <a:p>
            <a:pPr indent="0" marL="0">
              <a:buNone/>
            </a:pPr>
            <a:r>
              <a:rPr lang="en-US" sz="1500" b="1" dirty="0">
                <a:solidFill>
                  <a:srgbClr val="201E1D"/>
                </a:solidFill>
                <a:latin typeface="Baloo 2" pitchFamily="34" charset="0"/>
                <a:ea typeface="Baloo 2" pitchFamily="34" charset="-122"/>
                <a:cs typeface="Baloo 2" pitchFamily="34" charset="-120"/>
              </a:rPr>
              <a:t>Không leakage</a:t>
            </a:r>
            <a:endParaRPr lang="en-US" sz="1500" dirty="0"/>
          </a:p>
        </p:txBody>
      </p:sp>
      <p:sp>
        <p:nvSpPr>
          <p:cNvPr id="15" name="Text 13"/>
          <p:cNvSpPr txBox="1"/>
          <p:nvPr/>
        </p:nvSpPr>
        <p:spPr>
          <a:xfrm>
            <a:off x="1463040" y="3172968"/>
            <a:ext cx="4023360" cy="365760"/>
          </a:xfrm>
          <a:prstGeom prst="rect">
            <a:avLst/>
          </a:prstGeom>
          <a:noFill/>
          <a:ln/>
        </p:spPr>
        <p:txBody>
          <a:bodyPr wrap="square" lIns="0" tIns="0" rIns="0" bIns="0" rtlCol="0" anchor="t"/>
          <a:lstStyle/>
          <a:p>
            <a:pPr algn="l" indent="0" marL="0">
              <a:lnSpc>
                <a:spcPts val="1668"/>
              </a:lnSpc>
              <a:buNone/>
            </a:pPr>
            <a:r>
              <a:rPr lang="en-US" sz="1150" dirty="0">
                <a:solidFill>
                  <a:srgbClr val="645C50"/>
                </a:solidFill>
                <a:latin typeface="Nunito" pitchFamily="34" charset="0"/>
                <a:ea typeface="Nunito" pitchFamily="34" charset="-122"/>
                <a:cs typeface="Nunito" pitchFamily="34" charset="-120"/>
              </a:rPr>
              <a:t>Một context chỉ thuộc một split</a:t>
            </a:r>
            <a:endParaRPr lang="en-US" sz="1150" dirty="0"/>
          </a:p>
        </p:txBody>
      </p:sp>
      <p:sp>
        <p:nvSpPr>
          <p:cNvPr id="16" name="Text 14"/>
          <p:cNvSpPr txBox="1"/>
          <p:nvPr/>
        </p:nvSpPr>
        <p:spPr>
          <a:xfrm>
            <a:off x="5806440" y="2843784"/>
            <a:ext cx="219456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CƠ CHẾ THỰC THI</a:t>
            </a:r>
            <a:endParaRPr lang="en-US" sz="950" dirty="0"/>
          </a:p>
        </p:txBody>
      </p:sp>
      <p:sp>
        <p:nvSpPr>
          <p:cNvPr id="17" name="Text 15"/>
          <p:cNvSpPr txBox="1"/>
          <p:nvPr/>
        </p:nvSpPr>
        <p:spPr>
          <a:xfrm>
            <a:off x="5806440" y="3090672"/>
            <a:ext cx="5440680" cy="475488"/>
          </a:xfrm>
          <a:prstGeom prst="rect">
            <a:avLst/>
          </a:prstGeom>
          <a:noFill/>
          <a:ln/>
        </p:spPr>
        <p:txBody>
          <a:bodyPr wrap="square" lIns="0" tIns="0" rIns="0" bIns="0" rtlCol="0" anchor="t"/>
          <a:lstStyle/>
          <a:p>
            <a:pPr algn="l" indent="0" marL="0">
              <a:lnSpc>
                <a:spcPts val="1668"/>
              </a:lnSpc>
              <a:buNone/>
            </a:pPr>
            <a:r>
              <a:rPr lang="en-US" sz="1150" dirty="0">
                <a:solidFill>
                  <a:srgbClr val="201E1D"/>
                </a:solidFill>
                <a:latin typeface="Nunito" pitchFamily="34" charset="0"/>
                <a:ea typeface="Nunito" pitchFamily="34" charset="-122"/>
                <a:cs typeface="Nunito" pitchFamily="34" charset="-120"/>
              </a:rPr>
              <a:t>assert_no_leakage() chạy trong mọi đường split và làm FAIL cả run</a:t>
            </a:r>
            <a:endParaRPr lang="en-US" sz="1150" dirty="0"/>
          </a:p>
        </p:txBody>
      </p:sp>
      <p:sp>
        <p:nvSpPr>
          <p:cNvPr id="18" name="Shape 16"/>
          <p:cNvSpPr/>
          <p:nvPr/>
        </p:nvSpPr>
        <p:spPr>
          <a:xfrm>
            <a:off x="685800" y="3749040"/>
            <a:ext cx="10820095" cy="960120"/>
          </a:xfrm>
          <a:prstGeom prst="roundRect">
            <a:avLst>
              <a:gd name="adj" fmla="val 15238"/>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19" name="Shape 17"/>
          <p:cNvSpPr/>
          <p:nvPr/>
        </p:nvSpPr>
        <p:spPr>
          <a:xfrm>
            <a:off x="941832" y="4023360"/>
            <a:ext cx="365760" cy="365760"/>
          </a:xfrm>
          <a:prstGeom prst="roundRect">
            <a:avLst>
              <a:gd name="adj" fmla="val 25000"/>
            </a:avLst>
          </a:prstGeom>
          <a:solidFill>
            <a:srgbClr val="C67139"/>
          </a:solidFill>
          <a:ln w="12700">
            <a:solidFill>
              <a:srgbClr val="C67139"/>
            </a:solidFill>
            <a:prstDash val="solid"/>
          </a:ln>
        </p:spPr>
      </p:sp>
      <p:sp>
        <p:nvSpPr>
          <p:cNvPr id="20" name="Text 18"/>
          <p:cNvSpPr txBox="1"/>
          <p:nvPr/>
        </p:nvSpPr>
        <p:spPr>
          <a:xfrm>
            <a:off x="941832" y="40233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Baloo 2" pitchFamily="34" charset="0"/>
                <a:ea typeface="Baloo 2" pitchFamily="34" charset="-122"/>
                <a:cs typeface="Baloo 2" pitchFamily="34" charset="-120"/>
              </a:rPr>
              <a:t>3</a:t>
            </a:r>
            <a:endParaRPr lang="en-US" sz="1500" dirty="0"/>
          </a:p>
        </p:txBody>
      </p:sp>
      <p:sp>
        <p:nvSpPr>
          <p:cNvPr id="21" name="Text 19"/>
          <p:cNvSpPr txBox="1"/>
          <p:nvPr/>
        </p:nvSpPr>
        <p:spPr>
          <a:xfrm>
            <a:off x="1463040" y="3886200"/>
            <a:ext cx="2011680" cy="310896"/>
          </a:xfrm>
          <a:prstGeom prst="rect">
            <a:avLst/>
          </a:prstGeom>
          <a:noFill/>
          <a:ln/>
        </p:spPr>
        <p:txBody>
          <a:bodyPr wrap="square" lIns="0" tIns="0" rIns="0" bIns="0" rtlCol="0" anchor="ctr"/>
          <a:lstStyle/>
          <a:p>
            <a:pPr indent="0" marL="0">
              <a:buNone/>
            </a:pPr>
            <a:r>
              <a:rPr lang="en-US" sz="1500" b="1" dirty="0">
                <a:solidFill>
                  <a:srgbClr val="201E1D"/>
                </a:solidFill>
                <a:latin typeface="Baloo 2" pitchFamily="34" charset="0"/>
                <a:ea typeface="Baloo 2" pitchFamily="34" charset="-122"/>
                <a:cs typeface="Baloo 2" pitchFamily="34" charset="-120"/>
              </a:rPr>
              <a:t>Truy vết được</a:t>
            </a:r>
            <a:endParaRPr lang="en-US" sz="1500" dirty="0"/>
          </a:p>
        </p:txBody>
      </p:sp>
      <p:sp>
        <p:nvSpPr>
          <p:cNvPr id="22" name="Text 20"/>
          <p:cNvSpPr txBox="1"/>
          <p:nvPr/>
        </p:nvSpPr>
        <p:spPr>
          <a:xfrm>
            <a:off x="1463040" y="4233672"/>
            <a:ext cx="4023360" cy="365760"/>
          </a:xfrm>
          <a:prstGeom prst="rect">
            <a:avLst/>
          </a:prstGeom>
          <a:noFill/>
          <a:ln/>
        </p:spPr>
        <p:txBody>
          <a:bodyPr wrap="square" lIns="0" tIns="0" rIns="0" bIns="0" rtlCol="0" anchor="t"/>
          <a:lstStyle/>
          <a:p>
            <a:pPr algn="l" indent="0" marL="0">
              <a:lnSpc>
                <a:spcPts val="1668"/>
              </a:lnSpc>
              <a:buNone/>
            </a:pPr>
            <a:r>
              <a:rPr lang="en-US" sz="1150" dirty="0">
                <a:solidFill>
                  <a:srgbClr val="645C50"/>
                </a:solidFill>
                <a:latin typeface="Nunito" pitchFamily="34" charset="0"/>
                <a:ea typeface="Nunito" pitchFamily="34" charset="-122"/>
                <a:cs typeface="Nunito" pitchFamily="34" charset="-120"/>
              </a:rPr>
              <a:t>Mọi kết quả mang commit, timestamp, device, split, n</a:t>
            </a:r>
            <a:endParaRPr lang="en-US" sz="1150" dirty="0"/>
          </a:p>
        </p:txBody>
      </p:sp>
      <p:sp>
        <p:nvSpPr>
          <p:cNvPr id="23" name="Text 21"/>
          <p:cNvSpPr txBox="1"/>
          <p:nvPr/>
        </p:nvSpPr>
        <p:spPr>
          <a:xfrm>
            <a:off x="5806440" y="3904488"/>
            <a:ext cx="219456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CƠ CHẾ THỰC THI</a:t>
            </a:r>
            <a:endParaRPr lang="en-US" sz="950" dirty="0"/>
          </a:p>
        </p:txBody>
      </p:sp>
      <p:sp>
        <p:nvSpPr>
          <p:cNvPr id="24" name="Text 22"/>
          <p:cNvSpPr txBox="1"/>
          <p:nvPr/>
        </p:nvSpPr>
        <p:spPr>
          <a:xfrm>
            <a:off x="5806440" y="4151376"/>
            <a:ext cx="5440680" cy="475488"/>
          </a:xfrm>
          <a:prstGeom prst="rect">
            <a:avLst/>
          </a:prstGeom>
          <a:noFill/>
          <a:ln/>
        </p:spPr>
        <p:txBody>
          <a:bodyPr wrap="square" lIns="0" tIns="0" rIns="0" bIns="0" rtlCol="0" anchor="t"/>
          <a:lstStyle/>
          <a:p>
            <a:pPr algn="l" indent="0" marL="0">
              <a:lnSpc>
                <a:spcPts val="1668"/>
              </a:lnSpc>
              <a:buNone/>
            </a:pPr>
            <a:r>
              <a:rPr lang="en-US" sz="1150" dirty="0">
                <a:solidFill>
                  <a:srgbClr val="201E1D"/>
                </a:solidFill>
                <a:latin typeface="Nunito" pitchFamily="34" charset="0"/>
                <a:ea typeface="Nunito" pitchFamily="34" charset="-122"/>
                <a:cs typeface="Nunito" pitchFamily="34" charset="-120"/>
              </a:rPr>
              <a:t>run_evaluation() sinh các trường này — không đường nào tạo ra kết quả thiếu chúng</a:t>
            </a:r>
            <a:endParaRPr lang="en-US" sz="1150" dirty="0"/>
          </a:p>
        </p:txBody>
      </p:sp>
      <p:sp>
        <p:nvSpPr>
          <p:cNvPr id="25" name="Shape 23"/>
          <p:cNvSpPr/>
          <p:nvPr/>
        </p:nvSpPr>
        <p:spPr>
          <a:xfrm>
            <a:off x="685800" y="4809744"/>
            <a:ext cx="10820095" cy="960120"/>
          </a:xfrm>
          <a:prstGeom prst="roundRect">
            <a:avLst>
              <a:gd name="adj" fmla="val 15238"/>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26" name="Shape 24"/>
          <p:cNvSpPr/>
          <p:nvPr/>
        </p:nvSpPr>
        <p:spPr>
          <a:xfrm>
            <a:off x="941832" y="5084064"/>
            <a:ext cx="365760" cy="365760"/>
          </a:xfrm>
          <a:prstGeom prst="roundRect">
            <a:avLst>
              <a:gd name="adj" fmla="val 25000"/>
            </a:avLst>
          </a:prstGeom>
          <a:solidFill>
            <a:srgbClr val="C67139"/>
          </a:solidFill>
          <a:ln w="12700">
            <a:solidFill>
              <a:srgbClr val="C67139"/>
            </a:solidFill>
            <a:prstDash val="solid"/>
          </a:ln>
        </p:spPr>
      </p:sp>
      <p:sp>
        <p:nvSpPr>
          <p:cNvPr id="27" name="Text 25"/>
          <p:cNvSpPr txBox="1"/>
          <p:nvPr/>
        </p:nvSpPr>
        <p:spPr>
          <a:xfrm>
            <a:off x="941832" y="5084064"/>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Baloo 2" pitchFamily="34" charset="0"/>
                <a:ea typeface="Baloo 2" pitchFamily="34" charset="-122"/>
                <a:cs typeface="Baloo 2" pitchFamily="34" charset="-120"/>
              </a:rPr>
              <a:t>4</a:t>
            </a:r>
            <a:endParaRPr lang="en-US" sz="1500" dirty="0"/>
          </a:p>
        </p:txBody>
      </p:sp>
      <p:sp>
        <p:nvSpPr>
          <p:cNvPr id="28" name="Text 26"/>
          <p:cNvSpPr txBox="1"/>
          <p:nvPr/>
        </p:nvSpPr>
        <p:spPr>
          <a:xfrm>
            <a:off x="1463040" y="4946904"/>
            <a:ext cx="2011680" cy="310896"/>
          </a:xfrm>
          <a:prstGeom prst="rect">
            <a:avLst/>
          </a:prstGeom>
          <a:noFill/>
          <a:ln/>
        </p:spPr>
        <p:txBody>
          <a:bodyPr wrap="square" lIns="0" tIns="0" rIns="0" bIns="0" rtlCol="0" anchor="ctr"/>
          <a:lstStyle/>
          <a:p>
            <a:pPr indent="0" marL="0">
              <a:buNone/>
            </a:pPr>
            <a:r>
              <a:rPr lang="en-US" sz="1500" b="1" dirty="0">
                <a:solidFill>
                  <a:srgbClr val="201E1D"/>
                </a:solidFill>
                <a:latin typeface="Baloo 2" pitchFamily="34" charset="0"/>
                <a:ea typeface="Baloo 2" pitchFamily="34" charset="-122"/>
                <a:cs typeface="Baloo 2" pitchFamily="34" charset="-120"/>
              </a:rPr>
              <a:t>Có n kèm số</a:t>
            </a:r>
            <a:endParaRPr lang="en-US" sz="1500" dirty="0"/>
          </a:p>
        </p:txBody>
      </p:sp>
      <p:sp>
        <p:nvSpPr>
          <p:cNvPr id="29" name="Text 27"/>
          <p:cNvSpPr txBox="1"/>
          <p:nvPr/>
        </p:nvSpPr>
        <p:spPr>
          <a:xfrm>
            <a:off x="1463040" y="5294376"/>
            <a:ext cx="4023360" cy="365760"/>
          </a:xfrm>
          <a:prstGeom prst="rect">
            <a:avLst/>
          </a:prstGeom>
          <a:noFill/>
          <a:ln/>
        </p:spPr>
        <p:txBody>
          <a:bodyPr wrap="square" lIns="0" tIns="0" rIns="0" bIns="0" rtlCol="0" anchor="t"/>
          <a:lstStyle/>
          <a:p>
            <a:pPr algn="l" indent="0" marL="0">
              <a:lnSpc>
                <a:spcPts val="1668"/>
              </a:lnSpc>
              <a:buNone/>
            </a:pPr>
            <a:r>
              <a:rPr lang="en-US" sz="1150" dirty="0">
                <a:solidFill>
                  <a:srgbClr val="645C50"/>
                </a:solidFill>
                <a:latin typeface="Nunito" pitchFamily="34" charset="0"/>
                <a:ea typeface="Nunito" pitchFamily="34" charset="-122"/>
                <a:cs typeface="Nunito" pitchFamily="34" charset="-120"/>
              </a:rPr>
              <a:t>Nhóm count &lt; 30 tự gắn unreliable: true</a:t>
            </a:r>
            <a:endParaRPr lang="en-US" sz="1150" dirty="0"/>
          </a:p>
        </p:txBody>
      </p:sp>
      <p:sp>
        <p:nvSpPr>
          <p:cNvPr id="30" name="Text 28"/>
          <p:cNvSpPr txBox="1"/>
          <p:nvPr/>
        </p:nvSpPr>
        <p:spPr>
          <a:xfrm>
            <a:off x="5806440" y="4965192"/>
            <a:ext cx="219456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CƠ CHẾ THỰC THI</a:t>
            </a:r>
            <a:endParaRPr lang="en-US" sz="950" dirty="0"/>
          </a:p>
        </p:txBody>
      </p:sp>
      <p:sp>
        <p:nvSpPr>
          <p:cNvPr id="31" name="Text 29"/>
          <p:cNvSpPr txBox="1"/>
          <p:nvPr/>
        </p:nvSpPr>
        <p:spPr>
          <a:xfrm>
            <a:off x="5806440" y="5212080"/>
            <a:ext cx="5440680" cy="475488"/>
          </a:xfrm>
          <a:prstGeom prst="rect">
            <a:avLst/>
          </a:prstGeom>
          <a:noFill/>
          <a:ln/>
        </p:spPr>
        <p:txBody>
          <a:bodyPr wrap="square" lIns="0" tIns="0" rIns="0" bIns="0" rtlCol="0" anchor="t"/>
          <a:lstStyle/>
          <a:p>
            <a:pPr algn="l" indent="0" marL="0">
              <a:lnSpc>
                <a:spcPts val="1668"/>
              </a:lnSpc>
              <a:buNone/>
            </a:pPr>
            <a:r>
              <a:rPr lang="en-US" sz="1150" dirty="0">
                <a:solidFill>
                  <a:srgbClr val="201E1D"/>
                </a:solidFill>
                <a:latin typeface="Nunito" pitchFamily="34" charset="0"/>
                <a:ea typeface="Nunito" pitchFamily="34" charset="-122"/>
                <a:cs typeface="Nunito" pitchFamily="34" charset="-120"/>
              </a:rPr>
              <a:t>breakdown() gắn cờ; không bảng nào trong báo cáo có số thiếu n</a:t>
            </a:r>
            <a:endParaRPr lang="en-US" sz="1150" dirty="0"/>
          </a:p>
        </p:txBody>
      </p:sp>
      <p:sp>
        <p:nvSpPr>
          <p:cNvPr id="32" name="Text 30"/>
          <p:cNvSpPr txBox="1"/>
          <p:nvPr/>
        </p:nvSpPr>
        <p:spPr>
          <a:xfrm>
            <a:off x="685800" y="5907024"/>
            <a:ext cx="10820095" cy="292608"/>
          </a:xfrm>
          <a:prstGeom prst="rect">
            <a:avLst/>
          </a:prstGeom>
          <a:noFill/>
          <a:ln/>
        </p:spPr>
        <p:txBody>
          <a:bodyPr wrap="square" lIns="0" tIns="0" rIns="0" bIns="0" rtlCol="0" anchor="t"/>
          <a:lstStyle/>
          <a:p>
            <a:pPr algn="ctr" indent="0" marL="0">
              <a:lnSpc>
                <a:spcPts val="1740"/>
              </a:lnSpc>
              <a:buNone/>
            </a:pPr>
            <a:r>
              <a:rPr lang="en-US" sz="1200" i="1" dirty="0">
                <a:solidFill>
                  <a:srgbClr val="8C491A"/>
                </a:solidFill>
                <a:latin typeface="Nunito" pitchFamily="34" charset="0"/>
                <a:ea typeface="Nunito" pitchFamily="34" charset="-122"/>
                <a:cs typeface="Nunito" pitchFamily="34" charset="-120"/>
              </a:rPr>
              <a:t>Bất biến thứ năm: demo không sinh ra con số nào — và điều đó do kernel bắt buộc, vì models/, data/, results/ được mount read-only.</a:t>
            </a:r>
            <a:endParaRPr lang="en-US" sz="1200" dirty="0"/>
          </a:p>
        </p:txBody>
      </p:sp>
      <p:sp>
        <p:nvSpPr>
          <p:cNvPr id="33" name="Text 31"/>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4 · Phương pháp · Bất biến</a:t>
            </a:r>
            <a:endParaRPr lang="en-US" sz="1000" dirty="0"/>
          </a:p>
        </p:txBody>
      </p:sp>
      <p:sp>
        <p:nvSpPr>
          <p:cNvPr id="34" name="Text 32"/>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4 · PHƯƠNG PHÁP · THANG ĐO</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808"/>
              </a:lnSpc>
              <a:buNone/>
            </a:pPr>
            <a:r>
              <a:rPr lang="en-US" sz="3400" b="1" dirty="0">
                <a:solidFill>
                  <a:srgbClr val="201E1D"/>
                </a:solidFill>
                <a:latin typeface="Baloo 2" pitchFamily="34" charset="0"/>
                <a:ea typeface="Baloo 2" pitchFamily="34" charset="-122"/>
                <a:cs typeface="Baloo 2" pitchFamily="34" charset="-120"/>
              </a:rPr>
              <a:t>Thước đo được cài trước vật được đo</a:t>
            </a:r>
            <a:endParaRPr lang="en-US" sz="3400" dirty="0"/>
          </a:p>
        </p:txBody>
      </p:sp>
      <p:sp>
        <p:nvSpPr>
          <p:cNvPr id="4" name="Shape 2"/>
          <p:cNvSpPr/>
          <p:nvPr/>
        </p:nvSpPr>
        <p:spPr>
          <a:xfrm>
            <a:off x="685800" y="1645920"/>
            <a:ext cx="5120640" cy="2834640"/>
          </a:xfrm>
          <a:prstGeom prst="roundRect">
            <a:avLst>
              <a:gd name="adj" fmla="val 5161"/>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5" name="Text 3"/>
          <p:cNvSpPr txBox="1"/>
          <p:nvPr/>
        </p:nvSpPr>
        <p:spPr>
          <a:xfrm>
            <a:off x="978408" y="1828800"/>
            <a:ext cx="448056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HAI THANG ĐO, HAI CÂU HỎI KHÁC NHAU</a:t>
            </a:r>
            <a:endParaRPr lang="en-US" sz="950" dirty="0"/>
          </a:p>
        </p:txBody>
      </p:sp>
      <p:sp>
        <p:nvSpPr>
          <p:cNvPr id="6" name="Text 4"/>
          <p:cNvSpPr txBox="1"/>
          <p:nvPr/>
        </p:nvSpPr>
        <p:spPr>
          <a:xfrm>
            <a:off x="978408" y="2103120"/>
            <a:ext cx="4480560" cy="502920"/>
          </a:xfrm>
          <a:prstGeom prst="rect">
            <a:avLst/>
          </a:prstGeom>
          <a:noFill/>
          <a:ln/>
        </p:spPr>
        <p:txBody>
          <a:bodyPr wrap="square" lIns="0" tIns="0" rIns="0" bIns="0" rtlCol="0" anchor="t"/>
          <a:lstStyle/>
          <a:p>
            <a:pPr algn="l" indent="0" marL="0">
              <a:lnSpc>
                <a:spcPts val="1740"/>
              </a:lnSpc>
              <a:buNone/>
            </a:pPr>
            <a:r>
              <a:rPr lang="en-US" sz="1200" dirty="0">
                <a:solidFill>
                  <a:srgbClr val="201E1D"/>
                </a:solidFill>
                <a:latin typeface="Nunito" pitchFamily="34" charset="0"/>
                <a:ea typeface="Nunito" pitchFamily="34" charset="-122"/>
                <a:cs typeface="Nunito" pitchFamily="34" charset="-120"/>
              </a:rPr>
              <a:t>EM — đúng 1 điểm khi chuỗi dự đoán sau chuẩn hoá TRÙNG KHÍT một đáp án vàng; lệch một ký tự là 0.</a:t>
            </a:r>
            <a:endParaRPr lang="en-US" sz="1200" dirty="0"/>
          </a:p>
        </p:txBody>
      </p:sp>
      <p:sp>
        <p:nvSpPr>
          <p:cNvPr id="7" name="Text 5"/>
          <p:cNvSpPr txBox="1"/>
          <p:nvPr/>
        </p:nvSpPr>
        <p:spPr>
          <a:xfrm>
            <a:off x="978408" y="2633472"/>
            <a:ext cx="4480560" cy="502920"/>
          </a:xfrm>
          <a:prstGeom prst="rect">
            <a:avLst/>
          </a:prstGeom>
          <a:noFill/>
          <a:ln/>
        </p:spPr>
        <p:txBody>
          <a:bodyPr wrap="square" lIns="0" tIns="0" rIns="0" bIns="0" rtlCol="0" anchor="t"/>
          <a:lstStyle/>
          <a:p>
            <a:pPr algn="l" indent="0" marL="0">
              <a:lnSpc>
                <a:spcPts val="1740"/>
              </a:lnSpc>
              <a:buNone/>
            </a:pPr>
            <a:r>
              <a:rPr lang="en-US" sz="1200" dirty="0">
                <a:solidFill>
                  <a:srgbClr val="201E1D"/>
                </a:solidFill>
                <a:latin typeface="Nunito" pitchFamily="34" charset="0"/>
                <a:ea typeface="Nunito" pitchFamily="34" charset="-122"/>
                <a:cs typeface="Nunito" pitchFamily="34" charset="-120"/>
              </a:rPr>
              <a:t>F1 — trên TOKEN (âm tiết), dùng Counter (đa tập) thay vì set để token lặp được đếm đúng; cho điểm bán phần.</a:t>
            </a:r>
            <a:endParaRPr lang="en-US" sz="1200" dirty="0"/>
          </a:p>
        </p:txBody>
      </p:sp>
      <p:sp>
        <p:nvSpPr>
          <p:cNvPr id="8" name="Text 6"/>
          <p:cNvSpPr txBox="1"/>
          <p:nvPr/>
        </p:nvSpPr>
        <p:spPr>
          <a:xfrm>
            <a:off x="978408" y="3163824"/>
            <a:ext cx="4480560" cy="502920"/>
          </a:xfrm>
          <a:prstGeom prst="rect">
            <a:avLst/>
          </a:prstGeom>
          <a:noFill/>
          <a:ln/>
        </p:spPr>
        <p:txBody>
          <a:bodyPr wrap="square" lIns="0" tIns="0" rIns="0" bIns="0" rtlCol="0" anchor="t"/>
          <a:lstStyle/>
          <a:p>
            <a:pPr algn="l" indent="0" marL="0">
              <a:lnSpc>
                <a:spcPts val="1740"/>
              </a:lnSpc>
              <a:buNone/>
            </a:pPr>
            <a:r>
              <a:rPr lang="en-US" sz="1200" dirty="0">
                <a:solidFill>
                  <a:srgbClr val="201E1D"/>
                </a:solidFill>
                <a:latin typeface="Nunito" pitchFamily="34" charset="0"/>
                <a:ea typeface="Nunito" pitchFamily="34" charset="-122"/>
                <a:cs typeface="Nunito" pitchFamily="34" charset="-120"/>
              </a:rPr>
              <a:t>Câu không có đáp án — đúng khi và chỉ khi trả về chuỗi rỗng. Nhiều đáp án vàng: lấy điểm cao nhất.</a:t>
            </a:r>
            <a:endParaRPr lang="en-US" sz="1200" dirty="0"/>
          </a:p>
        </p:txBody>
      </p:sp>
      <p:sp>
        <p:nvSpPr>
          <p:cNvPr id="9" name="Shape 7"/>
          <p:cNvSpPr/>
          <p:nvPr/>
        </p:nvSpPr>
        <p:spPr>
          <a:xfrm>
            <a:off x="978408" y="3675888"/>
            <a:ext cx="4480560" cy="731520"/>
          </a:xfrm>
          <a:prstGeom prst="roundRect">
            <a:avLst>
              <a:gd name="adj" fmla="val 17500"/>
            </a:avLst>
          </a:prstGeom>
          <a:solidFill>
            <a:srgbClr val="FFF2EB"/>
          </a:solidFill>
          <a:ln w="12700">
            <a:solidFill>
              <a:srgbClr val="FFF2EB"/>
            </a:solidFill>
            <a:prstDash val="solid"/>
          </a:ln>
        </p:spPr>
      </p:sp>
      <p:sp>
        <p:nvSpPr>
          <p:cNvPr id="10" name="Text 8"/>
          <p:cNvSpPr txBox="1"/>
          <p:nvPr/>
        </p:nvSpPr>
        <p:spPr>
          <a:xfrm>
            <a:off x="1161288" y="3767328"/>
            <a:ext cx="4114800" cy="548640"/>
          </a:xfrm>
          <a:prstGeom prst="rect">
            <a:avLst/>
          </a:prstGeom>
          <a:noFill/>
          <a:ln/>
        </p:spPr>
        <p:txBody>
          <a:bodyPr wrap="square" lIns="0" tIns="0" rIns="0" bIns="0" rtlCol="0" anchor="t"/>
          <a:lstStyle/>
          <a:p>
            <a:pPr algn="l" indent="0" marL="0">
              <a:lnSpc>
                <a:spcPts val="1523"/>
              </a:lnSpc>
              <a:buNone/>
            </a:pPr>
            <a:r>
              <a:rPr lang="en-US" sz="1050" dirty="0">
                <a:solidFill>
                  <a:srgbClr val="8C491A"/>
                </a:solidFill>
                <a:latin typeface="Nunito" pitchFamily="34" charset="0"/>
                <a:ea typeface="Nunito" pitchFamily="34" charset="-122"/>
                <a:cs typeface="Nunito" pitchFamily="34" charset="-120"/>
              </a:rPr>
              <a:t>Bằng chứng: TF-IDF có F1 22,11 nhưng EM chỉ 1,05 — nó trả về cả một câu: trùng token, gần như không bao giờ trùng khít.</a:t>
            </a:r>
            <a:endParaRPr lang="en-US" sz="1050" dirty="0"/>
          </a:p>
        </p:txBody>
      </p:sp>
      <p:sp>
        <p:nvSpPr>
          <p:cNvPr id="11" name="Shape 9"/>
          <p:cNvSpPr/>
          <p:nvPr/>
        </p:nvSpPr>
        <p:spPr>
          <a:xfrm>
            <a:off x="6126480" y="1645920"/>
            <a:ext cx="5376672" cy="2834640"/>
          </a:xfrm>
          <a:prstGeom prst="roundRect">
            <a:avLst>
              <a:gd name="adj" fmla="val 5161"/>
            </a:avLst>
          </a:prstGeom>
          <a:solidFill>
            <a:srgbClr val="EBDDC5"/>
          </a:solidFill>
          <a:ln w="12700">
            <a:solidFill>
              <a:srgbClr val="EBDDC5"/>
            </a:solidFill>
            <a:prstDash val="solid"/>
          </a:ln>
        </p:spPr>
      </p:sp>
      <p:sp>
        <p:nvSpPr>
          <p:cNvPr id="12" name="Text 10"/>
          <p:cNvSpPr txBox="1"/>
          <p:nvPr/>
        </p:nvSpPr>
        <p:spPr>
          <a:xfrm>
            <a:off x="6419088" y="1828800"/>
            <a:ext cx="4754880" cy="219456"/>
          </a:xfrm>
          <a:prstGeom prst="rect">
            <a:avLst/>
          </a:prstGeom>
          <a:noFill/>
          <a:ln/>
        </p:spPr>
        <p:txBody>
          <a:bodyPr wrap="square" lIns="0" tIns="0" rIns="0" bIns="0" rtlCol="0" anchor="ctr"/>
          <a:lstStyle/>
          <a:p>
            <a:pPr indent="0" marL="0">
              <a:buNone/>
            </a:pPr>
            <a:r>
              <a:rPr lang="en-US" sz="950" b="1" spc="160" kern="0" dirty="0">
                <a:solidFill>
                  <a:srgbClr val="8C491A"/>
                </a:solidFill>
                <a:latin typeface="Nunito" pitchFamily="34" charset="0"/>
                <a:ea typeface="Nunito" pitchFamily="34" charset="-122"/>
                <a:cs typeface="Nunito" pitchFamily="34" charset="-120"/>
              </a:rPr>
              <a:t>BA QUYẾT ĐỊNH CHUẨN HOÁ — MỖI CÁI ĐƯỢC TEST GHIM</a:t>
            </a:r>
            <a:endParaRPr lang="en-US" sz="950" dirty="0"/>
          </a:p>
        </p:txBody>
      </p:sp>
      <p:sp>
        <p:nvSpPr>
          <p:cNvPr id="13" name="Shape 11"/>
          <p:cNvSpPr/>
          <p:nvPr/>
        </p:nvSpPr>
        <p:spPr>
          <a:xfrm>
            <a:off x="6419088" y="2103120"/>
            <a:ext cx="310896" cy="310896"/>
          </a:xfrm>
          <a:prstGeom prst="roundRect">
            <a:avLst>
              <a:gd name="adj" fmla="val 26471"/>
            </a:avLst>
          </a:prstGeom>
          <a:solidFill>
            <a:srgbClr val="C67139"/>
          </a:solidFill>
          <a:ln w="12700">
            <a:solidFill>
              <a:srgbClr val="C67139"/>
            </a:solidFill>
            <a:prstDash val="solid"/>
          </a:ln>
        </p:spPr>
      </p:sp>
      <p:sp>
        <p:nvSpPr>
          <p:cNvPr id="14" name="Text 12"/>
          <p:cNvSpPr txBox="1"/>
          <p:nvPr/>
        </p:nvSpPr>
        <p:spPr>
          <a:xfrm>
            <a:off x="6419088" y="21031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Baloo 2" pitchFamily="34" charset="0"/>
                <a:ea typeface="Baloo 2" pitchFamily="34" charset="-122"/>
                <a:cs typeface="Baloo 2" pitchFamily="34" charset="-120"/>
              </a:rPr>
              <a:t>A</a:t>
            </a:r>
            <a:endParaRPr lang="en-US" sz="1300" dirty="0"/>
          </a:p>
        </p:txBody>
      </p:sp>
      <p:sp>
        <p:nvSpPr>
          <p:cNvPr id="15" name="Text 13"/>
          <p:cNvSpPr txBox="1"/>
          <p:nvPr/>
        </p:nvSpPr>
        <p:spPr>
          <a:xfrm>
            <a:off x="6839712" y="2103120"/>
            <a:ext cx="2377440" cy="274320"/>
          </a:xfrm>
          <a:prstGeom prst="rect">
            <a:avLst/>
          </a:prstGeom>
          <a:noFill/>
          <a:ln/>
        </p:spPr>
        <p:txBody>
          <a:bodyPr wrap="square" lIns="0" tIns="0" rIns="0" bIns="0" rtlCol="0" anchor="ctr"/>
          <a:lstStyle/>
          <a:p>
            <a:pPr algn="l" indent="0" marL="0">
              <a:lnSpc>
                <a:spcPts val="1813"/>
              </a:lnSpc>
              <a:buNone/>
            </a:pPr>
            <a:r>
              <a:rPr lang="en-US" sz="1250" b="1" dirty="0">
                <a:solidFill>
                  <a:srgbClr val="201E1D"/>
                </a:solidFill>
                <a:latin typeface="Nunito" pitchFamily="34" charset="0"/>
                <a:ea typeface="Nunito" pitchFamily="34" charset="-122"/>
                <a:cs typeface="Nunito" pitchFamily="34" charset="-120"/>
              </a:rPr>
              <a:t>Không loại bỏ mạo từ</a:t>
            </a:r>
            <a:endParaRPr lang="en-US" sz="1250" dirty="0"/>
          </a:p>
        </p:txBody>
      </p:sp>
      <p:sp>
        <p:nvSpPr>
          <p:cNvPr id="16" name="Text 14"/>
          <p:cNvSpPr txBox="1"/>
          <p:nvPr/>
        </p:nvSpPr>
        <p:spPr>
          <a:xfrm>
            <a:off x="6839712" y="2377440"/>
            <a:ext cx="2377440" cy="457200"/>
          </a:xfrm>
          <a:prstGeom prst="rect">
            <a:avLst/>
          </a:prstGeom>
          <a:noFill/>
          <a:ln/>
        </p:spPr>
        <p:txBody>
          <a:bodyPr wrap="square" lIns="0" tIns="0" rIns="0" bIns="0" rtlCol="0" anchor="t"/>
          <a:lstStyle/>
          <a:p>
            <a:pPr algn="l" indent="0" marL="0">
              <a:lnSpc>
                <a:spcPts val="1378"/>
              </a:lnSpc>
              <a:buNone/>
            </a:pPr>
            <a:r>
              <a:rPr lang="en-US" sz="950" dirty="0">
                <a:solidFill>
                  <a:srgbClr val="645C50"/>
                </a:solidFill>
                <a:latin typeface="Nunito" pitchFamily="34" charset="0"/>
                <a:ea typeface="Nunito" pitchFamily="34" charset="-122"/>
                <a:cs typeface="Nunito" pitchFamily="34" charset="-120"/>
              </a:rPr>
              <a:t>tiếng Việt không có mạo từ; “các”, “những”, “con” là loại từ và có thể thuộc đáp án</a:t>
            </a:r>
            <a:endParaRPr lang="en-US" sz="950" dirty="0"/>
          </a:p>
        </p:txBody>
      </p:sp>
      <p:sp>
        <p:nvSpPr>
          <p:cNvPr id="17" name="Text 15"/>
          <p:cNvSpPr txBox="1"/>
          <p:nvPr/>
        </p:nvSpPr>
        <p:spPr>
          <a:xfrm>
            <a:off x="9326880" y="2121408"/>
            <a:ext cx="2103120" cy="274320"/>
          </a:xfrm>
          <a:prstGeom prst="rect">
            <a:avLst/>
          </a:prstGeom>
          <a:noFill/>
          <a:ln/>
        </p:spPr>
        <p:txBody>
          <a:bodyPr wrap="square" lIns="0" tIns="0" rIns="0" bIns="0" rtlCol="0" anchor="ctr"/>
          <a:lstStyle/>
          <a:p>
            <a:pPr algn="l" indent="0" marL="0">
              <a:buNone/>
            </a:pPr>
            <a:r>
              <a:rPr lang="en-US" sz="1000" b="1" dirty="0">
                <a:solidFill>
                  <a:srgbClr val="3D472B"/>
                </a:solidFill>
                <a:latin typeface="Courier New" pitchFamily="34" charset="0"/>
                <a:ea typeface="Courier New" pitchFamily="34" charset="-122"/>
                <a:cs typeface="Courier New" pitchFamily="34" charset="-120"/>
              </a:rPr>
              <a:t>“các tỉnh” giữ nguyên “các”</a:t>
            </a:r>
            <a:endParaRPr lang="en-US" sz="1000" dirty="0"/>
          </a:p>
        </p:txBody>
      </p:sp>
      <p:sp>
        <p:nvSpPr>
          <p:cNvPr id="18" name="Shape 16"/>
          <p:cNvSpPr/>
          <p:nvPr/>
        </p:nvSpPr>
        <p:spPr>
          <a:xfrm>
            <a:off x="6419088" y="2889504"/>
            <a:ext cx="310896" cy="310896"/>
          </a:xfrm>
          <a:prstGeom prst="roundRect">
            <a:avLst>
              <a:gd name="adj" fmla="val 26471"/>
            </a:avLst>
          </a:prstGeom>
          <a:solidFill>
            <a:srgbClr val="C67139"/>
          </a:solidFill>
          <a:ln w="12700">
            <a:solidFill>
              <a:srgbClr val="C67139"/>
            </a:solidFill>
            <a:prstDash val="solid"/>
          </a:ln>
        </p:spPr>
      </p:sp>
      <p:sp>
        <p:nvSpPr>
          <p:cNvPr id="19" name="Text 17"/>
          <p:cNvSpPr txBox="1"/>
          <p:nvPr/>
        </p:nvSpPr>
        <p:spPr>
          <a:xfrm>
            <a:off x="6419088" y="288950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Baloo 2" pitchFamily="34" charset="0"/>
                <a:ea typeface="Baloo 2" pitchFamily="34" charset="-122"/>
                <a:cs typeface="Baloo 2" pitchFamily="34" charset="-120"/>
              </a:rPr>
              <a:t>B</a:t>
            </a:r>
            <a:endParaRPr lang="en-US" sz="1300" dirty="0"/>
          </a:p>
        </p:txBody>
      </p:sp>
      <p:sp>
        <p:nvSpPr>
          <p:cNvPr id="20" name="Text 18"/>
          <p:cNvSpPr txBox="1"/>
          <p:nvPr/>
        </p:nvSpPr>
        <p:spPr>
          <a:xfrm>
            <a:off x="6839712" y="2889504"/>
            <a:ext cx="2377440" cy="274320"/>
          </a:xfrm>
          <a:prstGeom prst="rect">
            <a:avLst/>
          </a:prstGeom>
          <a:noFill/>
          <a:ln/>
        </p:spPr>
        <p:txBody>
          <a:bodyPr wrap="square" lIns="0" tIns="0" rIns="0" bIns="0" rtlCol="0" anchor="ctr"/>
          <a:lstStyle/>
          <a:p>
            <a:pPr algn="l" indent="0" marL="0">
              <a:lnSpc>
                <a:spcPts val="1813"/>
              </a:lnSpc>
              <a:buNone/>
            </a:pPr>
            <a:r>
              <a:rPr lang="en-US" sz="1250" b="1" dirty="0">
                <a:solidFill>
                  <a:srgbClr val="201E1D"/>
                </a:solidFill>
                <a:latin typeface="Nunito" pitchFamily="34" charset="0"/>
                <a:ea typeface="Nunito" pitchFamily="34" charset="-122"/>
                <a:cs typeface="Nunito" pitchFamily="34" charset="-120"/>
              </a:rPr>
              <a:t>Tách token theo khoảng trắng</a:t>
            </a:r>
            <a:endParaRPr lang="en-US" sz="1250" dirty="0"/>
          </a:p>
        </p:txBody>
      </p:sp>
      <p:sp>
        <p:nvSpPr>
          <p:cNvPr id="21" name="Text 19"/>
          <p:cNvSpPr txBox="1"/>
          <p:nvPr/>
        </p:nvSpPr>
        <p:spPr>
          <a:xfrm>
            <a:off x="6839712" y="3163824"/>
            <a:ext cx="2377440" cy="457200"/>
          </a:xfrm>
          <a:prstGeom prst="rect">
            <a:avLst/>
          </a:prstGeom>
          <a:noFill/>
          <a:ln/>
        </p:spPr>
        <p:txBody>
          <a:bodyPr wrap="square" lIns="0" tIns="0" rIns="0" bIns="0" rtlCol="0" anchor="t"/>
          <a:lstStyle/>
          <a:p>
            <a:pPr algn="l" indent="0" marL="0">
              <a:lnSpc>
                <a:spcPts val="1378"/>
              </a:lnSpc>
              <a:buNone/>
            </a:pPr>
            <a:r>
              <a:rPr lang="en-US" sz="950" dirty="0">
                <a:solidFill>
                  <a:srgbClr val="645C50"/>
                </a:solidFill>
                <a:latin typeface="Nunito" pitchFamily="34" charset="0"/>
                <a:ea typeface="Nunito" pitchFamily="34" charset="-122"/>
                <a:cs typeface="Nunito" pitchFamily="34" charset="-120"/>
              </a:rPr>
              <a:t>khớp cách đánh giá thông dụng của ViQuAD; không nhiễm lỗi bộ tách từ</a:t>
            </a:r>
            <a:endParaRPr lang="en-US" sz="950" dirty="0"/>
          </a:p>
        </p:txBody>
      </p:sp>
      <p:sp>
        <p:nvSpPr>
          <p:cNvPr id="22" name="Text 20"/>
          <p:cNvSpPr txBox="1"/>
          <p:nvPr/>
        </p:nvSpPr>
        <p:spPr>
          <a:xfrm>
            <a:off x="9326880" y="2907792"/>
            <a:ext cx="2103120" cy="274320"/>
          </a:xfrm>
          <a:prstGeom prst="rect">
            <a:avLst/>
          </a:prstGeom>
          <a:noFill/>
          <a:ln/>
        </p:spPr>
        <p:txBody>
          <a:bodyPr wrap="square" lIns="0" tIns="0" rIns="0" bIns="0" rtlCol="0" anchor="ctr"/>
          <a:lstStyle/>
          <a:p>
            <a:pPr algn="l" indent="0" marL="0">
              <a:buNone/>
            </a:pPr>
            <a:r>
              <a:rPr lang="en-US" sz="1000" b="1" dirty="0">
                <a:solidFill>
                  <a:srgbClr val="3D472B"/>
                </a:solidFill>
                <a:latin typeface="Courier New" pitchFamily="34" charset="0"/>
                <a:ea typeface="Courier New" pitchFamily="34" charset="-122"/>
                <a:cs typeface="Courier New" pitchFamily="34" charset="-120"/>
              </a:rPr>
              <a:t>“Hà Nội” là 2 token</a:t>
            </a:r>
            <a:endParaRPr lang="en-US" sz="1000" dirty="0"/>
          </a:p>
        </p:txBody>
      </p:sp>
      <p:sp>
        <p:nvSpPr>
          <p:cNvPr id="23" name="Shape 21"/>
          <p:cNvSpPr/>
          <p:nvPr/>
        </p:nvSpPr>
        <p:spPr>
          <a:xfrm>
            <a:off x="6419088" y="3675888"/>
            <a:ext cx="310896" cy="310896"/>
          </a:xfrm>
          <a:prstGeom prst="roundRect">
            <a:avLst>
              <a:gd name="adj" fmla="val 26471"/>
            </a:avLst>
          </a:prstGeom>
          <a:solidFill>
            <a:srgbClr val="C67139"/>
          </a:solidFill>
          <a:ln w="12700">
            <a:solidFill>
              <a:srgbClr val="C67139"/>
            </a:solidFill>
            <a:prstDash val="solid"/>
          </a:ln>
        </p:spPr>
      </p:sp>
      <p:sp>
        <p:nvSpPr>
          <p:cNvPr id="24" name="Text 22"/>
          <p:cNvSpPr txBox="1"/>
          <p:nvPr/>
        </p:nvSpPr>
        <p:spPr>
          <a:xfrm>
            <a:off x="6419088" y="367588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Baloo 2" pitchFamily="34" charset="0"/>
                <a:ea typeface="Baloo 2" pitchFamily="34" charset="-122"/>
                <a:cs typeface="Baloo 2" pitchFamily="34" charset="-120"/>
              </a:rPr>
              <a:t>C</a:t>
            </a:r>
            <a:endParaRPr lang="en-US" sz="1300" dirty="0"/>
          </a:p>
        </p:txBody>
      </p:sp>
      <p:sp>
        <p:nvSpPr>
          <p:cNvPr id="25" name="Text 23"/>
          <p:cNvSpPr txBox="1"/>
          <p:nvPr/>
        </p:nvSpPr>
        <p:spPr>
          <a:xfrm>
            <a:off x="6839712" y="3675888"/>
            <a:ext cx="2377440" cy="274320"/>
          </a:xfrm>
          <a:prstGeom prst="rect">
            <a:avLst/>
          </a:prstGeom>
          <a:noFill/>
          <a:ln/>
        </p:spPr>
        <p:txBody>
          <a:bodyPr wrap="square" lIns="0" tIns="0" rIns="0" bIns="0" rtlCol="0" anchor="ctr"/>
          <a:lstStyle/>
          <a:p>
            <a:pPr algn="l" indent="0" marL="0">
              <a:lnSpc>
                <a:spcPts val="1813"/>
              </a:lnSpc>
              <a:buNone/>
            </a:pPr>
            <a:r>
              <a:rPr lang="en-US" sz="1250" b="1" dirty="0">
                <a:solidFill>
                  <a:srgbClr val="201E1D"/>
                </a:solidFill>
                <a:latin typeface="Nunito" pitchFamily="34" charset="0"/>
                <a:ea typeface="Nunito" pitchFamily="34" charset="-122"/>
                <a:cs typeface="Nunito" pitchFamily="34" charset="-120"/>
              </a:rPr>
              <a:t>Giữ dấu tiếng Việt</a:t>
            </a:r>
            <a:endParaRPr lang="en-US" sz="1250" dirty="0"/>
          </a:p>
        </p:txBody>
      </p:sp>
      <p:sp>
        <p:nvSpPr>
          <p:cNvPr id="26" name="Text 24"/>
          <p:cNvSpPr txBox="1"/>
          <p:nvPr/>
        </p:nvSpPr>
        <p:spPr>
          <a:xfrm>
            <a:off x="6839712" y="3950208"/>
            <a:ext cx="2377440" cy="457200"/>
          </a:xfrm>
          <a:prstGeom prst="rect">
            <a:avLst/>
          </a:prstGeom>
          <a:noFill/>
          <a:ln/>
        </p:spPr>
        <p:txBody>
          <a:bodyPr wrap="square" lIns="0" tIns="0" rIns="0" bIns="0" rtlCol="0" anchor="t"/>
          <a:lstStyle/>
          <a:p>
            <a:pPr algn="l" indent="0" marL="0">
              <a:lnSpc>
                <a:spcPts val="1378"/>
              </a:lnSpc>
              <a:buNone/>
            </a:pPr>
            <a:r>
              <a:rPr lang="en-US" sz="950" dirty="0">
                <a:solidFill>
                  <a:srgbClr val="645C50"/>
                </a:solidFill>
                <a:latin typeface="Nunito" pitchFamily="34" charset="0"/>
                <a:ea typeface="Nunito" pitchFamily="34" charset="-122"/>
                <a:cs typeface="Nunito" pitchFamily="34" charset="-120"/>
              </a:rPr>
              <a:t>“hoà” ≠ “hoa”; bỏ dấu làm sai EM hàng loạt mà không báo lỗi</a:t>
            </a:r>
            <a:endParaRPr lang="en-US" sz="950" dirty="0"/>
          </a:p>
        </p:txBody>
      </p:sp>
      <p:sp>
        <p:nvSpPr>
          <p:cNvPr id="27" name="Text 25"/>
          <p:cNvSpPr txBox="1"/>
          <p:nvPr/>
        </p:nvSpPr>
        <p:spPr>
          <a:xfrm>
            <a:off x="9326880" y="3694176"/>
            <a:ext cx="2103120" cy="274320"/>
          </a:xfrm>
          <a:prstGeom prst="rect">
            <a:avLst/>
          </a:prstGeom>
          <a:noFill/>
          <a:ln/>
        </p:spPr>
        <p:txBody>
          <a:bodyPr wrap="square" lIns="0" tIns="0" rIns="0" bIns="0" rtlCol="0" anchor="ctr"/>
          <a:lstStyle/>
          <a:p>
            <a:pPr algn="l" indent="0" marL="0">
              <a:buNone/>
            </a:pPr>
            <a:r>
              <a:rPr lang="en-US" sz="1000" b="1" dirty="0">
                <a:solidFill>
                  <a:srgbClr val="3D472B"/>
                </a:solidFill>
                <a:latin typeface="Courier New" pitchFamily="34" charset="0"/>
                <a:ea typeface="Courier New" pitchFamily="34" charset="-122"/>
                <a:cs typeface="Courier New" pitchFamily="34" charset="-120"/>
              </a:rPr>
              <a:t>EM(“hoà”, “hoa”) = 0</a:t>
            </a:r>
            <a:endParaRPr lang="en-US" sz="1000" dirty="0"/>
          </a:p>
        </p:txBody>
      </p:sp>
      <p:sp>
        <p:nvSpPr>
          <p:cNvPr id="28" name="Shape 26"/>
          <p:cNvSpPr/>
          <p:nvPr/>
        </p:nvSpPr>
        <p:spPr>
          <a:xfrm>
            <a:off x="685800" y="4572000"/>
            <a:ext cx="10820095" cy="749808"/>
          </a:xfrm>
          <a:prstGeom prst="roundRect">
            <a:avLst>
              <a:gd name="adj" fmla="val 19512"/>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29" name="Text 27"/>
          <p:cNvSpPr txBox="1"/>
          <p:nvPr/>
        </p:nvSpPr>
        <p:spPr>
          <a:xfrm>
            <a:off x="1005840" y="4718304"/>
            <a:ext cx="2834640" cy="274320"/>
          </a:xfrm>
          <a:prstGeom prst="rect">
            <a:avLst/>
          </a:prstGeom>
          <a:noFill/>
          <a:ln/>
        </p:spPr>
        <p:txBody>
          <a:bodyPr wrap="square" lIns="0" tIns="0" rIns="0" bIns="0" rtlCol="0" anchor="ctr"/>
          <a:lstStyle/>
          <a:p>
            <a:pPr algn="l" indent="0" marL="0">
              <a:lnSpc>
                <a:spcPts val="1740"/>
              </a:lnSpc>
              <a:buNone/>
            </a:pPr>
            <a:r>
              <a:rPr lang="en-US" sz="1200" b="1" dirty="0">
                <a:solidFill>
                  <a:srgbClr val="201E1D"/>
                </a:solidFill>
                <a:latin typeface="Nunito" pitchFamily="34" charset="0"/>
                <a:ea typeface="Nunito" pitchFamily="34" charset="-122"/>
                <a:cs typeface="Nunito" pitchFamily="34" charset="-120"/>
              </a:rPr>
              <a:t>Hai chi tiết cài đặt cũng được test:</a:t>
            </a:r>
            <a:endParaRPr lang="en-US" sz="1200" dirty="0"/>
          </a:p>
        </p:txBody>
      </p:sp>
      <p:sp>
        <p:nvSpPr>
          <p:cNvPr id="30" name="Text 28"/>
          <p:cNvSpPr txBox="1"/>
          <p:nvPr/>
        </p:nvSpPr>
        <p:spPr>
          <a:xfrm>
            <a:off x="3886200" y="4663440"/>
            <a:ext cx="7315200" cy="548640"/>
          </a:xfrm>
          <a:prstGeom prst="rect">
            <a:avLst/>
          </a:prstGeom>
          <a:noFill/>
          <a:ln/>
        </p:spPr>
        <p:txBody>
          <a:bodyPr wrap="square" lIns="0" tIns="0" rIns="0" bIns="0" rtlCol="0" anchor="t"/>
          <a:lstStyle/>
          <a:p>
            <a:pPr algn="l" indent="0" marL="0">
              <a:lnSpc>
                <a:spcPts val="1595"/>
              </a:lnSpc>
              <a:buNone/>
            </a:pPr>
            <a:r>
              <a:rPr lang="en-US" sz="1100" dirty="0">
                <a:solidFill>
                  <a:srgbClr val="645C50"/>
                </a:solidFill>
                <a:latin typeface="Nunito" pitchFamily="34" charset="0"/>
                <a:ea typeface="Nunito" pitchFamily="34" charset="-122"/>
                <a:cs typeface="Nunito" pitchFamily="34" charset="-120"/>
              </a:rPr>
              <a:t>dấu câu nhận diện theo nhóm Unicode P* thay vì string.punctuation (bắt được “–”, “”, “…” thường gặp trong Wikipedia)  ·  evaluate() raise KeyError nếu thiếu dự đoán của bất kỳ câu nào — bỏ qua âm thầm sẽ tính EM trên một tập con nhỏ hơn mà không ai biết.</a:t>
            </a:r>
            <a:endParaRPr lang="en-US" sz="1100" dirty="0"/>
          </a:p>
        </p:txBody>
      </p:sp>
      <p:sp>
        <p:nvSpPr>
          <p:cNvPr id="31" name="Shape 29"/>
          <p:cNvSpPr/>
          <p:nvPr/>
        </p:nvSpPr>
        <p:spPr>
          <a:xfrm>
            <a:off x="685800" y="5440680"/>
            <a:ext cx="10820095" cy="777240"/>
          </a:xfrm>
          <a:prstGeom prst="roundRect">
            <a:avLst>
              <a:gd name="adj" fmla="val 18824"/>
            </a:avLst>
          </a:prstGeom>
          <a:solidFill>
            <a:srgbClr val="F0FAE1"/>
          </a:solidFill>
          <a:ln w="12700">
            <a:solidFill>
              <a:srgbClr val="F0FAE1"/>
            </a:solidFill>
            <a:prstDash val="solid"/>
          </a:ln>
        </p:spPr>
      </p:sp>
      <p:sp>
        <p:nvSpPr>
          <p:cNvPr id="32" name="Text 30"/>
          <p:cNvSpPr txBox="1"/>
          <p:nvPr/>
        </p:nvSpPr>
        <p:spPr>
          <a:xfrm>
            <a:off x="1005840" y="5559552"/>
            <a:ext cx="10180015" cy="310896"/>
          </a:xfrm>
          <a:prstGeom prst="rect">
            <a:avLst/>
          </a:prstGeom>
          <a:noFill/>
          <a:ln/>
        </p:spPr>
        <p:txBody>
          <a:bodyPr wrap="square" lIns="0" tIns="0" rIns="0" bIns="0" rtlCol="0" anchor="t"/>
          <a:lstStyle/>
          <a:p>
            <a:pPr algn="l" indent="0" marL="0">
              <a:lnSpc>
                <a:spcPts val="2103"/>
              </a:lnSpc>
              <a:buNone/>
            </a:pPr>
            <a:r>
              <a:rPr lang="en-US" sz="1450" b="1" dirty="0">
                <a:solidFill>
                  <a:srgbClr val="3D472B"/>
                </a:solidFill>
                <a:latin typeface="Nunito" pitchFamily="34" charset="0"/>
                <a:ea typeface="Nunito" pitchFamily="34" charset="-122"/>
                <a:cs typeface="Nunito" pitchFamily="34" charset="-120"/>
              </a:rPr>
              <a:t>Metric được cài trước mọi mô hình, và đạt độ phủ kiểm thử 100%.</a:t>
            </a:r>
            <a:endParaRPr lang="en-US" sz="1450" dirty="0"/>
          </a:p>
        </p:txBody>
      </p:sp>
      <p:sp>
        <p:nvSpPr>
          <p:cNvPr id="33" name="Text 31"/>
          <p:cNvSpPr txBox="1"/>
          <p:nvPr/>
        </p:nvSpPr>
        <p:spPr>
          <a:xfrm>
            <a:off x="1005840" y="5843016"/>
            <a:ext cx="10180015" cy="320040"/>
          </a:xfrm>
          <a:prstGeom prst="rect">
            <a:avLst/>
          </a:prstGeom>
          <a:noFill/>
          <a:ln/>
        </p:spPr>
        <p:txBody>
          <a:bodyPr wrap="square" lIns="0" tIns="0" rIns="0" bIns="0" rtlCol="0" anchor="t"/>
          <a:lstStyle/>
          <a:p>
            <a:pPr algn="l" indent="0" marL="0">
              <a:lnSpc>
                <a:spcPts val="1668"/>
              </a:lnSpc>
              <a:buNone/>
            </a:pPr>
            <a:r>
              <a:rPr lang="en-US" sz="1150" dirty="0">
                <a:solidFill>
                  <a:srgbClr val="3D472B"/>
                </a:solidFill>
                <a:latin typeface="Nunito" pitchFamily="34" charset="0"/>
                <a:ea typeface="Nunito" pitchFamily="34" charset="-122"/>
                <a:cs typeface="Nunito" pitchFamily="34" charset="-120"/>
              </a:rPr>
              <a:t>Thứ tự này có chủ ý: nếu viết mô hình trước rồi mới viết thước đo, mọi lần “sửa metric cho hợp lý” đều là một cơ hội để chỉnh số theo ý mình mà không nhận ra.</a:t>
            </a:r>
            <a:endParaRPr lang="en-US" sz="1150" dirty="0"/>
          </a:p>
        </p:txBody>
      </p:sp>
      <p:sp>
        <p:nvSpPr>
          <p:cNvPr id="34" name="Text 32"/>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4 · Phương pháp · Thang đo cho tiếng Việt</a:t>
            </a:r>
            <a:endParaRPr lang="en-US" sz="1000" dirty="0"/>
          </a:p>
        </p:txBody>
      </p:sp>
      <p:sp>
        <p:nvSpPr>
          <p:cNvPr id="35" name="Text 33"/>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4 · PHƯƠNG PHÁP · QUYẾT ĐỊNH KỸ THUẬT</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808"/>
              </a:lnSpc>
              <a:buNone/>
            </a:pPr>
            <a:r>
              <a:rPr lang="en-US" sz="3400" b="1" dirty="0">
                <a:solidFill>
                  <a:srgbClr val="201E1D"/>
                </a:solidFill>
                <a:latin typeface="Baloo 2" pitchFamily="34" charset="0"/>
                <a:ea typeface="Baloo 2" pitchFamily="34" charset="-122"/>
                <a:cs typeface="Baloo 2" pitchFamily="34" charset="-120"/>
              </a:rPr>
              <a:t>Hai quyết định kỹ thuật đã đổi cả hệ thống</a:t>
            </a:r>
            <a:endParaRPr lang="en-US" sz="3400" dirty="0"/>
          </a:p>
        </p:txBody>
      </p:sp>
      <p:sp>
        <p:nvSpPr>
          <p:cNvPr id="4" name="Shape 2"/>
          <p:cNvSpPr/>
          <p:nvPr/>
        </p:nvSpPr>
        <p:spPr>
          <a:xfrm>
            <a:off x="685800" y="1691640"/>
            <a:ext cx="5285232" cy="4114800"/>
          </a:xfrm>
          <a:prstGeom prst="roundRect">
            <a:avLst>
              <a:gd name="adj" fmla="val 3556"/>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5" name="Text 3"/>
          <p:cNvSpPr txBox="1"/>
          <p:nvPr/>
        </p:nvSpPr>
        <p:spPr>
          <a:xfrm>
            <a:off x="978408" y="1920240"/>
            <a:ext cx="182880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ADR-003</a:t>
            </a:r>
            <a:endParaRPr lang="en-US" sz="950" dirty="0"/>
          </a:p>
        </p:txBody>
      </p:sp>
      <p:sp>
        <p:nvSpPr>
          <p:cNvPr id="6" name="Text 4"/>
          <p:cNvSpPr txBox="1"/>
          <p:nvPr/>
        </p:nvSpPr>
        <p:spPr>
          <a:xfrm>
            <a:off x="978408" y="2157984"/>
            <a:ext cx="4663440" cy="365760"/>
          </a:xfrm>
          <a:prstGeom prst="rect">
            <a:avLst/>
          </a:prstGeom>
          <a:noFill/>
          <a:ln/>
        </p:spPr>
        <p:txBody>
          <a:bodyPr wrap="square" lIns="0" tIns="0" rIns="0" bIns="0" rtlCol="0" anchor="ctr"/>
          <a:lstStyle/>
          <a:p>
            <a:pPr indent="0" marL="0">
              <a:buNone/>
            </a:pPr>
            <a:r>
              <a:rPr lang="en-US" sz="1900" b="1" dirty="0">
                <a:solidFill>
                  <a:srgbClr val="201E1D"/>
                </a:solidFill>
                <a:latin typeface="Baloo 2" pitchFamily="34" charset="0"/>
                <a:ea typeface="Baloo 2" pitchFamily="34" charset="-122"/>
                <a:cs typeface="Baloo 2" pitchFamily="34" charset="-120"/>
              </a:rPr>
              <a:t>Tự cài cửa sổ trượt</a:t>
            </a:r>
            <a:endParaRPr lang="en-US" sz="1900" dirty="0"/>
          </a:p>
        </p:txBody>
      </p:sp>
      <p:sp>
        <p:nvSpPr>
          <p:cNvPr id="7" name="Text 5"/>
          <p:cNvSpPr txBox="1"/>
          <p:nvPr/>
        </p:nvSpPr>
        <p:spPr>
          <a:xfrm>
            <a:off x="978408" y="2578608"/>
            <a:ext cx="4663440" cy="548640"/>
          </a:xfrm>
          <a:prstGeom prst="rect">
            <a:avLst/>
          </a:prstGeom>
          <a:noFill/>
          <a:ln/>
        </p:spPr>
        <p:txBody>
          <a:bodyPr wrap="square" lIns="0" tIns="0" rIns="0" bIns="0" rtlCol="0" anchor="t"/>
          <a:lstStyle/>
          <a:p>
            <a:pPr algn="l" indent="0" marL="0">
              <a:lnSpc>
                <a:spcPts val="1740"/>
              </a:lnSpc>
              <a:buNone/>
            </a:pPr>
            <a:r>
              <a:rPr lang="en-US" sz="1200" dirty="0">
                <a:solidFill>
                  <a:srgbClr val="645C50"/>
                </a:solidFill>
                <a:latin typeface="Nunito" pitchFamily="34" charset="0"/>
                <a:ea typeface="Nunito" pitchFamily="34" charset="-122"/>
                <a:cs typeface="Nunito" pitchFamily="34" charset="-120"/>
              </a:rPr>
              <a:t>return_overflowing_tokens của transformers 5.17.0 sinh tối đa 2 cửa sổ, bất kể context dài bao nhiêu:</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978408" y="3200400"/>
          <a:ext cx="4663440" cy="914400"/>
        </p:xfrm>
        <a:graphic>
          <a:graphicData uri="http://schemas.openxmlformats.org/drawingml/2006/table">
            <a:tbl>
              <a:tblPr/>
              <a:tblGrid>
                <a:gridCol w="2286000"/>
                <a:gridCol w="1188720"/>
                <a:gridCol w="1188720"/>
              </a:tblGrid>
              <a:tr h="301752">
                <a:tc>
                  <a:txBody>
                    <a:bodyPr/>
                    <a:lstStyle/>
                    <a:p>
                      <a:pPr algn="l" indent="0" marL="0">
                        <a:buNone/>
                      </a:pPr>
                      <a:r>
                        <a:rPr lang="en-US" sz="950" b="1" spc="120" kern="0" dirty="0">
                          <a:solidFill>
                            <a:srgbClr val="645C50"/>
                          </a:solidFill>
                          <a:latin typeface="Nunito" pitchFamily="34" charset="0"/>
                          <a:ea typeface="Nunito" pitchFamily="34" charset="-122"/>
                          <a:cs typeface="Nunito" pitchFamily="34" charset="-120"/>
                        </a:rPr>
                        <a:t>ĐỘ DÀI CONTEXT</a:t>
                      </a:r>
                      <a:endParaRPr lang="en-US" sz="9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950" b="1" spc="120" kern="0" dirty="0">
                          <a:solidFill>
                            <a:srgbClr val="645C50"/>
                          </a:solidFill>
                          <a:latin typeface="Nunito" pitchFamily="34" charset="0"/>
                          <a:ea typeface="Nunito" pitchFamily="34" charset="-122"/>
                          <a:cs typeface="Nunito" pitchFamily="34" charset="-120"/>
                        </a:rPr>
                        <a:t>THỰC TẾ</a:t>
                      </a:r>
                      <a:endParaRPr lang="en-US" sz="9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950" b="1" spc="120" kern="0" dirty="0">
                          <a:solidFill>
                            <a:srgbClr val="645C50"/>
                          </a:solidFill>
                          <a:latin typeface="Nunito" pitchFamily="34" charset="0"/>
                          <a:ea typeface="Nunito" pitchFamily="34" charset="-122"/>
                          <a:cs typeface="Nunito" pitchFamily="34" charset="-120"/>
                        </a:rPr>
                        <a:t>ĐÚNG RA</a:t>
                      </a:r>
                      <a:endParaRPr lang="en-US" sz="9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r>
              <a:tr h="301752">
                <a:tc>
                  <a:txBody>
                    <a:bodyPr/>
                    <a:lstStyle/>
                    <a:p>
                      <a:pPr algn="l" indent="0" marL="0">
                        <a:buNone/>
                      </a:pPr>
                      <a:r>
                        <a:rPr lang="en-US" sz="1200" dirty="0">
                          <a:solidFill>
                            <a:srgbClr val="201E1D"/>
                          </a:solidFill>
                          <a:latin typeface="Nunito" pitchFamily="34" charset="0"/>
                          <a:ea typeface="Nunito" pitchFamily="34" charset="-122"/>
                          <a:cs typeface="Nunito" pitchFamily="34" charset="-120"/>
                        </a:rPr>
                        <a:t>210 token</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dirty="0">
                          <a:solidFill>
                            <a:srgbClr val="201E1D"/>
                          </a:solidFill>
                          <a:latin typeface="Nunito" pitchFamily="34" charset="0"/>
                          <a:ea typeface="Nunito" pitchFamily="34" charset="-122"/>
                          <a:cs typeface="Nunito" pitchFamily="34" charset="-120"/>
                        </a:rPr>
                        <a:t>2</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dirty="0">
                          <a:solidFill>
                            <a:srgbClr val="201E1D"/>
                          </a:solidFill>
                          <a:latin typeface="Nunito" pitchFamily="34" charset="0"/>
                          <a:ea typeface="Nunito" pitchFamily="34" charset="-122"/>
                          <a:cs typeface="Nunito" pitchFamily="34" charset="-120"/>
                        </a:rPr>
                        <a:t>2</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301752">
                <a:tc>
                  <a:txBody>
                    <a:bodyPr/>
                    <a:lstStyle/>
                    <a:p>
                      <a:pPr algn="l" indent="0" marL="0">
                        <a:buNone/>
                      </a:pPr>
                      <a:r>
                        <a:rPr lang="en-US" sz="1200" dirty="0">
                          <a:solidFill>
                            <a:srgbClr val="201E1D"/>
                          </a:solidFill>
                          <a:latin typeface="Nunito" pitchFamily="34" charset="0"/>
                          <a:ea typeface="Nunito" pitchFamily="34" charset="-122"/>
                          <a:cs typeface="Nunito" pitchFamily="34" charset="-120"/>
                        </a:rPr>
                        <a:t>420 token</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b="1" dirty="0">
                          <a:solidFill>
                            <a:srgbClr val="8C491A"/>
                          </a:solidFill>
                          <a:latin typeface="Nunito" pitchFamily="34" charset="0"/>
                          <a:ea typeface="Nunito" pitchFamily="34" charset="-122"/>
                          <a:cs typeface="Nunito" pitchFamily="34" charset="-120"/>
                        </a:rPr>
                        <a:t>2</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dirty="0">
                          <a:solidFill>
                            <a:srgbClr val="201E1D"/>
                          </a:solidFill>
                          <a:latin typeface="Nunito" pitchFamily="34" charset="0"/>
                          <a:ea typeface="Nunito" pitchFamily="34" charset="-122"/>
                          <a:cs typeface="Nunito" pitchFamily="34" charset="-120"/>
                        </a:rPr>
                        <a:t>5</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301752">
                <a:tc>
                  <a:txBody>
                    <a:bodyPr/>
                    <a:lstStyle/>
                    <a:p>
                      <a:pPr algn="l" indent="0" marL="0">
                        <a:buNone/>
                      </a:pPr>
                      <a:r>
                        <a:rPr lang="en-US" sz="1200" dirty="0">
                          <a:solidFill>
                            <a:srgbClr val="201E1D"/>
                          </a:solidFill>
                          <a:latin typeface="Nunito" pitchFamily="34" charset="0"/>
                          <a:ea typeface="Nunito" pitchFamily="34" charset="-122"/>
                          <a:cs typeface="Nunito" pitchFamily="34" charset="-120"/>
                        </a:rPr>
                        <a:t>700 token</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b="1" dirty="0">
                          <a:solidFill>
                            <a:srgbClr val="8C491A"/>
                          </a:solidFill>
                          <a:latin typeface="Nunito" pitchFamily="34" charset="0"/>
                          <a:ea typeface="Nunito" pitchFamily="34" charset="-122"/>
                          <a:cs typeface="Nunito" pitchFamily="34" charset="-120"/>
                        </a:rPr>
                        <a:t>2</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dirty="0">
                          <a:solidFill>
                            <a:srgbClr val="201E1D"/>
                          </a:solidFill>
                          <a:latin typeface="Nunito" pitchFamily="34" charset="0"/>
                          <a:ea typeface="Nunito" pitchFamily="34" charset="-122"/>
                          <a:cs typeface="Nunito" pitchFamily="34" charset="-120"/>
                        </a:rPr>
                        <a:t>8</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301752">
                <a:tc>
                  <a:txBody>
                    <a:bodyPr/>
                    <a:lstStyle/>
                    <a:p>
                      <a:pPr algn="l" indent="0" marL="0">
                        <a:buNone/>
                      </a:pPr>
                      <a:r>
                        <a:rPr lang="en-US" sz="1200" dirty="0">
                          <a:solidFill>
                            <a:srgbClr val="201E1D"/>
                          </a:solidFill>
                          <a:latin typeface="Nunito" pitchFamily="34" charset="0"/>
                          <a:ea typeface="Nunito" pitchFamily="34" charset="-122"/>
                          <a:cs typeface="Nunito" pitchFamily="34" charset="-120"/>
                        </a:rPr>
                        <a:t>1400 token</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b="1" dirty="0">
                          <a:solidFill>
                            <a:srgbClr val="8C491A"/>
                          </a:solidFill>
                          <a:latin typeface="Nunito" pitchFamily="34" charset="0"/>
                          <a:ea typeface="Nunito" pitchFamily="34" charset="-122"/>
                          <a:cs typeface="Nunito" pitchFamily="34" charset="-120"/>
                        </a:rPr>
                        <a:t>2</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00" dirty="0">
                          <a:solidFill>
                            <a:srgbClr val="201E1D"/>
                          </a:solidFill>
                          <a:latin typeface="Nunito" pitchFamily="34" charset="0"/>
                          <a:ea typeface="Nunito" pitchFamily="34" charset="-122"/>
                          <a:cs typeface="Nunito" pitchFamily="34" charset="-120"/>
                        </a:rPr>
                        <a:t>16</a:t>
                      </a:r>
                      <a:endParaRPr lang="en-US" sz="12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bl>
          </a:graphicData>
        </a:graphic>
      </p:graphicFrame>
      <p:sp>
        <p:nvSpPr>
          <p:cNvPr id="9" name="Text 6"/>
          <p:cNvSpPr txBox="1"/>
          <p:nvPr/>
        </p:nvSpPr>
        <p:spPr>
          <a:xfrm>
            <a:off x="978408" y="4983480"/>
            <a:ext cx="4663440" cy="640080"/>
          </a:xfrm>
          <a:prstGeom prst="rect">
            <a:avLst/>
          </a:prstGeom>
          <a:noFill/>
          <a:ln/>
        </p:spPr>
        <p:txBody>
          <a:bodyPr wrap="square" lIns="0" tIns="0" rIns="0" bIns="0" rtlCol="0" anchor="t"/>
          <a:lstStyle/>
          <a:p>
            <a:pPr algn="l" indent="0" marL="0">
              <a:lnSpc>
                <a:spcPts val="1740"/>
              </a:lnSpc>
              <a:buNone/>
            </a:pPr>
            <a:r>
              <a:rPr lang="en-US" sz="1200" b="1" dirty="0">
                <a:solidFill>
                  <a:srgbClr val="8C491A"/>
                </a:solidFill>
                <a:latin typeface="Nunito" pitchFamily="34" charset="0"/>
                <a:ea typeface="Nunito" pitchFamily="34" charset="-122"/>
                <a:cs typeface="Nunito" pitchFamily="34" charset="-120"/>
              </a:rPr>
              <a:t>Đuôi context bị cắt ÂM THẦM: không exception, không cảnh báo — đáp án nằm cuối đoạn văn thì không bao giờ tìm được.</a:t>
            </a:r>
            <a:endParaRPr lang="en-US" sz="1200" dirty="0"/>
          </a:p>
        </p:txBody>
      </p:sp>
      <p:sp>
        <p:nvSpPr>
          <p:cNvPr id="10" name="Shape 7"/>
          <p:cNvSpPr/>
          <p:nvPr/>
        </p:nvSpPr>
        <p:spPr>
          <a:xfrm>
            <a:off x="6903720" y="1691640"/>
            <a:ext cx="4599432" cy="4114800"/>
          </a:xfrm>
          <a:prstGeom prst="roundRect">
            <a:avLst>
              <a:gd name="adj" fmla="val 3556"/>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11" name="Text 8"/>
          <p:cNvSpPr txBox="1"/>
          <p:nvPr/>
        </p:nvSpPr>
        <p:spPr>
          <a:xfrm>
            <a:off x="7196328" y="1920240"/>
            <a:ext cx="2377440" cy="219456"/>
          </a:xfrm>
          <a:prstGeom prst="rect">
            <a:avLst/>
          </a:prstGeom>
          <a:noFill/>
          <a:ln/>
        </p:spPr>
        <p:txBody>
          <a:bodyPr wrap="square" lIns="0" tIns="0" rIns="0" bIns="0" rtlCol="0" anchor="ctr"/>
          <a:lstStyle/>
          <a:p>
            <a:pPr indent="0" marL="0">
              <a:buNone/>
            </a:pPr>
            <a:r>
              <a:rPr lang="en-US" sz="950" b="1" spc="160" kern="0" dirty="0">
                <a:solidFill>
                  <a:srgbClr val="7A8A5E"/>
                </a:solidFill>
                <a:latin typeface="Nunito" pitchFamily="34" charset="0"/>
                <a:ea typeface="Nunito" pitchFamily="34" charset="-122"/>
                <a:cs typeface="Nunito" pitchFamily="34" charset="-120"/>
              </a:rPr>
              <a:t>ADR-004 · ADR-005</a:t>
            </a:r>
            <a:endParaRPr lang="en-US" sz="950" dirty="0"/>
          </a:p>
        </p:txBody>
      </p:sp>
      <p:sp>
        <p:nvSpPr>
          <p:cNvPr id="12" name="Text 9"/>
          <p:cNvSpPr txBox="1"/>
          <p:nvPr/>
        </p:nvSpPr>
        <p:spPr>
          <a:xfrm>
            <a:off x="7196328" y="2157984"/>
            <a:ext cx="4023360" cy="685800"/>
          </a:xfrm>
          <a:prstGeom prst="rect">
            <a:avLst/>
          </a:prstGeom>
          <a:noFill/>
          <a:ln/>
        </p:spPr>
        <p:txBody>
          <a:bodyPr wrap="square" lIns="0" tIns="0" rIns="0" bIns="0" rtlCol="0" anchor="ctr"/>
          <a:lstStyle/>
          <a:p>
            <a:pPr indent="0" marL="0">
              <a:lnSpc>
                <a:spcPts val="2200"/>
              </a:lnSpc>
              <a:buNone/>
            </a:pPr>
            <a:r>
              <a:rPr lang="en-US" sz="1900" b="1" dirty="0">
                <a:solidFill>
                  <a:srgbClr val="201E1D"/>
                </a:solidFill>
                <a:latin typeface="Baloo 2" pitchFamily="34" charset="0"/>
                <a:ea typeface="Baloo 2" pitchFamily="34" charset="-122"/>
                <a:cs typeface="Baloo 2" pitchFamily="34" charset="-120"/>
              </a:rPr>
              <a:t>Dấu tiếng Việt là</a:t>
            </a:r>
            <a:endParaRPr lang="en-US" sz="1900" dirty="0"/>
          </a:p>
          <a:p>
            <a:pPr indent="0" marL="0">
              <a:lnSpc>
                <a:spcPts val="2200"/>
              </a:lnSpc>
              <a:buNone/>
            </a:pPr>
            <a:r>
              <a:rPr lang="en-US" sz="1900" b="1" dirty="0">
                <a:solidFill>
                  <a:srgbClr val="201E1D"/>
                </a:solidFill>
                <a:latin typeface="Baloo 2" pitchFamily="34" charset="0"/>
                <a:ea typeface="Baloo 2" pitchFamily="34" charset="-122"/>
                <a:cs typeface="Baloo 2" pitchFamily="34" charset="-120"/>
              </a:rPr>
              <a:t>ràng buộc cứng</a:t>
            </a:r>
            <a:endParaRPr lang="en-US" sz="1900" dirty="0"/>
          </a:p>
        </p:txBody>
      </p:sp>
      <p:sp>
        <p:nvSpPr>
          <p:cNvPr id="13" name="Text 10"/>
          <p:cNvSpPr txBox="1"/>
          <p:nvPr/>
        </p:nvSpPr>
        <p:spPr>
          <a:xfrm>
            <a:off x="7196328" y="2926080"/>
            <a:ext cx="4023360" cy="731520"/>
          </a:xfrm>
          <a:prstGeom prst="rect">
            <a:avLst/>
          </a:prstGeom>
          <a:noFill/>
          <a:ln/>
        </p:spPr>
        <p:txBody>
          <a:bodyPr wrap="square" lIns="0" tIns="0" rIns="0" bIns="0" rtlCol="0" anchor="t"/>
          <a:lstStyle/>
          <a:p>
            <a:pPr algn="l" indent="0" marL="0">
              <a:lnSpc>
                <a:spcPts val="1740"/>
              </a:lnSpc>
              <a:buNone/>
            </a:pPr>
            <a:r>
              <a:rPr lang="en-US" sz="1200" dirty="0">
                <a:solidFill>
                  <a:srgbClr val="645C50"/>
                </a:solidFill>
                <a:latin typeface="Nunito" pitchFamily="34" charset="0"/>
                <a:ea typeface="Nunito" pitchFamily="34" charset="-122"/>
                <a:cs typeface="Nunito" pitchFamily="34" charset="-120"/>
              </a:rPr>
              <a:t>PhoBERT không có fast tokenizer ⇒ không có offset_mapping ⇒ cách duy nhất lấy lại chuỗi là tokenizer.decode().</a:t>
            </a:r>
            <a:endParaRPr lang="en-US" sz="1200" dirty="0"/>
          </a:p>
        </p:txBody>
      </p:sp>
      <p:sp>
        <p:nvSpPr>
          <p:cNvPr id="14" name="Shape 11"/>
          <p:cNvSpPr/>
          <p:nvPr/>
        </p:nvSpPr>
        <p:spPr>
          <a:xfrm>
            <a:off x="7196328" y="3703320"/>
            <a:ext cx="4023360" cy="548640"/>
          </a:xfrm>
          <a:prstGeom prst="roundRect">
            <a:avLst>
              <a:gd name="adj" fmla="val 23333"/>
            </a:avLst>
          </a:prstGeom>
          <a:solidFill>
            <a:srgbClr val="F0FAE1"/>
          </a:solidFill>
          <a:ln w="12700">
            <a:solidFill>
              <a:srgbClr val="F0FAE1"/>
            </a:solidFill>
            <a:prstDash val="solid"/>
          </a:ln>
        </p:spPr>
      </p:sp>
      <p:sp>
        <p:nvSpPr>
          <p:cNvPr id="15" name="Text 12"/>
          <p:cNvSpPr txBox="1"/>
          <p:nvPr/>
        </p:nvSpPr>
        <p:spPr>
          <a:xfrm>
            <a:off x="7360920" y="3703320"/>
            <a:ext cx="3749040" cy="548640"/>
          </a:xfrm>
          <a:prstGeom prst="rect">
            <a:avLst/>
          </a:prstGeom>
          <a:noFill/>
          <a:ln/>
        </p:spPr>
        <p:txBody>
          <a:bodyPr wrap="square" lIns="0" tIns="0" rIns="0" bIns="0" rtlCol="0" anchor="ctr"/>
          <a:lstStyle/>
          <a:p>
            <a:pPr algn="l" indent="0" marL="0">
              <a:buNone/>
            </a:pPr>
            <a:r>
              <a:rPr lang="en-US" sz="1200" b="1" dirty="0">
                <a:solidFill>
                  <a:srgbClr val="3D472B"/>
                </a:solidFill>
                <a:latin typeface="Courier New" pitchFamily="34" charset="0"/>
                <a:ea typeface="Courier New" pitchFamily="34" charset="-122"/>
                <a:cs typeface="Courier New" pitchFamily="34" charset="-120"/>
              </a:rPr>
              <a:t>decode()  làm mất dấu:   “hoà” → “hoa”</a:t>
            </a:r>
            <a:endParaRPr lang="en-US" sz="1200" dirty="0"/>
          </a:p>
        </p:txBody>
      </p:sp>
      <p:sp>
        <p:nvSpPr>
          <p:cNvPr id="16" name="Text 13"/>
          <p:cNvSpPr txBox="1"/>
          <p:nvPr/>
        </p:nvSpPr>
        <p:spPr>
          <a:xfrm>
            <a:off x="7196328" y="4389120"/>
            <a:ext cx="4023360" cy="914400"/>
          </a:xfrm>
          <a:prstGeom prst="rect">
            <a:avLst/>
          </a:prstGeom>
          <a:noFill/>
          <a:ln/>
        </p:spPr>
        <p:txBody>
          <a:bodyPr wrap="square" lIns="0" tIns="0" rIns="0" bIns="0" rtlCol="0" anchor="t"/>
          <a:lstStyle/>
          <a:p>
            <a:pPr algn="l" indent="0" marL="0">
              <a:lnSpc>
                <a:spcPts val="1740"/>
              </a:lnSpc>
              <a:buNone/>
            </a:pPr>
            <a:r>
              <a:rPr lang="en-US" sz="1200" dirty="0">
                <a:solidFill>
                  <a:srgbClr val="201E1D"/>
                </a:solidFill>
                <a:latin typeface="Nunito" pitchFamily="34" charset="0"/>
                <a:ea typeface="Nunito" pitchFamily="34" charset="-122"/>
                <a:cs typeface="Nunito" pitchFamily="34" charset="-120"/>
              </a:rPr>
              <a:t>Sai một dấu là sai cả EM lẫn bất biến substring. Nên hệ thống cắt thẳng chuỗi gốc theo offset ký tự — và TransformerQA TỪ CHỐI khởi tạo mô hình không có fast tokenizer.</a:t>
            </a:r>
            <a:endParaRPr lang="en-US" sz="1200" dirty="0"/>
          </a:p>
        </p:txBody>
      </p:sp>
      <p:sp>
        <p:nvSpPr>
          <p:cNvPr id="17" name="Text 14"/>
          <p:cNvSpPr txBox="1"/>
          <p:nvPr/>
        </p:nvSpPr>
        <p:spPr>
          <a:xfrm>
            <a:off x="7196328" y="5303520"/>
            <a:ext cx="4023360" cy="457200"/>
          </a:xfrm>
          <a:prstGeom prst="rect">
            <a:avLst/>
          </a:prstGeom>
          <a:noFill/>
          <a:ln/>
        </p:spPr>
        <p:txBody>
          <a:bodyPr wrap="square" lIns="0" tIns="0" rIns="0" bIns="0" rtlCol="0" anchor="t"/>
          <a:lstStyle/>
          <a:p>
            <a:pPr algn="l" indent="0" marL="0">
              <a:lnSpc>
                <a:spcPts val="1740"/>
              </a:lnSpc>
              <a:buNone/>
            </a:pPr>
            <a:r>
              <a:rPr lang="en-US" sz="1200" b="1" dirty="0">
                <a:solidFill>
                  <a:srgbClr val="3D472B"/>
                </a:solidFill>
                <a:latin typeface="Nunito" pitchFamily="34" charset="0"/>
                <a:ea typeface="Nunito" pitchFamily="34" charset="-122"/>
                <a:cs typeface="Nunito" pitchFamily="34" charset="-120"/>
              </a:rPr>
              <a:t>⇒ Thay PhoBERT bằng uitnlp/visobert — cũng là encoder tiếng Việt, của chính UIT NLP</a:t>
            </a:r>
            <a:endParaRPr lang="en-US" sz="1200" dirty="0"/>
          </a:p>
        </p:txBody>
      </p:sp>
      <p:sp>
        <p:nvSpPr>
          <p:cNvPr id="18" name="Text 15"/>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4 · Phương pháp · Quyết định kỹ thuật</a:t>
            </a:r>
            <a:endParaRPr lang="en-US" sz="1000" dirty="0"/>
          </a:p>
        </p:txBody>
      </p:sp>
      <p:sp>
        <p:nvSpPr>
          <p:cNvPr id="19" name="Text 16"/>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4 · PHƯƠNG PHÁP · HUẤN LUYỆN</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360"/>
              </a:lnSpc>
              <a:buNone/>
            </a:pPr>
            <a:r>
              <a:rPr lang="en-US" sz="3000" b="1" dirty="0">
                <a:solidFill>
                  <a:srgbClr val="201E1D"/>
                </a:solidFill>
                <a:latin typeface="Baloo 2" pitchFamily="34" charset="0"/>
                <a:ea typeface="Baloo 2" pitchFamily="34" charset="-122"/>
                <a:cs typeface="Baloo 2" pitchFamily="34" charset="-120"/>
              </a:rPr>
              <a:t>Huấn luyện: nhãn ký tự → token, chọn epoch bằng hàm thuần</a:t>
            </a:r>
            <a:endParaRPr lang="en-US" sz="3000" dirty="0"/>
          </a:p>
        </p:txBody>
      </p:sp>
      <p:sp>
        <p:nvSpPr>
          <p:cNvPr id="4" name="Shape 2"/>
          <p:cNvSpPr/>
          <p:nvPr/>
        </p:nvSpPr>
        <p:spPr>
          <a:xfrm>
            <a:off x="685800" y="1627632"/>
            <a:ext cx="5760720" cy="2331720"/>
          </a:xfrm>
          <a:prstGeom prst="roundRect">
            <a:avLst>
              <a:gd name="adj" fmla="val 6275"/>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5" name="Text 3"/>
          <p:cNvSpPr txBox="1"/>
          <p:nvPr/>
        </p:nvSpPr>
        <p:spPr>
          <a:xfrm>
            <a:off x="978408" y="1792224"/>
            <a:ext cx="512064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SIÊU THAM SỐ — ĐỌC TỪ RESULTS/TRAINING_CURVE_*.JSON</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978408" y="2048256"/>
          <a:ext cx="5120640" cy="914400"/>
        </p:xfrm>
        <a:graphic>
          <a:graphicData uri="http://schemas.openxmlformats.org/drawingml/2006/table">
            <a:tbl>
              <a:tblPr/>
              <a:tblGrid>
                <a:gridCol w="2651760"/>
                <a:gridCol w="1234440"/>
                <a:gridCol w="1234440"/>
              </a:tblGrid>
              <a:tr h="219456">
                <a:tc>
                  <a:txBody>
                    <a:bodyPr/>
                    <a:lstStyle/>
                    <a:p>
                      <a:pPr algn="l" indent="0" marL="0">
                        <a:buNone/>
                      </a:pPr>
                      <a:r>
                        <a:rPr lang="en-US" sz="800" b="1" spc="120" kern="0" dirty="0">
                          <a:solidFill>
                            <a:srgbClr val="645C50"/>
                          </a:solidFill>
                          <a:latin typeface="Nunito" pitchFamily="34" charset="0"/>
                          <a:ea typeface="Nunito" pitchFamily="34" charset="-122"/>
                          <a:cs typeface="Nunito" pitchFamily="34" charset="-120"/>
                        </a:rPr>
                        <a:t>THAM SỐ</a:t>
                      </a:r>
                      <a:endParaRPr lang="en-US" sz="80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800" b="1" spc="120" kern="0" dirty="0">
                          <a:solidFill>
                            <a:srgbClr val="645C50"/>
                          </a:solidFill>
                          <a:latin typeface="Nunito" pitchFamily="34" charset="0"/>
                          <a:ea typeface="Nunito" pitchFamily="34" charset="-122"/>
                          <a:cs typeface="Nunito" pitchFamily="34" charset="-120"/>
                        </a:rPr>
                        <a:t>MBERT</a:t>
                      </a:r>
                      <a:endParaRPr lang="en-US" sz="80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800" b="1" spc="120" kern="0" dirty="0">
                          <a:solidFill>
                            <a:srgbClr val="645C50"/>
                          </a:solidFill>
                          <a:latin typeface="Nunito" pitchFamily="34" charset="0"/>
                          <a:ea typeface="Nunito" pitchFamily="34" charset="-122"/>
                          <a:cs typeface="Nunito" pitchFamily="34" charset="-120"/>
                        </a:rPr>
                        <a:t>VISOBERT</a:t>
                      </a:r>
                      <a:endParaRPr lang="en-US" sz="80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r>
              <a:tr h="219456">
                <a:tc>
                  <a:txBody>
                    <a:bodyPr/>
                    <a:lstStyle/>
                    <a:p>
                      <a:pPr algn="l" indent="0" marL="0">
                        <a:buNone/>
                      </a:pPr>
                      <a:r>
                        <a:rPr lang="en-US" sz="1050" dirty="0">
                          <a:solidFill>
                            <a:srgbClr val="201E1D"/>
                          </a:solidFill>
                          <a:latin typeface="Nunito" pitchFamily="34" charset="0"/>
                          <a:ea typeface="Nunito" pitchFamily="34" charset="-122"/>
                          <a:cs typeface="Nunito" pitchFamily="34" charset="-120"/>
                        </a:rPr>
                        <a:t>Số epoch · seed</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2 · 42</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3 · 42</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19456">
                <a:tc>
                  <a:txBody>
                    <a:bodyPr/>
                    <a:lstStyle/>
                    <a:p>
                      <a:pPr algn="l" indent="0" marL="0">
                        <a:buNone/>
                      </a:pPr>
                      <a:r>
                        <a:rPr lang="en-US" sz="1050" dirty="0">
                          <a:solidFill>
                            <a:srgbClr val="201E1D"/>
                          </a:solidFill>
                          <a:latin typeface="Nunito" pitchFamily="34" charset="0"/>
                          <a:ea typeface="Nunito" pitchFamily="34" charset="-122"/>
                          <a:cs typeface="Nunito" pitchFamily="34" charset="-120"/>
                        </a:rPr>
                        <a:t>Batch × tích luỹ gradient</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12 × 2</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12 × 2</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19456">
                <a:tc>
                  <a:txBody>
                    <a:bodyPr/>
                    <a:lstStyle/>
                    <a:p>
                      <a:pPr algn="l" indent="0" marL="0">
                        <a:buNone/>
                      </a:pPr>
                      <a:r>
                        <a:rPr lang="en-US" sz="1050" dirty="0">
                          <a:solidFill>
                            <a:srgbClr val="201E1D"/>
                          </a:solidFill>
                          <a:latin typeface="Nunito" pitchFamily="34" charset="0"/>
                          <a:ea typeface="Nunito" pitchFamily="34" charset="-122"/>
                          <a:cs typeface="Nunito" pitchFamily="34" charset="-120"/>
                        </a:rPr>
                        <a:t>Tốc độ học</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3·10⁻⁵</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b="1" dirty="0">
                          <a:solidFill>
                            <a:srgbClr val="8C491A"/>
                          </a:solidFill>
                          <a:latin typeface="Nunito" pitchFamily="34" charset="0"/>
                          <a:ea typeface="Nunito" pitchFamily="34" charset="-122"/>
                          <a:cs typeface="Nunito" pitchFamily="34" charset="-120"/>
                        </a:rPr>
                        <a:t>5·10⁻⁵</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19456">
                <a:tc>
                  <a:txBody>
                    <a:bodyPr/>
                    <a:lstStyle/>
                    <a:p>
                      <a:pPr algn="l" indent="0" marL="0">
                        <a:buNone/>
                      </a:pPr>
                      <a:r>
                        <a:rPr lang="en-US" sz="1050" dirty="0">
                          <a:solidFill>
                            <a:srgbClr val="201E1D"/>
                          </a:solidFill>
                          <a:latin typeface="Nunito" pitchFamily="34" charset="0"/>
                          <a:ea typeface="Nunito" pitchFamily="34" charset="-122"/>
                          <a:cs typeface="Nunito" pitchFamily="34" charset="-120"/>
                        </a:rPr>
                        <a:t>max_length / doc_stride</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384 / 128</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384 / 128</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19456">
                <a:tc>
                  <a:txBody>
                    <a:bodyPr/>
                    <a:lstStyle/>
                    <a:p>
                      <a:pPr algn="l" indent="0" marL="0">
                        <a:buNone/>
                      </a:pPr>
                      <a:r>
                        <a:rPr lang="en-US" sz="1050" dirty="0">
                          <a:solidFill>
                            <a:srgbClr val="201E1D"/>
                          </a:solidFill>
                          <a:latin typeface="Nunito" pitchFamily="34" charset="0"/>
                          <a:ea typeface="Nunito" pitchFamily="34" charset="-122"/>
                          <a:cs typeface="Nunito" pitchFamily="34" charset="-120"/>
                        </a:rPr>
                        <a:t>L_max (độ dài đáp án tối đa)</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30</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b="1" dirty="0">
                          <a:solidFill>
                            <a:srgbClr val="8C491A"/>
                          </a:solidFill>
                          <a:latin typeface="Nunito" pitchFamily="34" charset="0"/>
                          <a:ea typeface="Nunito" pitchFamily="34" charset="-122"/>
                          <a:cs typeface="Nunito" pitchFamily="34" charset="-120"/>
                        </a:rPr>
                        <a:t>64</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19456">
                <a:tc>
                  <a:txBody>
                    <a:bodyPr/>
                    <a:lstStyle/>
                    <a:p>
                      <a:pPr algn="l" indent="0" marL="0">
                        <a:buNone/>
                      </a:pPr>
                      <a:r>
                        <a:rPr lang="en-US" sz="1050" dirty="0">
                          <a:solidFill>
                            <a:srgbClr val="201E1D"/>
                          </a:solidFill>
                          <a:latin typeface="Nunito" pitchFamily="34" charset="0"/>
                          <a:ea typeface="Nunito" pitchFamily="34" charset="-122"/>
                          <a:cs typeface="Nunito" pitchFamily="34" charset="-120"/>
                        </a:rPr>
                        <a:t>Số cửa sổ huấn luyện</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30.540</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b="1" dirty="0">
                          <a:solidFill>
                            <a:srgbClr val="201E1D"/>
                          </a:solidFill>
                          <a:latin typeface="Nunito" pitchFamily="34" charset="0"/>
                          <a:ea typeface="Nunito" pitchFamily="34" charset="-122"/>
                          <a:cs typeface="Nunito" pitchFamily="34" charset="-120"/>
                        </a:rPr>
                        <a:t>40.984</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bl>
          </a:graphicData>
        </a:graphic>
      </p:graphicFrame>
      <p:sp>
        <p:nvSpPr>
          <p:cNvPr id="7" name="Shape 4"/>
          <p:cNvSpPr/>
          <p:nvPr/>
        </p:nvSpPr>
        <p:spPr>
          <a:xfrm>
            <a:off x="6629400" y="1627632"/>
            <a:ext cx="4873752" cy="2331720"/>
          </a:xfrm>
          <a:prstGeom prst="roundRect">
            <a:avLst>
              <a:gd name="adj" fmla="val 6275"/>
            </a:avLst>
          </a:prstGeom>
          <a:solidFill>
            <a:srgbClr val="FFF2EB"/>
          </a:solidFill>
          <a:ln w="12700">
            <a:solidFill>
              <a:srgbClr val="FFF2EB"/>
            </a:solidFill>
            <a:prstDash val="solid"/>
          </a:ln>
          <a:effectLst>
            <a:outerShdw sx="100000" sy="100000" kx="0" ky="0" algn="bl" rotWithShape="0" blurRad="101600" dist="25400" dir="5400000">
              <a:srgbClr val="2E2B25">
                <a:alpha val="12000"/>
              </a:srgbClr>
            </a:outerShdw>
          </a:effectLst>
        </p:spPr>
      </p:sp>
      <p:sp>
        <p:nvSpPr>
          <p:cNvPr id="8" name="Text 5"/>
          <p:cNvSpPr txBox="1"/>
          <p:nvPr/>
        </p:nvSpPr>
        <p:spPr>
          <a:xfrm>
            <a:off x="6903720" y="1792224"/>
            <a:ext cx="4297680" cy="219456"/>
          </a:xfrm>
          <a:prstGeom prst="rect">
            <a:avLst/>
          </a:prstGeom>
          <a:noFill/>
          <a:ln/>
        </p:spPr>
        <p:txBody>
          <a:bodyPr wrap="square" lIns="0" tIns="0" rIns="0" bIns="0" rtlCol="0" anchor="ctr"/>
          <a:lstStyle/>
          <a:p>
            <a:pPr indent="0" marL="0">
              <a:buNone/>
            </a:pPr>
            <a:r>
              <a:rPr lang="en-US" sz="950" b="1" spc="160" kern="0" dirty="0">
                <a:solidFill>
                  <a:srgbClr val="8C491A"/>
                </a:solidFill>
                <a:latin typeface="Nunito" pitchFamily="34" charset="0"/>
                <a:ea typeface="Nunito" pitchFamily="34" charset="-122"/>
                <a:cs typeface="Nunito" pitchFamily="34" charset="-120"/>
              </a:rPr>
              <a:t>CHỖ SAI ÂM THẦM NGUY HIỂM NHẤT CỦA CẢ PIPELINE</a:t>
            </a:r>
            <a:endParaRPr lang="en-US" sz="950" dirty="0"/>
          </a:p>
        </p:txBody>
      </p:sp>
      <p:sp>
        <p:nvSpPr>
          <p:cNvPr id="9" name="Text 6"/>
          <p:cNvSpPr txBox="1"/>
          <p:nvPr/>
        </p:nvSpPr>
        <p:spPr>
          <a:xfrm>
            <a:off x="6903720" y="2029968"/>
            <a:ext cx="4297680" cy="548640"/>
          </a:xfrm>
          <a:prstGeom prst="rect">
            <a:avLst/>
          </a:prstGeom>
          <a:noFill/>
          <a:ln/>
        </p:spPr>
        <p:txBody>
          <a:bodyPr wrap="square" lIns="0" tIns="0" rIns="0" bIns="0" rtlCol="0" anchor="t"/>
          <a:lstStyle/>
          <a:p>
            <a:pPr algn="l" indent="0" marL="0">
              <a:lnSpc>
                <a:spcPts val="1668"/>
              </a:lnSpc>
              <a:buNone/>
            </a:pPr>
            <a:r>
              <a:rPr lang="en-US" sz="1150" dirty="0">
                <a:solidFill>
                  <a:srgbClr val="8C491A"/>
                </a:solidFill>
                <a:latin typeface="Nunito" pitchFamily="34" charset="0"/>
                <a:ea typeface="Nunito" pitchFamily="34" charset="-122"/>
                <a:cs typeface="Nunito" pitchFamily="34" charset="-120"/>
              </a:rPr>
              <a:t>Chuyển vị trí đáp án từ KÝ TỰ sang TOKEN. Nếu ánh xạ lệch, mô hình học nhãn sai mà loss vẫn giảm bình thường.</a:t>
            </a:r>
            <a:endParaRPr lang="en-US" sz="1150" dirty="0"/>
          </a:p>
        </p:txBody>
      </p:sp>
      <p:sp>
        <p:nvSpPr>
          <p:cNvPr id="10" name="Text 7"/>
          <p:cNvSpPr txBox="1"/>
          <p:nvPr/>
        </p:nvSpPr>
        <p:spPr>
          <a:xfrm>
            <a:off x="6903720" y="2596896"/>
            <a:ext cx="4297680" cy="548640"/>
          </a:xfrm>
          <a:prstGeom prst="rect">
            <a:avLst/>
          </a:prstGeom>
          <a:noFill/>
          <a:ln/>
        </p:spPr>
        <p:txBody>
          <a:bodyPr wrap="square" lIns="0" tIns="0" rIns="0" bIns="0" rtlCol="0" anchor="t"/>
          <a:lstStyle/>
          <a:p>
            <a:pPr algn="l" indent="0" marL="0">
              <a:lnSpc>
                <a:spcPts val="1668"/>
              </a:lnSpc>
              <a:buNone/>
            </a:pPr>
            <a:r>
              <a:rPr lang="en-US" sz="1150" b="1" dirty="0">
                <a:solidFill>
                  <a:srgbClr val="8C491A"/>
                </a:solidFill>
                <a:latin typeface="Nunito" pitchFamily="34" charset="0"/>
                <a:ea typeface="Nunito" pitchFamily="34" charset="-122"/>
                <a:cs typeface="Nunito" pitchFamily="34" charset="-120"/>
              </a:rPr>
              <a:t>⇒ Bất biến được test không phải “chạy không lỗi”, mà: giải mã ngược nhãn token phải ra ĐÚNG chuỗi đáp án vàng.</a:t>
            </a:r>
            <a:endParaRPr lang="en-US" sz="1150" dirty="0"/>
          </a:p>
        </p:txBody>
      </p:sp>
      <p:sp>
        <p:nvSpPr>
          <p:cNvPr id="11" name="Text 8"/>
          <p:cNvSpPr txBox="1"/>
          <p:nvPr/>
        </p:nvSpPr>
        <p:spPr>
          <a:xfrm>
            <a:off x="6903720" y="3145536"/>
            <a:ext cx="4297680" cy="219456"/>
          </a:xfrm>
          <a:prstGeom prst="rect">
            <a:avLst/>
          </a:prstGeom>
          <a:noFill/>
          <a:ln/>
        </p:spPr>
        <p:txBody>
          <a:bodyPr wrap="square" lIns="0" tIns="0" rIns="0" bIns="0" rtlCol="0" anchor="ctr"/>
          <a:lstStyle/>
          <a:p>
            <a:pPr indent="0" marL="0">
              <a:buNone/>
            </a:pPr>
            <a:r>
              <a:rPr lang="en-US" sz="950" b="1" spc="160" kern="0" dirty="0">
                <a:solidFill>
                  <a:srgbClr val="8C491A"/>
                </a:solidFill>
                <a:latin typeface="Nunito" pitchFamily="34" charset="0"/>
                <a:ea typeface="Nunito" pitchFamily="34" charset="-122"/>
                <a:cs typeface="Nunito" pitchFamily="34" charset="-120"/>
              </a:rPr>
              <a:t>CHỌN EPOCH</a:t>
            </a:r>
            <a:endParaRPr lang="en-US" sz="950" dirty="0"/>
          </a:p>
        </p:txBody>
      </p:sp>
      <p:sp>
        <p:nvSpPr>
          <p:cNvPr id="12" name="Text 9"/>
          <p:cNvSpPr txBox="1"/>
          <p:nvPr/>
        </p:nvSpPr>
        <p:spPr>
          <a:xfrm>
            <a:off x="6903720" y="3364992"/>
            <a:ext cx="4297680" cy="548640"/>
          </a:xfrm>
          <a:prstGeom prst="rect">
            <a:avLst/>
          </a:prstGeom>
          <a:noFill/>
          <a:ln/>
        </p:spPr>
        <p:txBody>
          <a:bodyPr wrap="square" lIns="0" tIns="0" rIns="0" bIns="0" rtlCol="0" anchor="t"/>
          <a:lstStyle/>
          <a:p>
            <a:pPr algn="l" indent="0" marL="0">
              <a:lnSpc>
                <a:spcPts val="1595"/>
              </a:lnSpc>
              <a:buNone/>
            </a:pPr>
            <a:r>
              <a:rPr lang="en-US" sz="1100" dirty="0">
                <a:solidFill>
                  <a:srgbClr val="8C491A"/>
                </a:solidFill>
                <a:latin typeface="Nunito" pitchFamily="34" charset="0"/>
                <a:ea typeface="Nunito" pitchFamily="34" charset="-122"/>
                <a:cs typeface="Nunito" pitchFamily="34" charset="-120"/>
              </a:rPr>
              <a:t>Theo F1 validation, không theo loss (loss là đại lượng trên train). Logic nằm trong training.py dưới dạng hàm thuần — test trong vài mili-giây thay vì chờ một epoch 35 phút.</a:t>
            </a:r>
            <a:endParaRPr lang="en-US" sz="1100" dirty="0"/>
          </a:p>
        </p:txBody>
      </p:sp>
      <p:sp>
        <p:nvSpPr>
          <p:cNvPr id="13" name="Text 10"/>
          <p:cNvSpPr txBox="1"/>
          <p:nvPr/>
        </p:nvSpPr>
        <p:spPr>
          <a:xfrm>
            <a:off x="685800" y="4096512"/>
            <a:ext cx="777240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ĐƯỜNG CONG HUẤN LUYỆN — CHẨN ĐOÁN TỰ ĐỘNG, NGƯỠNG COLLAPSE_TOLERANCE = 0,5</a:t>
            </a:r>
            <a:endParaRPr lang="en-US" sz="95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85800" y="4315968"/>
          <a:ext cx="10820095" cy="914400"/>
        </p:xfrm>
        <a:graphic>
          <a:graphicData uri="http://schemas.openxmlformats.org/drawingml/2006/table">
            <a:tbl>
              <a:tblPr/>
              <a:tblGrid>
                <a:gridCol w="2286000"/>
                <a:gridCol w="1234440"/>
                <a:gridCol w="1051560"/>
                <a:gridCol w="1051560"/>
                <a:gridCol w="1051560"/>
                <a:gridCol w="4142232"/>
              </a:tblGrid>
              <a:tr h="237744">
                <a:tc>
                  <a:txBody>
                    <a:bodyPr/>
                    <a:lstStyle/>
                    <a:p>
                      <a:pPr algn="l" indent="0" marL="0">
                        <a:buNone/>
                      </a:pPr>
                      <a:r>
                        <a:rPr lang="en-US" sz="850" b="1" spc="120" kern="0" dirty="0">
                          <a:solidFill>
                            <a:srgbClr val="645C50"/>
                          </a:solidFill>
                          <a:latin typeface="Nunito" pitchFamily="34" charset="0"/>
                          <a:ea typeface="Nunito" pitchFamily="34" charset="-122"/>
                          <a:cs typeface="Nunito" pitchFamily="34" charset="-120"/>
                        </a:rPr>
                        <a:t>MÔ HÌNH · EPOCH</a:t>
                      </a:r>
                      <a:endParaRPr lang="en-US" sz="8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850" b="1" spc="120" kern="0" dirty="0">
                          <a:solidFill>
                            <a:srgbClr val="645C50"/>
                          </a:solidFill>
                          <a:latin typeface="Nunito" pitchFamily="34" charset="0"/>
                          <a:ea typeface="Nunito" pitchFamily="34" charset="-122"/>
                          <a:cs typeface="Nunito" pitchFamily="34" charset="-120"/>
                        </a:rPr>
                        <a:t>LOSS TRAIN</a:t>
                      </a:r>
                      <a:endParaRPr lang="en-US" sz="8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850" b="1" spc="120" kern="0" dirty="0">
                          <a:solidFill>
                            <a:srgbClr val="645C50"/>
                          </a:solidFill>
                          <a:latin typeface="Nunito" pitchFamily="34" charset="0"/>
                          <a:ea typeface="Nunito" pitchFamily="34" charset="-122"/>
                          <a:cs typeface="Nunito" pitchFamily="34" charset="-120"/>
                        </a:rPr>
                        <a:t>VAL EM</a:t>
                      </a:r>
                      <a:endParaRPr lang="en-US" sz="8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850" b="1" spc="120" kern="0" dirty="0">
                          <a:solidFill>
                            <a:srgbClr val="645C50"/>
                          </a:solidFill>
                          <a:latin typeface="Nunito" pitchFamily="34" charset="0"/>
                          <a:ea typeface="Nunito" pitchFamily="34" charset="-122"/>
                          <a:cs typeface="Nunito" pitchFamily="34" charset="-120"/>
                        </a:rPr>
                        <a:t>VAL F1</a:t>
                      </a:r>
                      <a:endParaRPr lang="en-US" sz="8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850" b="1" spc="120" kern="0" dirty="0">
                          <a:solidFill>
                            <a:srgbClr val="645C50"/>
                          </a:solidFill>
                          <a:latin typeface="Nunito" pitchFamily="34" charset="0"/>
                          <a:ea typeface="Nunito" pitchFamily="34" charset="-122"/>
                          <a:cs typeface="Nunito" pitchFamily="34" charset="-120"/>
                        </a:rPr>
                        <a:t>F1 − EM</a:t>
                      </a:r>
                      <a:endParaRPr lang="en-US" sz="8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850" b="1" spc="120" kern="0" dirty="0">
                          <a:solidFill>
                            <a:srgbClr val="645C50"/>
                          </a:solidFill>
                          <a:latin typeface="Nunito" pitchFamily="34" charset="0"/>
                          <a:ea typeface="Nunito" pitchFamily="34" charset="-122"/>
                          <a:cs typeface="Nunito" pitchFamily="34" charset="-120"/>
                        </a:rPr>
                        <a:t>CHẨN ĐOÁN</a:t>
                      </a:r>
                      <a:endParaRPr lang="en-US" sz="85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r>
              <a:tr h="237744">
                <a:tc>
                  <a:txBody>
                    <a:bodyPr/>
                    <a:lstStyle/>
                    <a:p>
                      <a:pPr algn="l" indent="0" marL="0">
                        <a:buNone/>
                      </a:pPr>
                      <a:r>
                        <a:rPr lang="en-US" sz="1100" dirty="0">
                          <a:solidFill>
                            <a:srgbClr val="201E1D"/>
                          </a:solidFill>
                          <a:latin typeface="Nunito" pitchFamily="34" charset="0"/>
                          <a:ea typeface="Nunito" pitchFamily="34" charset="-122"/>
                          <a:cs typeface="Nunito" pitchFamily="34" charset="-120"/>
                        </a:rPr>
                        <a:t>mBERT · epoch 1</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2,1316</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46,00</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58,39</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12,39</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645C50"/>
                          </a:solidFill>
                          <a:latin typeface="Nunito" pitchFamily="34" charset="0"/>
                          <a:ea typeface="Nunito" pitchFamily="34" charset="-122"/>
                          <a:cs typeface="Nunito" pitchFamily="34" charset="-120"/>
                        </a:rPr>
                        <a:t>còn cải thiện</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37744">
                <a:tc>
                  <a:txBody>
                    <a:bodyPr/>
                    <a:lstStyle/>
                    <a:p>
                      <a:pPr algn="l" indent="0" marL="0">
                        <a:buNone/>
                      </a:pPr>
                      <a:r>
                        <a:rPr lang="en-US" sz="1100" dirty="0">
                          <a:solidFill>
                            <a:srgbClr val="201E1D"/>
                          </a:solidFill>
                          <a:latin typeface="Nunito" pitchFamily="34" charset="0"/>
                          <a:ea typeface="Nunito" pitchFamily="34" charset="-122"/>
                          <a:cs typeface="Nunito" pitchFamily="34" charset="-120"/>
                        </a:rPr>
                        <a:t>mBERT · epoch 2</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1,2960</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52,00</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59,75</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7,75</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3D472B"/>
                          </a:solidFill>
                          <a:latin typeface="Nunito" pitchFamily="34" charset="0"/>
                          <a:ea typeface="Nunito" pitchFamily="34" charset="-122"/>
                          <a:cs typeface="Nunito" pitchFamily="34" charset="-120"/>
                        </a:rPr>
                        <a:t>epoch được chọn làm mô hình cuối</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37744">
                <a:tc>
                  <a:txBody>
                    <a:bodyPr/>
                    <a:lstStyle/>
                    <a:p>
                      <a:pPr algn="l" indent="0" marL="0">
                        <a:buNone/>
                      </a:pPr>
                      <a:r>
                        <a:rPr lang="en-US" sz="1100" dirty="0">
                          <a:solidFill>
                            <a:srgbClr val="201E1D"/>
                          </a:solidFill>
                          <a:latin typeface="Nunito" pitchFamily="34" charset="0"/>
                          <a:ea typeface="Nunito" pitchFamily="34" charset="-122"/>
                          <a:cs typeface="Nunito" pitchFamily="34" charset="-120"/>
                        </a:rPr>
                        <a:t>ViSoBERT · epoch 1</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3,0512</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25,67</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25,67</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b="1" dirty="0">
                          <a:solidFill>
                            <a:srgbClr val="8C491A"/>
                          </a:solidFill>
                          <a:latin typeface="Nunito" pitchFamily="34" charset="0"/>
                          <a:ea typeface="Nunito" pitchFamily="34" charset="-122"/>
                          <a:cs typeface="Nunito" pitchFamily="34" charset="-120"/>
                        </a:rPr>
                        <a:t>0,00</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8C491A"/>
                          </a:solidFill>
                          <a:latin typeface="Nunito" pitchFamily="34" charset="0"/>
                          <a:ea typeface="Nunito" pitchFamily="34" charset="-122"/>
                          <a:cs typeface="Nunito" pitchFamily="34" charset="-120"/>
                        </a:rPr>
                        <a:t>EM ≈ F1 ⇒ suy sụp về trả rỗng</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37744">
                <a:tc>
                  <a:txBody>
                    <a:bodyPr/>
                    <a:lstStyle/>
                    <a:p>
                      <a:pPr algn="l" indent="0" marL="0">
                        <a:buNone/>
                      </a:pPr>
                      <a:r>
                        <a:rPr lang="en-US" sz="1100" dirty="0">
                          <a:solidFill>
                            <a:srgbClr val="201E1D"/>
                          </a:solidFill>
                          <a:latin typeface="Nunito" pitchFamily="34" charset="0"/>
                          <a:ea typeface="Nunito" pitchFamily="34" charset="-122"/>
                          <a:cs typeface="Nunito" pitchFamily="34" charset="-120"/>
                        </a:rPr>
                        <a:t>ViSoBERT · epoch 2</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2,5678</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25,33</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25,61</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b="1" dirty="0">
                          <a:solidFill>
                            <a:srgbClr val="8C491A"/>
                          </a:solidFill>
                          <a:latin typeface="Nunito" pitchFamily="34" charset="0"/>
                          <a:ea typeface="Nunito" pitchFamily="34" charset="-122"/>
                          <a:cs typeface="Nunito" pitchFamily="34" charset="-120"/>
                        </a:rPr>
                        <a:t>0,28</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8C491A"/>
                          </a:solidFill>
                          <a:latin typeface="Nunito" pitchFamily="34" charset="0"/>
                          <a:ea typeface="Nunito" pitchFamily="34" charset="-122"/>
                          <a:cs typeface="Nunito" pitchFamily="34" charset="-120"/>
                        </a:rPr>
                        <a:t>EM ≈ F1 ⇒ suy sụp về trả rỗng</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37744">
                <a:tc>
                  <a:txBody>
                    <a:bodyPr/>
                    <a:lstStyle/>
                    <a:p>
                      <a:pPr algn="l" indent="0" marL="0">
                        <a:buNone/>
                      </a:pPr>
                      <a:r>
                        <a:rPr lang="en-US" sz="1100" dirty="0">
                          <a:solidFill>
                            <a:srgbClr val="201E1D"/>
                          </a:solidFill>
                          <a:latin typeface="Nunito" pitchFamily="34" charset="0"/>
                          <a:ea typeface="Nunito" pitchFamily="34" charset="-122"/>
                          <a:cs typeface="Nunito" pitchFamily="34" charset="-120"/>
                        </a:rPr>
                        <a:t>ViSoBERT · epoch 3</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2,1908</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27,00</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30,48</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201E1D"/>
                          </a:solidFill>
                          <a:latin typeface="Nunito" pitchFamily="34" charset="0"/>
                          <a:ea typeface="Nunito" pitchFamily="34" charset="-122"/>
                          <a:cs typeface="Nunito" pitchFamily="34" charset="-120"/>
                        </a:rPr>
                        <a:t>3,48</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100" dirty="0">
                          <a:solidFill>
                            <a:srgbClr val="3D472B"/>
                          </a:solidFill>
                          <a:latin typeface="Nunito" pitchFamily="34" charset="0"/>
                          <a:ea typeface="Nunito" pitchFamily="34" charset="-122"/>
                          <a:cs typeface="Nunito" pitchFamily="34" charset="-120"/>
                        </a:rPr>
                        <a:t>epoch được chọn làm mô hình cuối</a:t>
                      </a:r>
                      <a:endParaRPr lang="en-US" sz="110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bl>
          </a:graphicData>
        </a:graphic>
      </p:graphicFrame>
      <p:sp>
        <p:nvSpPr>
          <p:cNvPr id="15" name="Text 11"/>
          <p:cNvSpPr txBox="1"/>
          <p:nvPr/>
        </p:nvSpPr>
        <p:spPr>
          <a:xfrm>
            <a:off x="685800" y="5998464"/>
            <a:ext cx="10820095" cy="274320"/>
          </a:xfrm>
          <a:prstGeom prst="rect">
            <a:avLst/>
          </a:prstGeom>
          <a:noFill/>
          <a:ln/>
        </p:spPr>
        <p:txBody>
          <a:bodyPr wrap="square" lIns="0" tIns="0" rIns="0" bIns="0" rtlCol="0" anchor="t"/>
          <a:lstStyle/>
          <a:p>
            <a:pPr algn="l" indent="0" marL="0">
              <a:lnSpc>
                <a:spcPts val="1450"/>
              </a:lnSpc>
              <a:buNone/>
            </a:pPr>
            <a:r>
              <a:rPr lang="en-US" sz="1000" i="1" dirty="0">
                <a:solidFill>
                  <a:srgbClr val="645C50"/>
                </a:solidFill>
                <a:latin typeface="Nunito" pitchFamily="34" charset="0"/>
                <a:ea typeface="Nunito" pitchFamily="34" charset="-122"/>
                <a:cs typeface="Nunito" pitchFamily="34" charset="-120"/>
              </a:rPr>
              <a:t>F1 cho điểm bán phần nên bình thường phải cao hơn EM. Hai giá trị trùng nhau ⇒ mỗi câu chỉ có thể đúng hoàn toàn hoặc sai hoàn toàn — dấu hiệu suy sụp về “luôn trả rỗng”, và training.py tự nhận ra điều đó.</a:t>
            </a:r>
            <a:endParaRPr lang="en-US" sz="1000" dirty="0"/>
          </a:p>
        </p:txBody>
      </p:sp>
      <p:sp>
        <p:nvSpPr>
          <p:cNvPr id="16" name="Text 12"/>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4 · Phương pháp · Pipeline huấn luyện</a:t>
            </a:r>
            <a:endParaRPr lang="en-US" sz="1000" dirty="0"/>
          </a:p>
        </p:txBody>
      </p:sp>
      <p:sp>
        <p:nvSpPr>
          <p:cNvPr id="17" name="Text 13"/>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5 · KẾT QUẢ &amp; PHÂN TÍCH</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808"/>
              </a:lnSpc>
              <a:buNone/>
            </a:pPr>
            <a:r>
              <a:rPr lang="en-US" sz="3400" b="1" dirty="0">
                <a:solidFill>
                  <a:srgbClr val="201E1D"/>
                </a:solidFill>
                <a:latin typeface="Baloo 2" pitchFamily="34" charset="0"/>
                <a:ea typeface="Baloo 2" pitchFamily="34" charset="-122"/>
                <a:cs typeface="Baloo 2" pitchFamily="34" charset="-120"/>
              </a:rPr>
              <a:t>UIT-ViQuAD 2.0 · validation · n = 3814 · thiết bị MPS</a:t>
            </a:r>
            <a:endParaRPr lang="en-US" sz="3400" dirty="0"/>
          </a:p>
        </p:txBody>
      </p:sp>
      <p:sp>
        <p:nvSpPr>
          <p:cNvPr id="4" name="Shape 2"/>
          <p:cNvSpPr/>
          <p:nvPr/>
        </p:nvSpPr>
        <p:spPr>
          <a:xfrm>
            <a:off x="685800" y="1645920"/>
            <a:ext cx="5989320" cy="3200400"/>
          </a:xfrm>
          <a:prstGeom prst="roundRect">
            <a:avLst>
              <a:gd name="adj" fmla="val 4571"/>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978408" y="1920240"/>
          <a:ext cx="5394960" cy="914400"/>
        </p:xfrm>
        <a:graphic>
          <a:graphicData uri="http://schemas.openxmlformats.org/drawingml/2006/table">
            <a:tbl>
              <a:tblPr/>
              <a:tblGrid>
                <a:gridCol w="2606040"/>
                <a:gridCol w="914400"/>
                <a:gridCol w="914400"/>
                <a:gridCol w="960120"/>
              </a:tblGrid>
              <a:tr h="493776">
                <a:tc>
                  <a:txBody>
                    <a:bodyPr/>
                    <a:lstStyle/>
                    <a:p>
                      <a:pPr algn="l" indent="0" marL="0">
                        <a:buNone/>
                      </a:pPr>
                      <a:r>
                        <a:rPr lang="en-US" sz="1000" b="1" spc="120" kern="0" dirty="0">
                          <a:solidFill>
                            <a:srgbClr val="645C50"/>
                          </a:solidFill>
                          <a:latin typeface="Nunito" pitchFamily="34" charset="0"/>
                          <a:ea typeface="Nunito" pitchFamily="34" charset="-122"/>
                          <a:cs typeface="Nunito" pitchFamily="34" charset="-120"/>
                        </a:rPr>
                        <a:t>MODEL</a:t>
                      </a:r>
                      <a:endParaRPr lang="en-US" sz="100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1000" b="1" spc="120" kern="0" dirty="0">
                          <a:solidFill>
                            <a:srgbClr val="645C50"/>
                          </a:solidFill>
                          <a:latin typeface="Nunito" pitchFamily="34" charset="0"/>
                          <a:ea typeface="Nunito" pitchFamily="34" charset="-122"/>
                          <a:cs typeface="Nunito" pitchFamily="34" charset="-120"/>
                        </a:rPr>
                        <a:t>EM</a:t>
                      </a:r>
                      <a:endParaRPr lang="en-US" sz="100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1000" b="1" spc="120" kern="0" dirty="0">
                          <a:solidFill>
                            <a:srgbClr val="645C50"/>
                          </a:solidFill>
                          <a:latin typeface="Nunito" pitchFamily="34" charset="0"/>
                          <a:ea typeface="Nunito" pitchFamily="34" charset="-122"/>
                          <a:cs typeface="Nunito" pitchFamily="34" charset="-120"/>
                        </a:rPr>
                        <a:t>F1</a:t>
                      </a:r>
                      <a:endParaRPr lang="en-US" sz="100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1000" b="1" spc="120" kern="0" dirty="0">
                          <a:solidFill>
                            <a:srgbClr val="645C50"/>
                          </a:solidFill>
                          <a:latin typeface="Nunito" pitchFamily="34" charset="0"/>
                          <a:ea typeface="Nunito" pitchFamily="34" charset="-122"/>
                          <a:cs typeface="Nunito" pitchFamily="34" charset="-120"/>
                        </a:rPr>
                        <a:t>ĐỘ TRỄ</a:t>
                      </a:r>
                      <a:endParaRPr lang="en-US" sz="100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r>
              <a:tr h="493776">
                <a:tc>
                  <a:txBody>
                    <a:bodyPr/>
                    <a:lstStyle/>
                    <a:p>
                      <a:pPr algn="l" indent="0" marL="0">
                        <a:buNone/>
                      </a:pPr>
                      <a:r>
                        <a:rPr lang="en-US" sz="1250" dirty="0">
                          <a:solidFill>
                            <a:srgbClr val="201E1D"/>
                          </a:solidFill>
                          <a:latin typeface="Nunito" pitchFamily="34" charset="0"/>
                          <a:ea typeface="Nunito" pitchFamily="34" charset="-122"/>
                          <a:cs typeface="Nunito" pitchFamily="34" charset="-120"/>
                        </a:rPr>
                        <a:t>TF-IDF Baseline</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1,05</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22,11</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0,51 ms</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493776">
                <a:tc>
                  <a:txBody>
                    <a:bodyPr/>
                    <a:lstStyle/>
                    <a:p>
                      <a:pPr algn="l" indent="0" marL="0">
                        <a:buNone/>
                      </a:pPr>
                      <a:r>
                        <a:rPr lang="en-US" sz="1250" dirty="0">
                          <a:solidFill>
                            <a:srgbClr val="201E1D"/>
                          </a:solidFill>
                          <a:latin typeface="Nunito" pitchFamily="34" charset="0"/>
                          <a:ea typeface="Nunito" pitchFamily="34" charset="-122"/>
                          <a:cs typeface="Nunito" pitchFamily="34" charset="-120"/>
                        </a:rPr>
                        <a:t>ViSoBERT + QA (fine-tuned)</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31,99</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34,66</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27,18 ms</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493776">
                <a:tc>
                  <a:txBody>
                    <a:bodyPr/>
                    <a:lstStyle/>
                    <a:p>
                      <a:pPr algn="l" indent="0" marL="0">
                        <a:buNone/>
                      </a:pPr>
                      <a:r>
                        <a:rPr lang="en-US" sz="1250" dirty="0">
                          <a:solidFill>
                            <a:srgbClr val="201E1D"/>
                          </a:solidFill>
                          <a:latin typeface="Nunito" pitchFamily="34" charset="0"/>
                          <a:ea typeface="Nunito" pitchFamily="34" charset="-122"/>
                          <a:cs typeface="Nunito" pitchFamily="34" charset="-120"/>
                        </a:rPr>
                        <a:t>XLM-R squad2 (zero-shot)</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39,22</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54,24</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13,55 ms</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493776">
                <a:tc>
                  <a:txBody>
                    <a:bodyPr/>
                    <a:lstStyle/>
                    <a:p>
                      <a:pPr algn="l" indent="0" marL="0">
                        <a:buNone/>
                      </a:pPr>
                      <a:r>
                        <a:rPr lang="en-US" sz="1250" b="1" dirty="0">
                          <a:solidFill>
                            <a:srgbClr val="201E1D"/>
                          </a:solidFill>
                          <a:latin typeface="Nunito" pitchFamily="34" charset="0"/>
                          <a:ea typeface="Nunito" pitchFamily="34" charset="-122"/>
                          <a:cs typeface="Nunito" pitchFamily="34" charset="-120"/>
                        </a:rPr>
                        <a:t>mBERT + QA (fine-tuned)</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b="1" dirty="0">
                          <a:solidFill>
                            <a:srgbClr val="8C491A"/>
                          </a:solidFill>
                          <a:latin typeface="Nunito" pitchFamily="34" charset="0"/>
                          <a:ea typeface="Nunito" pitchFamily="34" charset="-122"/>
                          <a:cs typeface="Nunito" pitchFamily="34" charset="-120"/>
                        </a:rPr>
                        <a:t>48,95</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b="1" dirty="0">
                          <a:solidFill>
                            <a:srgbClr val="8C491A"/>
                          </a:solidFill>
                          <a:latin typeface="Nunito" pitchFamily="34" charset="0"/>
                          <a:ea typeface="Nunito" pitchFamily="34" charset="-122"/>
                          <a:cs typeface="Nunito" pitchFamily="34" charset="-120"/>
                        </a:rPr>
                        <a:t>57,98</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b="1" dirty="0">
                          <a:solidFill>
                            <a:srgbClr val="201E1D"/>
                          </a:solidFill>
                          <a:latin typeface="Nunito" pitchFamily="34" charset="0"/>
                          <a:ea typeface="Nunito" pitchFamily="34" charset="-122"/>
                          <a:cs typeface="Nunito" pitchFamily="34" charset="-120"/>
                        </a:rPr>
                        <a:t>13,42 ms</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bl>
          </a:graphicData>
        </a:graphic>
      </p:graphicFrame>
      <p:graphicFrame>
        <p:nvGraphicFramePr>
          <p:cNvPr id="6" name="Chart 0" descr=""/>
          <p:cNvGraphicFramePr/>
          <p:nvPr/>
        </p:nvGraphicFramePr>
        <p:xfrm>
          <a:off x="6537960" y="1554480"/>
          <a:ext cx="5074920" cy="338328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685800" y="5166360"/>
            <a:ext cx="2560320" cy="426720"/>
          </a:xfrm>
          <a:prstGeom prst="rect">
            <a:avLst/>
          </a:prstGeom>
          <a:noFill/>
          <a:ln/>
        </p:spPr>
        <p:txBody>
          <a:bodyPr wrap="square" lIns="0" tIns="0" rIns="0" bIns="0" rtlCol="0" anchor="b"/>
          <a:lstStyle/>
          <a:p>
            <a:pPr indent="0" marL="0">
              <a:buNone/>
            </a:pPr>
            <a:r>
              <a:rPr lang="en-US" sz="2800" b="1" dirty="0">
                <a:solidFill>
                  <a:srgbClr val="C67139"/>
                </a:solidFill>
                <a:latin typeface="Baloo 2" pitchFamily="34" charset="0"/>
                <a:ea typeface="Baloo 2" pitchFamily="34" charset="-122"/>
                <a:cs typeface="Baloo 2" pitchFamily="34" charset="-120"/>
              </a:rPr>
              <a:t>48,95</a:t>
            </a:r>
            <a:pPr indent="0" marL="0">
              <a:buNone/>
            </a:pPr>
            <a:endParaRPr lang="en-US" sz="2800" dirty="0"/>
          </a:p>
        </p:txBody>
      </p:sp>
      <p:sp>
        <p:nvSpPr>
          <p:cNvPr id="8" name="Text 4"/>
          <p:cNvSpPr txBox="1"/>
          <p:nvPr/>
        </p:nvSpPr>
        <p:spPr>
          <a:xfrm>
            <a:off x="685800" y="5574792"/>
            <a:ext cx="2560320" cy="457200"/>
          </a:xfrm>
          <a:prstGeom prst="rect">
            <a:avLst/>
          </a:prstGeom>
          <a:noFill/>
          <a:ln/>
        </p:spPr>
        <p:txBody>
          <a:bodyPr wrap="square" lIns="0" tIns="0" rIns="0" bIns="0" rtlCol="0" anchor="t"/>
          <a:lstStyle/>
          <a:p>
            <a:pPr indent="0" marL="0">
              <a:lnSpc>
                <a:spcPts val="1500"/>
              </a:lnSpc>
              <a:buNone/>
            </a:pPr>
            <a:r>
              <a:rPr lang="en-US" sz="1150" dirty="0">
                <a:solidFill>
                  <a:srgbClr val="645C50"/>
                </a:solidFill>
                <a:latin typeface="Nunito" pitchFamily="34" charset="0"/>
                <a:ea typeface="Nunito" pitchFamily="34" charset="-122"/>
                <a:cs typeface="Nunito" pitchFamily="34" charset="-120"/>
              </a:rPr>
              <a:t>EM cao nhất — mBERT fine-tuned</a:t>
            </a:r>
            <a:endParaRPr lang="en-US" sz="1150" dirty="0"/>
          </a:p>
        </p:txBody>
      </p:sp>
      <p:sp>
        <p:nvSpPr>
          <p:cNvPr id="9" name="Text 5"/>
          <p:cNvSpPr txBox="1"/>
          <p:nvPr/>
        </p:nvSpPr>
        <p:spPr>
          <a:xfrm>
            <a:off x="3429000" y="5166360"/>
            <a:ext cx="2560320" cy="426720"/>
          </a:xfrm>
          <a:prstGeom prst="rect">
            <a:avLst/>
          </a:prstGeom>
          <a:noFill/>
          <a:ln/>
        </p:spPr>
        <p:txBody>
          <a:bodyPr wrap="square" lIns="0" tIns="0" rIns="0" bIns="0" rtlCol="0" anchor="b"/>
          <a:lstStyle/>
          <a:p>
            <a:pPr indent="0" marL="0">
              <a:buNone/>
            </a:pPr>
            <a:r>
              <a:rPr lang="en-US" sz="2800" b="1" dirty="0">
                <a:solidFill>
                  <a:srgbClr val="7A8A5E"/>
                </a:solidFill>
                <a:latin typeface="Baloo 2" pitchFamily="34" charset="0"/>
                <a:ea typeface="Baloo 2" pitchFamily="34" charset="-122"/>
                <a:cs typeface="Baloo 2" pitchFamily="34" charset="-120"/>
              </a:rPr>
              <a:t>±4,4</a:t>
            </a:r>
            <a:pPr indent="0" marL="0">
              <a:buNone/>
            </a:pPr>
            <a:endParaRPr lang="en-US" sz="2800" dirty="0"/>
          </a:p>
        </p:txBody>
      </p:sp>
      <p:sp>
        <p:nvSpPr>
          <p:cNvPr id="10" name="Text 6"/>
          <p:cNvSpPr txBox="1"/>
          <p:nvPr/>
        </p:nvSpPr>
        <p:spPr>
          <a:xfrm>
            <a:off x="3429000" y="5574792"/>
            <a:ext cx="2560320" cy="457200"/>
          </a:xfrm>
          <a:prstGeom prst="rect">
            <a:avLst/>
          </a:prstGeom>
          <a:noFill/>
          <a:ln/>
        </p:spPr>
        <p:txBody>
          <a:bodyPr wrap="square" lIns="0" tIns="0" rIns="0" bIns="0" rtlCol="0" anchor="t"/>
          <a:lstStyle/>
          <a:p>
            <a:pPr indent="0" marL="0">
              <a:lnSpc>
                <a:spcPts val="1500"/>
              </a:lnSpc>
              <a:buNone/>
            </a:pPr>
            <a:r>
              <a:rPr lang="en-US" sz="1150" dirty="0">
                <a:solidFill>
                  <a:srgbClr val="645C50"/>
                </a:solidFill>
                <a:latin typeface="Nunito" pitchFamily="34" charset="0"/>
                <a:ea typeface="Nunito" pitchFamily="34" charset="-122"/>
                <a:cs typeface="Nunito" pitchFamily="34" charset="-120"/>
              </a:rPr>
              <a:t>khoảng tin cậy 95% của EM ở n = 3814</a:t>
            </a:r>
            <a:endParaRPr lang="en-US" sz="1150" dirty="0"/>
          </a:p>
        </p:txBody>
      </p:sp>
      <p:sp>
        <p:nvSpPr>
          <p:cNvPr id="11" name="Text 7"/>
          <p:cNvSpPr txBox="1"/>
          <p:nvPr/>
        </p:nvSpPr>
        <p:spPr>
          <a:xfrm>
            <a:off x="6172200" y="5166360"/>
            <a:ext cx="2560320" cy="426720"/>
          </a:xfrm>
          <a:prstGeom prst="rect">
            <a:avLst/>
          </a:prstGeom>
          <a:noFill/>
          <a:ln/>
        </p:spPr>
        <p:txBody>
          <a:bodyPr wrap="square" lIns="0" tIns="0" rIns="0" bIns="0" rtlCol="0" anchor="b"/>
          <a:lstStyle/>
          <a:p>
            <a:pPr indent="0" marL="0">
              <a:buNone/>
            </a:pPr>
            <a:r>
              <a:rPr lang="en-US" sz="2800" b="1" dirty="0">
                <a:solidFill>
                  <a:srgbClr val="645C50"/>
                </a:solidFill>
                <a:latin typeface="Baloo 2" pitchFamily="34" charset="0"/>
                <a:ea typeface="Baloo 2" pitchFamily="34" charset="-122"/>
                <a:cs typeface="Baloo 2" pitchFamily="34" charset="-120"/>
              </a:rPr>
              <a:t>30,44%</a:t>
            </a:r>
            <a:pPr indent="0" marL="0">
              <a:buNone/>
            </a:pPr>
            <a:endParaRPr lang="en-US" sz="2800" dirty="0"/>
          </a:p>
        </p:txBody>
      </p:sp>
      <p:sp>
        <p:nvSpPr>
          <p:cNvPr id="12" name="Text 8"/>
          <p:cNvSpPr txBox="1"/>
          <p:nvPr/>
        </p:nvSpPr>
        <p:spPr>
          <a:xfrm>
            <a:off x="6172200" y="5574792"/>
            <a:ext cx="2560320" cy="457200"/>
          </a:xfrm>
          <a:prstGeom prst="rect">
            <a:avLst/>
          </a:prstGeom>
          <a:noFill/>
          <a:ln/>
        </p:spPr>
        <p:txBody>
          <a:bodyPr wrap="square" lIns="0" tIns="0" rIns="0" bIns="0" rtlCol="0" anchor="t"/>
          <a:lstStyle/>
          <a:p>
            <a:pPr indent="0" marL="0">
              <a:lnSpc>
                <a:spcPts val="1500"/>
              </a:lnSpc>
              <a:buNone/>
            </a:pPr>
            <a:r>
              <a:rPr lang="en-US" sz="1150" dirty="0">
                <a:solidFill>
                  <a:srgbClr val="645C50"/>
                </a:solidFill>
                <a:latin typeface="Nunito" pitchFamily="34" charset="0"/>
                <a:ea typeface="Nunito" pitchFamily="34" charset="-122"/>
                <a:cs typeface="Nunito" pitchFamily="34" charset="-120"/>
              </a:rPr>
              <a:t>câu không có đáp án trong mẫu</a:t>
            </a:r>
            <a:endParaRPr lang="en-US" sz="1150" dirty="0"/>
          </a:p>
        </p:txBody>
      </p:sp>
      <p:sp>
        <p:nvSpPr>
          <p:cNvPr id="13" name="Text 9"/>
          <p:cNvSpPr txBox="1"/>
          <p:nvPr/>
        </p:nvSpPr>
        <p:spPr>
          <a:xfrm>
            <a:off x="8915400" y="5166360"/>
            <a:ext cx="2560320" cy="426720"/>
          </a:xfrm>
          <a:prstGeom prst="rect">
            <a:avLst/>
          </a:prstGeom>
          <a:noFill/>
          <a:ln/>
        </p:spPr>
        <p:txBody>
          <a:bodyPr wrap="square" lIns="0" tIns="0" rIns="0" bIns="0" rtlCol="0" anchor="b"/>
          <a:lstStyle/>
          <a:p>
            <a:pPr indent="0" marL="0">
              <a:buNone/>
            </a:pPr>
            <a:r>
              <a:rPr lang="en-US" sz="2800" b="1" dirty="0">
                <a:solidFill>
                  <a:srgbClr val="645C50"/>
                </a:solidFill>
                <a:latin typeface="Baloo 2" pitchFamily="34" charset="0"/>
                <a:ea typeface="Baloo 2" pitchFamily="34" charset="-122"/>
                <a:cs typeface="Baloo 2" pitchFamily="34" charset="-120"/>
              </a:rPr>
              <a:t>2</a:t>
            </a:r>
            <a:pPr indent="0" marL="0">
              <a:buNone/>
            </a:pPr>
            <a:endParaRPr lang="en-US" sz="2800" dirty="0"/>
          </a:p>
        </p:txBody>
      </p:sp>
      <p:sp>
        <p:nvSpPr>
          <p:cNvPr id="14" name="Text 10"/>
          <p:cNvSpPr txBox="1"/>
          <p:nvPr/>
        </p:nvSpPr>
        <p:spPr>
          <a:xfrm>
            <a:off x="8915400" y="5574792"/>
            <a:ext cx="2560320" cy="457200"/>
          </a:xfrm>
          <a:prstGeom prst="rect">
            <a:avLst/>
          </a:prstGeom>
          <a:noFill/>
          <a:ln/>
        </p:spPr>
        <p:txBody>
          <a:bodyPr wrap="square" lIns="0" tIns="0" rIns="0" bIns="0" rtlCol="0" anchor="t"/>
          <a:lstStyle/>
          <a:p>
            <a:pPr indent="0" marL="0">
              <a:lnSpc>
                <a:spcPts val="1500"/>
              </a:lnSpc>
              <a:buNone/>
            </a:pPr>
            <a:r>
              <a:rPr lang="en-US" sz="1150" dirty="0">
                <a:solidFill>
                  <a:srgbClr val="645C50"/>
                </a:solidFill>
                <a:latin typeface="Nunito" pitchFamily="34" charset="0"/>
                <a:ea typeface="Nunito" pitchFamily="34" charset="-122"/>
                <a:cs typeface="Nunito" pitchFamily="34" charset="-120"/>
              </a:rPr>
              <a:t>commit truy vết được cho 4 kết quả</a:t>
            </a:r>
            <a:endParaRPr lang="en-US" sz="1150" dirty="0"/>
          </a:p>
        </p:txBody>
      </p:sp>
      <p:sp>
        <p:nvSpPr>
          <p:cNvPr id="15" name="Text 11"/>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5 · Kết quả · results/eval_*.json · commit c2b00b1, 57b756a</a:t>
            </a:r>
            <a:endParaRPr lang="en-US" sz="1000" dirty="0"/>
          </a:p>
        </p:txBody>
      </p:sp>
      <p:sp>
        <p:nvSpPr>
          <p:cNvPr id="16" name="Text 12"/>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5 · KẾT QUẢ &amp; PHÂN TÍCH · PHÁT HIỆN 1</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808"/>
              </a:lnSpc>
              <a:buNone/>
            </a:pPr>
            <a:r>
              <a:rPr lang="en-US" sz="3400" b="1" dirty="0">
                <a:solidFill>
                  <a:srgbClr val="201E1D"/>
                </a:solidFill>
                <a:latin typeface="Baloo 2" pitchFamily="34" charset="0"/>
                <a:ea typeface="Baloo 2" pitchFamily="34" charset="-122"/>
                <a:cs typeface="Baloo 2" pitchFamily="34" charset="-120"/>
              </a:rPr>
              <a:t>mBERT thắng KHÔNG phải vì tìm span giỏi hơn</a:t>
            </a:r>
            <a:endParaRPr lang="en-US" sz="3400" dirty="0"/>
          </a:p>
        </p:txBody>
      </p:sp>
      <p:graphicFrame>
        <p:nvGraphicFramePr>
          <p:cNvPr id="4" name="Chart 0" descr=""/>
          <p:cNvGraphicFramePr/>
          <p:nvPr/>
        </p:nvGraphicFramePr>
        <p:xfrm>
          <a:off x="548640" y="1554480"/>
          <a:ext cx="6309360" cy="38404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03720" y="1691640"/>
            <a:ext cx="4599432" cy="1828800"/>
          </a:xfrm>
          <a:prstGeom prst="roundRect">
            <a:avLst>
              <a:gd name="adj" fmla="val 8000"/>
            </a:avLst>
          </a:prstGeom>
          <a:solidFill>
            <a:srgbClr val="FFF2EB"/>
          </a:solidFill>
          <a:ln w="12700">
            <a:solidFill>
              <a:srgbClr val="FFF2EB"/>
            </a:solidFill>
            <a:prstDash val="solid"/>
          </a:ln>
          <a:effectLst>
            <a:outerShdw sx="100000" sy="100000" kx="0" ky="0" algn="bl" rotWithShape="0" blurRad="101600" dist="25400" dir="5400000">
              <a:srgbClr val="2E2B25">
                <a:alpha val="12000"/>
              </a:srgbClr>
            </a:outerShdw>
          </a:effectLst>
        </p:spPr>
      </p:sp>
      <p:sp>
        <p:nvSpPr>
          <p:cNvPr id="6" name="Text 3"/>
          <p:cNvSpPr txBox="1"/>
          <p:nvPr/>
        </p:nvSpPr>
        <p:spPr>
          <a:xfrm>
            <a:off x="7196328" y="1938528"/>
            <a:ext cx="4023360" cy="548640"/>
          </a:xfrm>
          <a:prstGeom prst="rect">
            <a:avLst/>
          </a:prstGeom>
          <a:noFill/>
          <a:ln/>
        </p:spPr>
        <p:txBody>
          <a:bodyPr wrap="square" lIns="0" tIns="0" rIns="0" bIns="0" rtlCol="0" anchor="t"/>
          <a:lstStyle/>
          <a:p>
            <a:pPr algn="l" indent="0" marL="0">
              <a:lnSpc>
                <a:spcPts val="2030"/>
              </a:lnSpc>
              <a:buNone/>
            </a:pPr>
            <a:r>
              <a:rPr lang="en-US" sz="1400" b="1" dirty="0">
                <a:solidFill>
                  <a:srgbClr val="8C491A"/>
                </a:solidFill>
                <a:latin typeface="Nunito" pitchFamily="34" charset="0"/>
                <a:ea typeface="Nunito" pitchFamily="34" charset="-122"/>
                <a:cs typeface="Nunito" pitchFamily="34" charset="-120"/>
              </a:rPr>
              <a:t>Trên câu answerable, XLM-R zero-shot thực ra TỐT HƠN</a:t>
            </a:r>
            <a:endParaRPr lang="en-US" sz="1400" dirty="0"/>
          </a:p>
        </p:txBody>
      </p:sp>
      <p:sp>
        <p:nvSpPr>
          <p:cNvPr id="7" name="Text 4"/>
          <p:cNvSpPr txBox="1"/>
          <p:nvPr/>
        </p:nvSpPr>
        <p:spPr>
          <a:xfrm>
            <a:off x="7196328" y="2542032"/>
            <a:ext cx="4023360" cy="365760"/>
          </a:xfrm>
          <a:prstGeom prst="rect">
            <a:avLst/>
          </a:prstGeom>
          <a:noFill/>
          <a:ln/>
        </p:spPr>
        <p:txBody>
          <a:bodyPr wrap="square" lIns="0" tIns="0" rIns="0" bIns="0" rtlCol="0" anchor="ctr"/>
          <a:lstStyle/>
          <a:p>
            <a:pPr indent="0" marL="0">
              <a:buNone/>
            </a:pPr>
            <a:r>
              <a:rPr lang="en-US" sz="2200" b="1" dirty="0">
                <a:solidFill>
                  <a:srgbClr val="8C491A"/>
                </a:solidFill>
                <a:latin typeface="Baloo 2" pitchFamily="34" charset="0"/>
                <a:ea typeface="Baloo 2" pitchFamily="34" charset="-122"/>
                <a:cs typeface="Baloo 2" pitchFamily="34" charset="-120"/>
              </a:rPr>
              <a:t>F1  64,78   so với   63,67</a:t>
            </a:r>
            <a:endParaRPr lang="en-US" sz="2200" dirty="0"/>
          </a:p>
        </p:txBody>
      </p:sp>
      <p:sp>
        <p:nvSpPr>
          <p:cNvPr id="8" name="Text 5"/>
          <p:cNvSpPr txBox="1"/>
          <p:nvPr/>
        </p:nvSpPr>
        <p:spPr>
          <a:xfrm>
            <a:off x="7196328" y="2971800"/>
            <a:ext cx="4023360" cy="457200"/>
          </a:xfrm>
          <a:prstGeom prst="rect">
            <a:avLst/>
          </a:prstGeom>
          <a:noFill/>
          <a:ln/>
        </p:spPr>
        <p:txBody>
          <a:bodyPr wrap="square" lIns="0" tIns="0" rIns="0" bIns="0" rtlCol="0" anchor="t"/>
          <a:lstStyle/>
          <a:p>
            <a:pPr algn="l" indent="0" marL="0">
              <a:lnSpc>
                <a:spcPts val="1668"/>
              </a:lnSpc>
              <a:buNone/>
            </a:pPr>
            <a:r>
              <a:rPr lang="en-US" sz="1150" dirty="0">
                <a:solidFill>
                  <a:srgbClr val="8C491A"/>
                </a:solidFill>
                <a:latin typeface="Nunito" pitchFamily="34" charset="0"/>
                <a:ea typeface="Nunito" pitchFamily="34" charset="-122"/>
                <a:cs typeface="Nunito" pitchFamily="34" charset="-120"/>
              </a:rPr>
              <a:t>— nhưng chênh lệch 1,60 điểm này nằm gọn trong nhiễu, nên không phải kết luận vững.</a:t>
            </a:r>
            <a:endParaRPr lang="en-US" sz="1150" dirty="0"/>
          </a:p>
        </p:txBody>
      </p:sp>
      <p:sp>
        <p:nvSpPr>
          <p:cNvPr id="9" name="Shape 6"/>
          <p:cNvSpPr/>
          <p:nvPr/>
        </p:nvSpPr>
        <p:spPr>
          <a:xfrm>
            <a:off x="6903720" y="3703320"/>
            <a:ext cx="4599432" cy="2103120"/>
          </a:xfrm>
          <a:prstGeom prst="roundRect">
            <a:avLst>
              <a:gd name="adj" fmla="val 6957"/>
            </a:avLst>
          </a:prstGeom>
          <a:solidFill>
            <a:srgbClr val="F0FAE1"/>
          </a:solidFill>
          <a:ln w="12700">
            <a:solidFill>
              <a:srgbClr val="F0FAE1"/>
            </a:solidFill>
            <a:prstDash val="solid"/>
          </a:ln>
          <a:effectLst>
            <a:outerShdw sx="100000" sy="100000" kx="0" ky="0" algn="bl" rotWithShape="0" blurRad="101600" dist="25400" dir="5400000">
              <a:srgbClr val="2E2B25">
                <a:alpha val="12000"/>
              </a:srgbClr>
            </a:outerShdw>
          </a:effectLst>
        </p:spPr>
      </p:sp>
      <p:sp>
        <p:nvSpPr>
          <p:cNvPr id="10" name="Text 7"/>
          <p:cNvSpPr txBox="1"/>
          <p:nvPr/>
        </p:nvSpPr>
        <p:spPr>
          <a:xfrm>
            <a:off x="7196328" y="3950208"/>
            <a:ext cx="4023360" cy="548640"/>
          </a:xfrm>
          <a:prstGeom prst="rect">
            <a:avLst/>
          </a:prstGeom>
          <a:noFill/>
          <a:ln/>
        </p:spPr>
        <p:txBody>
          <a:bodyPr wrap="square" lIns="0" tIns="0" rIns="0" bIns="0" rtlCol="0" anchor="t"/>
          <a:lstStyle/>
          <a:p>
            <a:pPr algn="l" indent="0" marL="0">
              <a:lnSpc>
                <a:spcPts val="2030"/>
              </a:lnSpc>
              <a:buNone/>
            </a:pPr>
            <a:r>
              <a:rPr lang="en-US" sz="1400" b="1" dirty="0">
                <a:solidFill>
                  <a:srgbClr val="3D472B"/>
                </a:solidFill>
                <a:latin typeface="Nunito" pitchFamily="34" charset="0"/>
                <a:ea typeface="Nunito" pitchFamily="34" charset="-122"/>
                <a:cs typeface="Nunito" pitchFamily="34" charset="-120"/>
              </a:rPr>
              <a:t>mBERT thắng tổng thể vì biết khi nào KHÔNG nên trả lời</a:t>
            </a:r>
            <a:endParaRPr lang="en-US" sz="1400" dirty="0"/>
          </a:p>
        </p:txBody>
      </p:sp>
      <p:sp>
        <p:nvSpPr>
          <p:cNvPr id="11" name="Text 8"/>
          <p:cNvSpPr txBox="1"/>
          <p:nvPr/>
        </p:nvSpPr>
        <p:spPr>
          <a:xfrm>
            <a:off x="7196328" y="4526280"/>
            <a:ext cx="4023360" cy="365760"/>
          </a:xfrm>
          <a:prstGeom prst="rect">
            <a:avLst/>
          </a:prstGeom>
          <a:noFill/>
          <a:ln/>
        </p:spPr>
        <p:txBody>
          <a:bodyPr wrap="square" lIns="0" tIns="0" rIns="0" bIns="0" rtlCol="0" anchor="ctr"/>
          <a:lstStyle/>
          <a:p>
            <a:pPr indent="0" marL="0">
              <a:buNone/>
            </a:pPr>
            <a:r>
              <a:rPr lang="en-US" sz="1900" b="1" dirty="0">
                <a:solidFill>
                  <a:srgbClr val="3D472B"/>
                </a:solidFill>
                <a:latin typeface="Baloo 2" pitchFamily="34" charset="0"/>
                <a:ea typeface="Baloo 2" pitchFamily="34" charset="-122"/>
                <a:cs typeface="Baloo 2" pitchFamily="34" charset="-120"/>
              </a:rPr>
              <a:t>impossible EM  44,96  so với  30,15</a:t>
            </a:r>
            <a:endParaRPr lang="en-US" sz="1900" dirty="0"/>
          </a:p>
        </p:txBody>
      </p:sp>
      <p:sp>
        <p:nvSpPr>
          <p:cNvPr id="12" name="Text 9"/>
          <p:cNvSpPr txBox="1"/>
          <p:nvPr/>
        </p:nvSpPr>
        <p:spPr>
          <a:xfrm>
            <a:off x="7196328" y="4956048"/>
            <a:ext cx="4023360" cy="685800"/>
          </a:xfrm>
          <a:prstGeom prst="rect">
            <a:avLst/>
          </a:prstGeom>
          <a:noFill/>
          <a:ln/>
        </p:spPr>
        <p:txBody>
          <a:bodyPr wrap="square" lIns="0" tIns="0" rIns="0" bIns="0" rtlCol="0" anchor="t"/>
          <a:lstStyle/>
          <a:p>
            <a:pPr algn="l" indent="0" marL="0">
              <a:lnSpc>
                <a:spcPts val="1668"/>
              </a:lnSpc>
              <a:buNone/>
            </a:pPr>
            <a:r>
              <a:rPr lang="en-US" sz="1150" dirty="0">
                <a:solidFill>
                  <a:srgbClr val="3D472B"/>
                </a:solidFill>
                <a:latin typeface="Nunito" pitchFamily="34" charset="0"/>
                <a:ea typeface="Nunito" pitchFamily="34" charset="-122"/>
                <a:cs typeface="Nunito" pitchFamily="34" charset="-120"/>
              </a:rPr>
              <a:t>+13,67 điểm ± 11,03 — có ý nghĩa thống kê. Với 30,44% câu trong mẫu là không có đáp án, chính kỹ năng thứ hai quyết định bảng xếp hạng.</a:t>
            </a:r>
            <a:endParaRPr lang="en-US" sz="1150" dirty="0"/>
          </a:p>
        </p:txBody>
      </p:sp>
      <p:sp>
        <p:nvSpPr>
          <p:cNvPr id="13" name="Text 10"/>
          <p:cNvSpPr txBox="1"/>
          <p:nvPr/>
        </p:nvSpPr>
        <p:spPr>
          <a:xfrm>
            <a:off x="685800" y="5870448"/>
            <a:ext cx="10820095" cy="365760"/>
          </a:xfrm>
          <a:prstGeom prst="rect">
            <a:avLst/>
          </a:prstGeom>
          <a:noFill/>
          <a:ln/>
        </p:spPr>
        <p:txBody>
          <a:bodyPr wrap="square" lIns="0" tIns="0" rIns="0" bIns="0" rtlCol="0" anchor="t"/>
          <a:lstStyle/>
          <a:p>
            <a:pPr algn="ctr" indent="0" marL="0">
              <a:lnSpc>
                <a:spcPts val="1813"/>
              </a:lnSpc>
              <a:buNone/>
            </a:pPr>
            <a:r>
              <a:rPr lang="en-US" sz="1250" i="1" dirty="0">
                <a:solidFill>
                  <a:srgbClr val="645C50"/>
                </a:solidFill>
                <a:latin typeface="Nunito" pitchFamily="34" charset="0"/>
                <a:ea typeface="Nunito" pitchFamily="34" charset="-122"/>
                <a:cs typeface="Nunito" pitchFamily="34" charset="-120"/>
              </a:rPr>
              <a:t>Đây là lý do báo cáo tách answerable_only và impossible_only — con số tổng trộn hai kỹ năng và che mất điều này.</a:t>
            </a:r>
            <a:endParaRPr lang="en-US" sz="1250" dirty="0"/>
          </a:p>
        </p:txBody>
      </p:sp>
      <p:sp>
        <p:nvSpPr>
          <p:cNvPr id="14" name="Text 11"/>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5 · Kết quả · Hai kỹ năng khác nhau</a:t>
            </a:r>
            <a:endParaRPr lang="en-US" sz="1000" dirty="0"/>
          </a:p>
        </p:txBody>
      </p:sp>
      <p:sp>
        <p:nvSpPr>
          <p:cNvPr id="15" name="Text 12"/>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5 · KẾT QUẢ &amp; PHÂN TÍCH · PHÁT HIỆN 2</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472"/>
              </a:lnSpc>
              <a:buNone/>
            </a:pPr>
            <a:r>
              <a:rPr lang="en-US" sz="3100" b="1" dirty="0">
                <a:solidFill>
                  <a:srgbClr val="201E1D"/>
                </a:solidFill>
                <a:latin typeface="Baloo 2" pitchFamily="34" charset="0"/>
                <a:ea typeface="Baloo 2" pitchFamily="34" charset="-122"/>
                <a:cs typeface="Baloo 2" pitchFamily="34" charset="-120"/>
              </a:rPr>
              <a:t>Vì sao ViSoBERT suy sụp — một ca lỗi được chẩn đoán</a:t>
            </a:r>
            <a:endParaRPr lang="en-US" sz="3100" dirty="0"/>
          </a:p>
        </p:txBody>
      </p:sp>
      <p:sp>
        <p:nvSpPr>
          <p:cNvPr id="4" name="Shape 2"/>
          <p:cNvSpPr/>
          <p:nvPr/>
        </p:nvSpPr>
        <p:spPr>
          <a:xfrm>
            <a:off x="685800" y="1572768"/>
            <a:ext cx="5029200" cy="2176272"/>
          </a:xfrm>
          <a:prstGeom prst="roundRect">
            <a:avLst>
              <a:gd name="adj" fmla="val 6723"/>
            </a:avLst>
          </a:prstGeom>
          <a:solidFill>
            <a:srgbClr val="FFF2EB"/>
          </a:solidFill>
          <a:ln w="12700">
            <a:solidFill>
              <a:srgbClr val="FFF2EB"/>
            </a:solidFill>
            <a:prstDash val="solid"/>
          </a:ln>
          <a:effectLst>
            <a:outerShdw sx="100000" sy="100000" kx="0" ky="0" algn="bl" rotWithShape="0" blurRad="101600" dist="25400" dir="5400000">
              <a:srgbClr val="2E2B25">
                <a:alpha val="12000"/>
              </a:srgbClr>
            </a:outerShdw>
          </a:effectLst>
        </p:spPr>
      </p:sp>
      <p:sp>
        <p:nvSpPr>
          <p:cNvPr id="5" name="Text 3"/>
          <p:cNvSpPr txBox="1"/>
          <p:nvPr/>
        </p:nvSpPr>
        <p:spPr>
          <a:xfrm>
            <a:off x="978408" y="1719072"/>
            <a:ext cx="4572000" cy="384048"/>
          </a:xfrm>
          <a:prstGeom prst="rect">
            <a:avLst/>
          </a:prstGeom>
          <a:noFill/>
          <a:ln/>
        </p:spPr>
        <p:txBody>
          <a:bodyPr wrap="square" lIns="0" tIns="0" rIns="0" bIns="0" rtlCol="0" anchor="ctr"/>
          <a:lstStyle/>
          <a:p>
            <a:pPr indent="0" marL="0">
              <a:buNone/>
            </a:pPr>
            <a:r>
              <a:rPr lang="en-US" sz="2300" b="1" dirty="0">
                <a:solidFill>
                  <a:srgbClr val="8C491A"/>
                </a:solidFill>
                <a:latin typeface="Baloo 2" pitchFamily="34" charset="0"/>
                <a:ea typeface="Baloo 2" pitchFamily="34" charset="-122"/>
                <a:cs typeface="Baloo 2" pitchFamily="34" charset="-120"/>
              </a:rPr>
              <a:t>EM tổng  31,99</a:t>
            </a:r>
            <a:endParaRPr lang="en-US" sz="2300" dirty="0"/>
          </a:p>
        </p:txBody>
      </p:sp>
      <p:sp>
        <p:nvSpPr>
          <p:cNvPr id="6" name="Text 4"/>
          <p:cNvSpPr txBox="1"/>
          <p:nvPr/>
        </p:nvSpPr>
        <p:spPr>
          <a:xfrm>
            <a:off x="978408" y="2103120"/>
            <a:ext cx="4572000" cy="329184"/>
          </a:xfrm>
          <a:prstGeom prst="rect">
            <a:avLst/>
          </a:prstGeom>
          <a:noFill/>
          <a:ln/>
        </p:spPr>
        <p:txBody>
          <a:bodyPr wrap="square" lIns="0" tIns="0" rIns="0" bIns="0" rtlCol="0" anchor="ctr"/>
          <a:lstStyle/>
          <a:p>
            <a:pPr indent="0" marL="0">
              <a:buNone/>
            </a:pPr>
            <a:r>
              <a:rPr lang="en-US" sz="1700" b="1" dirty="0">
                <a:solidFill>
                  <a:srgbClr val="8C491A"/>
                </a:solidFill>
                <a:latin typeface="Baloo 2" pitchFamily="34" charset="0"/>
                <a:ea typeface="Baloo 2" pitchFamily="34" charset="-122"/>
                <a:cs typeface="Baloo 2" pitchFamily="34" charset="-120"/>
              </a:rPr>
              <a:t>=   tỉ lệ câu không có đáp án của mẫu  30,44%</a:t>
            </a:r>
            <a:endParaRPr lang="en-US" sz="1700" dirty="0"/>
          </a:p>
        </p:txBody>
      </p:sp>
      <p:sp>
        <p:nvSpPr>
          <p:cNvPr id="7" name="Text 5"/>
          <p:cNvSpPr txBox="1"/>
          <p:nvPr/>
        </p:nvSpPr>
        <p:spPr>
          <a:xfrm>
            <a:off x="978408" y="2468880"/>
            <a:ext cx="4572000" cy="274320"/>
          </a:xfrm>
          <a:prstGeom prst="rect">
            <a:avLst/>
          </a:prstGeom>
          <a:noFill/>
          <a:ln/>
        </p:spPr>
        <p:txBody>
          <a:bodyPr wrap="square" lIns="0" tIns="0" rIns="0" bIns="0" rtlCol="0" anchor="t"/>
          <a:lstStyle/>
          <a:p>
            <a:pPr algn="l" indent="0" marL="0">
              <a:lnSpc>
                <a:spcPts val="1595"/>
              </a:lnSpc>
              <a:buNone/>
            </a:pPr>
            <a:r>
              <a:rPr lang="en-US" sz="1100" i="1" dirty="0">
                <a:solidFill>
                  <a:srgbClr val="8C491A"/>
                </a:solidFill>
                <a:latin typeface="Nunito" pitchFamily="34" charset="0"/>
                <a:ea typeface="Nunito" pitchFamily="34" charset="-122"/>
                <a:cs typeface="Nunito" pitchFamily="34" charset="-120"/>
              </a:rPr>
              <a:t>Hai con số trùng nhau không phải trùng hợp — bóc tách ra:</a:t>
            </a:r>
            <a:endParaRPr lang="en-US" sz="1100" dirty="0"/>
          </a:p>
        </p:txBody>
      </p:sp>
      <p:sp>
        <p:nvSpPr>
          <p:cNvPr id="8" name="Text 6"/>
          <p:cNvSpPr txBox="1"/>
          <p:nvPr/>
        </p:nvSpPr>
        <p:spPr>
          <a:xfrm>
            <a:off x="978408" y="2779776"/>
            <a:ext cx="2194560" cy="365760"/>
          </a:xfrm>
          <a:prstGeom prst="rect">
            <a:avLst/>
          </a:prstGeom>
          <a:noFill/>
          <a:ln/>
        </p:spPr>
        <p:txBody>
          <a:bodyPr wrap="square" lIns="0" tIns="0" rIns="0" bIns="0" rtlCol="0" anchor="b"/>
          <a:lstStyle/>
          <a:p>
            <a:pPr indent="0" marL="0">
              <a:buNone/>
            </a:pPr>
            <a:r>
              <a:rPr lang="en-US" sz="2400" b="1" dirty="0">
                <a:solidFill>
                  <a:srgbClr val="7A8A5E"/>
                </a:solidFill>
                <a:latin typeface="Baloo 2" pitchFamily="34" charset="0"/>
                <a:ea typeface="Baloo 2" pitchFamily="34" charset="-122"/>
                <a:cs typeface="Baloo 2" pitchFamily="34" charset="-120"/>
              </a:rPr>
              <a:t>86,13</a:t>
            </a:r>
            <a:pPr indent="0" marL="0">
              <a:buNone/>
            </a:pPr>
            <a:endParaRPr lang="en-US" sz="2400" dirty="0"/>
          </a:p>
        </p:txBody>
      </p:sp>
      <p:sp>
        <p:nvSpPr>
          <p:cNvPr id="9" name="Text 7"/>
          <p:cNvSpPr txBox="1"/>
          <p:nvPr/>
        </p:nvSpPr>
        <p:spPr>
          <a:xfrm>
            <a:off x="978408" y="3127248"/>
            <a:ext cx="2194560" cy="457200"/>
          </a:xfrm>
          <a:prstGeom prst="rect">
            <a:avLst/>
          </a:prstGeom>
          <a:noFill/>
          <a:ln/>
        </p:spPr>
        <p:txBody>
          <a:bodyPr wrap="square" lIns="0" tIns="0" rIns="0" bIns="0" rtlCol="0" anchor="t"/>
          <a:lstStyle/>
          <a:p>
            <a:pPr indent="0" marL="0">
              <a:lnSpc>
                <a:spcPts val="1500"/>
              </a:lnSpc>
              <a:buNone/>
            </a:pPr>
            <a:r>
              <a:rPr lang="en-US" sz="1150" dirty="0">
                <a:solidFill>
                  <a:srgbClr val="645C50"/>
                </a:solidFill>
                <a:latin typeface="Nunito" pitchFamily="34" charset="0"/>
                <a:ea typeface="Nunito" pitchFamily="34" charset="-122"/>
                <a:cs typeface="Nunito" pitchFamily="34" charset="-120"/>
              </a:rPr>
              <a:t>impossible EM — gần như chỉ</a:t>
            </a:r>
            <a:endParaRPr lang="en-US" sz="1150" dirty="0"/>
          </a:p>
          <a:p>
            <a:pPr indent="0" marL="0">
              <a:lnSpc>
                <a:spcPts val="1500"/>
              </a:lnSpc>
              <a:buNone/>
            </a:pPr>
            <a:r>
              <a:rPr lang="en-US" sz="1150" dirty="0">
                <a:solidFill>
                  <a:srgbClr val="645C50"/>
                </a:solidFill>
                <a:latin typeface="Nunito" pitchFamily="34" charset="0"/>
                <a:ea typeface="Nunito" pitchFamily="34" charset="-122"/>
                <a:cs typeface="Nunito" pitchFamily="34" charset="-120"/>
              </a:rPr>
              <a:t>ăn điểm từ việc từ chối</a:t>
            </a:r>
            <a:endParaRPr lang="en-US" sz="1150" dirty="0"/>
          </a:p>
        </p:txBody>
      </p:sp>
      <p:sp>
        <p:nvSpPr>
          <p:cNvPr id="10" name="Text 8"/>
          <p:cNvSpPr txBox="1"/>
          <p:nvPr/>
        </p:nvSpPr>
        <p:spPr>
          <a:xfrm>
            <a:off x="3383280" y="2779776"/>
            <a:ext cx="2194560" cy="365760"/>
          </a:xfrm>
          <a:prstGeom prst="rect">
            <a:avLst/>
          </a:prstGeom>
          <a:noFill/>
          <a:ln/>
        </p:spPr>
        <p:txBody>
          <a:bodyPr wrap="square" lIns="0" tIns="0" rIns="0" bIns="0" rtlCol="0" anchor="b"/>
          <a:lstStyle/>
          <a:p>
            <a:pPr indent="0" marL="0">
              <a:buNone/>
            </a:pPr>
            <a:r>
              <a:rPr lang="en-US" sz="2400" b="1" dirty="0">
                <a:solidFill>
                  <a:srgbClr val="C67139"/>
                </a:solidFill>
                <a:latin typeface="Baloo 2" pitchFamily="34" charset="0"/>
                <a:ea typeface="Baloo 2" pitchFamily="34" charset="-122"/>
                <a:cs typeface="Baloo 2" pitchFamily="34" charset="-120"/>
              </a:rPr>
              <a:t>8,29</a:t>
            </a:r>
            <a:pPr indent="0" marL="0">
              <a:buNone/>
            </a:pPr>
            <a:endParaRPr lang="en-US" sz="2400" dirty="0"/>
          </a:p>
        </p:txBody>
      </p:sp>
      <p:sp>
        <p:nvSpPr>
          <p:cNvPr id="11" name="Text 9"/>
          <p:cNvSpPr txBox="1"/>
          <p:nvPr/>
        </p:nvSpPr>
        <p:spPr>
          <a:xfrm>
            <a:off x="3383280" y="3127248"/>
            <a:ext cx="2194560" cy="457200"/>
          </a:xfrm>
          <a:prstGeom prst="rect">
            <a:avLst/>
          </a:prstGeom>
          <a:noFill/>
          <a:ln/>
        </p:spPr>
        <p:txBody>
          <a:bodyPr wrap="square" lIns="0" tIns="0" rIns="0" bIns="0" rtlCol="0" anchor="t"/>
          <a:lstStyle/>
          <a:p>
            <a:pPr indent="0" marL="0">
              <a:lnSpc>
                <a:spcPts val="1500"/>
              </a:lnSpc>
              <a:buNone/>
            </a:pPr>
            <a:r>
              <a:rPr lang="en-US" sz="1150" dirty="0">
                <a:solidFill>
                  <a:srgbClr val="645C50"/>
                </a:solidFill>
                <a:latin typeface="Nunito" pitchFamily="34" charset="0"/>
                <a:ea typeface="Nunito" pitchFamily="34" charset="-122"/>
                <a:cs typeface="Nunito" pitchFamily="34" charset="-120"/>
              </a:rPr>
              <a:t>answerable EM — hầu như</a:t>
            </a:r>
            <a:endParaRPr lang="en-US" sz="1150" dirty="0"/>
          </a:p>
          <a:p>
            <a:pPr indent="0" marL="0">
              <a:lnSpc>
                <a:spcPts val="1500"/>
              </a:lnSpc>
              <a:buNone/>
            </a:pPr>
            <a:r>
              <a:rPr lang="en-US" sz="1150" dirty="0">
                <a:solidFill>
                  <a:srgbClr val="645C50"/>
                </a:solidFill>
                <a:latin typeface="Nunito" pitchFamily="34" charset="0"/>
                <a:ea typeface="Nunito" pitchFamily="34" charset="-122"/>
                <a:cs typeface="Nunito" pitchFamily="34" charset="-120"/>
              </a:rPr>
              <a:t>không tìm được span nào</a:t>
            </a:r>
            <a:endParaRPr lang="en-US" sz="1150" dirty="0"/>
          </a:p>
        </p:txBody>
      </p:sp>
      <p:sp>
        <p:nvSpPr>
          <p:cNvPr id="12" name="Shape 10"/>
          <p:cNvSpPr/>
          <p:nvPr/>
        </p:nvSpPr>
        <p:spPr>
          <a:xfrm>
            <a:off x="5989320" y="1572768"/>
            <a:ext cx="5513832" cy="2176272"/>
          </a:xfrm>
          <a:prstGeom prst="roundRect">
            <a:avLst>
              <a:gd name="adj" fmla="val 6723"/>
            </a:avLst>
          </a:prstGeom>
          <a:solidFill>
            <a:srgbClr val="F0FAE1"/>
          </a:solidFill>
          <a:ln w="12700">
            <a:solidFill>
              <a:srgbClr val="F0FAE1"/>
            </a:solidFill>
            <a:prstDash val="solid"/>
          </a:ln>
          <a:effectLst>
            <a:outerShdw sx="100000" sy="100000" kx="0" ky="0" algn="bl" rotWithShape="0" blurRad="101600" dist="25400" dir="5400000">
              <a:srgbClr val="2E2B25">
                <a:alpha val="12000"/>
              </a:srgbClr>
            </a:outerShdw>
          </a:effectLst>
        </p:spPr>
      </p:sp>
      <p:sp>
        <p:nvSpPr>
          <p:cNvPr id="13" name="Text 11"/>
          <p:cNvSpPr txBox="1"/>
          <p:nvPr/>
        </p:nvSpPr>
        <p:spPr>
          <a:xfrm>
            <a:off x="6281928" y="1719072"/>
            <a:ext cx="4937760" cy="219456"/>
          </a:xfrm>
          <a:prstGeom prst="rect">
            <a:avLst/>
          </a:prstGeom>
          <a:noFill/>
          <a:ln/>
        </p:spPr>
        <p:txBody>
          <a:bodyPr wrap="square" lIns="0" tIns="0" rIns="0" bIns="0" rtlCol="0" anchor="ctr"/>
          <a:lstStyle/>
          <a:p>
            <a:pPr indent="0" marL="0">
              <a:buNone/>
            </a:pPr>
            <a:r>
              <a:rPr lang="en-US" sz="950" b="1" spc="160" kern="0" dirty="0">
                <a:solidFill>
                  <a:srgbClr val="3D472B"/>
                </a:solidFill>
                <a:latin typeface="Nunito" pitchFamily="34" charset="0"/>
                <a:ea typeface="Nunito" pitchFamily="34" charset="-122"/>
                <a:cs typeface="Nunito" pitchFamily="34" charset="-120"/>
              </a:rPr>
              <a:t>NGUYÊN NHÂN: TỪ VỰNG NHỎ CHIA VỤN VĂN BẢN WIKIPEDIA</a:t>
            </a:r>
            <a:endParaRPr lang="en-US" sz="9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281928" y="1993392"/>
          <a:ext cx="4937760" cy="914400"/>
        </p:xfrm>
        <a:graphic>
          <a:graphicData uri="http://schemas.openxmlformats.org/drawingml/2006/table">
            <a:tbl>
              <a:tblPr/>
              <a:tblGrid>
                <a:gridCol w="2468880"/>
                <a:gridCol w="1234440"/>
                <a:gridCol w="1234440"/>
              </a:tblGrid>
              <a:tr h="274320">
                <a:tc>
                  <a:txBody>
                    <a:bodyPr/>
                    <a:lstStyle/>
                    <a:p>
                      <a:pPr algn="l" indent="0" marL="0">
                        <a:buNone/>
                      </a:pPr>
                      <a:endParaRPr lang="en-US" sz="80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800" b="1" spc="120" kern="0" dirty="0">
                          <a:solidFill>
                            <a:srgbClr val="645C50"/>
                          </a:solidFill>
                          <a:latin typeface="Nunito" pitchFamily="34" charset="0"/>
                          <a:ea typeface="Nunito" pitchFamily="34" charset="-122"/>
                          <a:cs typeface="Nunito" pitchFamily="34" charset="-120"/>
                        </a:rPr>
                        <a:t>MBERT</a:t>
                      </a:r>
                      <a:endParaRPr lang="en-US" sz="80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800" b="1" spc="120" kern="0" dirty="0">
                          <a:solidFill>
                            <a:srgbClr val="645C50"/>
                          </a:solidFill>
                          <a:latin typeface="Nunito" pitchFamily="34" charset="0"/>
                          <a:ea typeface="Nunito" pitchFamily="34" charset="-122"/>
                          <a:cs typeface="Nunito" pitchFamily="34" charset="-120"/>
                        </a:rPr>
                        <a:t>VISOBERT</a:t>
                      </a:r>
                      <a:endParaRPr lang="en-US" sz="80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r>
              <a:tr h="274320">
                <a:tc>
                  <a:txBody>
                    <a:bodyPr/>
                    <a:lstStyle/>
                    <a:p>
                      <a:pPr algn="l" indent="0" marL="0">
                        <a:buNone/>
                      </a:pPr>
                      <a:r>
                        <a:rPr lang="en-US" sz="1050" dirty="0">
                          <a:solidFill>
                            <a:srgbClr val="201E1D"/>
                          </a:solidFill>
                          <a:latin typeface="Nunito" pitchFamily="34" charset="0"/>
                          <a:ea typeface="Nunito" pitchFamily="34" charset="-122"/>
                          <a:cs typeface="Nunito" pitchFamily="34" charset="-120"/>
                        </a:rPr>
                        <a:t>vocab</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119.547</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b="1" dirty="0">
                          <a:solidFill>
                            <a:srgbClr val="8C491A"/>
                          </a:solidFill>
                          <a:latin typeface="Nunito" pitchFamily="34" charset="0"/>
                          <a:ea typeface="Nunito" pitchFamily="34" charset="-122"/>
                          <a:cs typeface="Nunito" pitchFamily="34" charset="-120"/>
                        </a:rPr>
                        <a:t>15.002</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74320">
                <a:tc>
                  <a:txBody>
                    <a:bodyPr/>
                    <a:lstStyle/>
                    <a:p>
                      <a:pPr algn="l" indent="0" marL="0">
                        <a:buNone/>
                      </a:pPr>
                      <a:r>
                        <a:rPr lang="en-US" sz="1050" dirty="0">
                          <a:solidFill>
                            <a:srgbClr val="201E1D"/>
                          </a:solidFill>
                          <a:latin typeface="Nunito" pitchFamily="34" charset="0"/>
                          <a:ea typeface="Nunito" pitchFamily="34" charset="-122"/>
                          <a:cs typeface="Nunito" pitchFamily="34" charset="-120"/>
                        </a:rPr>
                        <a:t>“Hà Nội là thủ đô…” → số token</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17 token</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b="1" dirty="0">
                          <a:solidFill>
                            <a:srgbClr val="8C491A"/>
                          </a:solidFill>
                          <a:latin typeface="Nunito" pitchFamily="34" charset="0"/>
                          <a:ea typeface="Nunito" pitchFamily="34" charset="-122"/>
                          <a:cs typeface="Nunito" pitchFamily="34" charset="-120"/>
                        </a:rPr>
                        <a:t>23 token</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74320">
                <a:tc>
                  <a:txBody>
                    <a:bodyPr/>
                    <a:lstStyle/>
                    <a:p>
                      <a:pPr algn="l" indent="0" marL="0">
                        <a:buNone/>
                      </a:pPr>
                      <a:r>
                        <a:rPr lang="en-US" sz="1050" dirty="0">
                          <a:solidFill>
                            <a:srgbClr val="201E1D"/>
                          </a:solidFill>
                          <a:latin typeface="Nunito" pitchFamily="34" charset="0"/>
                          <a:ea typeface="Nunito" pitchFamily="34" charset="-122"/>
                          <a:cs typeface="Nunito" pitchFamily="34" charset="-120"/>
                        </a:rPr>
                        <a:t>context validation, TB (token)</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204,6</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b="1" dirty="0">
                          <a:solidFill>
                            <a:srgbClr val="8C491A"/>
                          </a:solidFill>
                          <a:latin typeface="Nunito" pitchFamily="34" charset="0"/>
                          <a:ea typeface="Nunito" pitchFamily="34" charset="-122"/>
                          <a:cs typeface="Nunito" pitchFamily="34" charset="-120"/>
                        </a:rPr>
                        <a:t>326,5</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274320">
                <a:tc>
                  <a:txBody>
                    <a:bodyPr/>
                    <a:lstStyle/>
                    <a:p>
                      <a:pPr algn="l" indent="0" marL="0">
                        <a:buNone/>
                      </a:pPr>
                      <a:r>
                        <a:rPr lang="en-US" sz="1050" dirty="0">
                          <a:solidFill>
                            <a:srgbClr val="201E1D"/>
                          </a:solidFill>
                          <a:latin typeface="Nunito" pitchFamily="34" charset="0"/>
                          <a:ea typeface="Nunito" pitchFamily="34" charset="-122"/>
                          <a:cs typeface="Nunito" pitchFamily="34" charset="-120"/>
                        </a:rPr>
                        <a:t>context &gt; 357 token</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dirty="0">
                          <a:solidFill>
                            <a:srgbClr val="201E1D"/>
                          </a:solidFill>
                          <a:latin typeface="Nunito" pitchFamily="34" charset="0"/>
                          <a:ea typeface="Nunito" pitchFamily="34" charset="-122"/>
                          <a:cs typeface="Nunito" pitchFamily="34" charset="-120"/>
                        </a:rPr>
                        <a:t>16 / 557</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050" b="1" dirty="0">
                          <a:solidFill>
                            <a:srgbClr val="8C491A"/>
                          </a:solidFill>
                          <a:latin typeface="Nunito" pitchFamily="34" charset="0"/>
                          <a:ea typeface="Nunito" pitchFamily="34" charset="-122"/>
                          <a:cs typeface="Nunito" pitchFamily="34" charset="-120"/>
                        </a:rPr>
                        <a:t>154 / 557</a:t>
                      </a:r>
                      <a:endParaRPr lang="en-US" sz="10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bl>
          </a:graphicData>
        </a:graphic>
      </p:graphicFrame>
      <p:sp>
        <p:nvSpPr>
          <p:cNvPr id="15" name="Text 12"/>
          <p:cNvSpPr txBox="1"/>
          <p:nvPr/>
        </p:nvSpPr>
        <p:spPr>
          <a:xfrm>
            <a:off x="6281928" y="3255264"/>
            <a:ext cx="4937760" cy="548640"/>
          </a:xfrm>
          <a:prstGeom prst="rect">
            <a:avLst/>
          </a:prstGeom>
          <a:noFill/>
          <a:ln/>
        </p:spPr>
        <p:txBody>
          <a:bodyPr wrap="square" lIns="0" tIns="0" rIns="0" bIns="0" rtlCol="0" anchor="t"/>
          <a:lstStyle/>
          <a:p>
            <a:pPr algn="l" indent="0" marL="0">
              <a:lnSpc>
                <a:spcPts val="1450"/>
              </a:lnSpc>
              <a:buNone/>
            </a:pPr>
            <a:r>
              <a:rPr lang="en-US" sz="1000" i="1" dirty="0">
                <a:solidFill>
                  <a:srgbClr val="3D472B"/>
                </a:solidFill>
                <a:latin typeface="Nunito" pitchFamily="34" charset="0"/>
                <a:ea typeface="Nunito" pitchFamily="34" charset="-122"/>
                <a:cs typeface="Nunito" pitchFamily="34" charset="-120"/>
              </a:rPr>
              <a:t>Suy luận trả RỖNG chỉ khi MỌI cửa sổ đều chọn null — cửa sổ nhiều hơn làm GIẢM tỉ lệ rỗng, không phải tăng. Nguyên nhân thật nằm ở HUẤN LUYỆN: 49,30% cửa sổ train của ViSoBERT mang nhãn null, so với 36,16% của mBERT.</a:t>
            </a:r>
            <a:endParaRPr lang="en-US" sz="1000" dirty="0"/>
          </a:p>
        </p:txBody>
      </p:sp>
      <p:sp>
        <p:nvSpPr>
          <p:cNvPr id="16" name="Shape 13"/>
          <p:cNvSpPr/>
          <p:nvPr/>
        </p:nvSpPr>
        <p:spPr>
          <a:xfrm>
            <a:off x="685800" y="3840480"/>
            <a:ext cx="10820095" cy="1234440"/>
          </a:xfrm>
          <a:prstGeom prst="roundRect">
            <a:avLst>
              <a:gd name="adj" fmla="val 11852"/>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17" name="Text 14"/>
          <p:cNvSpPr txBox="1"/>
          <p:nvPr/>
        </p:nvSpPr>
        <p:spPr>
          <a:xfrm>
            <a:off x="978408" y="3950208"/>
            <a:ext cx="5486400" cy="219456"/>
          </a:xfrm>
          <a:prstGeom prst="rect">
            <a:avLst/>
          </a:prstGeom>
          <a:noFill/>
          <a:ln/>
        </p:spPr>
        <p:txBody>
          <a:bodyPr wrap="square" lIns="0" tIns="0" rIns="0" bIns="0" rtlCol="0" anchor="ctr"/>
          <a:lstStyle/>
          <a:p>
            <a:pPr indent="0" marL="0">
              <a:buNone/>
            </a:pPr>
            <a:r>
              <a:rPr lang="en-US" sz="950" b="1" spc="160" kern="0" dirty="0">
                <a:solidFill>
                  <a:srgbClr val="C67139"/>
                </a:solidFill>
                <a:latin typeface="Nunito" pitchFamily="34" charset="0"/>
                <a:ea typeface="Nunito" pitchFamily="34" charset="-122"/>
                <a:cs typeface="Nunito" pitchFamily="34" charset="-120"/>
              </a:rPr>
              <a:t>BỐN YẾU TỐ ĐÃ ĐỦ ĐỂ GIẢI THÍCH SỰ SUY SỤP</a:t>
            </a:r>
            <a:endParaRPr lang="en-US" sz="950" dirty="0"/>
          </a:p>
        </p:txBody>
      </p:sp>
      <p:sp>
        <p:nvSpPr>
          <p:cNvPr id="18" name="Text 15"/>
          <p:cNvSpPr txBox="1"/>
          <p:nvPr/>
        </p:nvSpPr>
        <p:spPr>
          <a:xfrm>
            <a:off x="978408" y="4187952"/>
            <a:ext cx="2468880" cy="274320"/>
          </a:xfrm>
          <a:prstGeom prst="rect">
            <a:avLst/>
          </a:prstGeom>
          <a:noFill/>
          <a:ln/>
        </p:spPr>
        <p:txBody>
          <a:bodyPr wrap="square" lIns="0" tIns="0" rIns="0" bIns="0" rtlCol="0" anchor="t"/>
          <a:lstStyle/>
          <a:p>
            <a:pPr algn="l" indent="0" marL="0">
              <a:lnSpc>
                <a:spcPts val="1668"/>
              </a:lnSpc>
              <a:buNone/>
            </a:pPr>
            <a:r>
              <a:rPr lang="en-US" sz="1150" b="1" dirty="0">
                <a:solidFill>
                  <a:srgbClr val="8C491A"/>
                </a:solidFill>
                <a:latin typeface="Nunito" pitchFamily="34" charset="0"/>
                <a:ea typeface="Nunito" pitchFamily="34" charset="-122"/>
                <a:cs typeface="Nunito" pitchFamily="34" charset="-120"/>
              </a:rPr>
              <a:t>max_length = 384 chưa chỉnh</a:t>
            </a:r>
            <a:endParaRPr lang="en-US" sz="1150" dirty="0"/>
          </a:p>
        </p:txBody>
      </p:sp>
      <p:sp>
        <p:nvSpPr>
          <p:cNvPr id="19" name="Text 16"/>
          <p:cNvSpPr txBox="1"/>
          <p:nvPr/>
        </p:nvSpPr>
        <p:spPr>
          <a:xfrm>
            <a:off x="978408" y="4443984"/>
            <a:ext cx="2468880" cy="457200"/>
          </a:xfrm>
          <a:prstGeom prst="rect">
            <a:avLst/>
          </a:prstGeom>
          <a:noFill/>
          <a:ln/>
        </p:spPr>
        <p:txBody>
          <a:bodyPr wrap="square" lIns="0" tIns="0" rIns="0" bIns="0" rtlCol="0" anchor="t"/>
          <a:lstStyle/>
          <a:p>
            <a:pPr algn="l" indent="0" marL="0">
              <a:lnSpc>
                <a:spcPts val="1450"/>
              </a:lnSpc>
              <a:buNone/>
            </a:pPr>
            <a:r>
              <a:rPr lang="en-US" sz="1000" dirty="0">
                <a:solidFill>
                  <a:srgbClr val="8C491A"/>
                </a:solidFill>
                <a:latin typeface="Nunito" pitchFamily="34" charset="0"/>
                <a:ea typeface="Nunito" pitchFamily="34" charset="-122"/>
                <a:cs typeface="Nunito" pitchFamily="34" charset="-120"/>
              </a:rPr>
              <a:t>CHƯA bù trừ — yếu tố mạnh nhất</a:t>
            </a:r>
            <a:endParaRPr lang="en-US" sz="1000" dirty="0"/>
          </a:p>
        </p:txBody>
      </p:sp>
      <p:sp>
        <p:nvSpPr>
          <p:cNvPr id="20" name="Text 17"/>
          <p:cNvSpPr txBox="1"/>
          <p:nvPr/>
        </p:nvSpPr>
        <p:spPr>
          <a:xfrm>
            <a:off x="3602736" y="4187952"/>
            <a:ext cx="2468880" cy="274320"/>
          </a:xfrm>
          <a:prstGeom prst="rect">
            <a:avLst/>
          </a:prstGeom>
          <a:noFill/>
          <a:ln/>
        </p:spPr>
        <p:txBody>
          <a:bodyPr wrap="square" lIns="0" tIns="0" rIns="0" bIns="0" rtlCol="0" anchor="t"/>
          <a:lstStyle/>
          <a:p>
            <a:pPr algn="l" indent="0" marL="0">
              <a:lnSpc>
                <a:spcPts val="1668"/>
              </a:lnSpc>
              <a:buNone/>
            </a:pPr>
            <a:r>
              <a:rPr lang="en-US" sz="1150" b="1" dirty="0">
                <a:solidFill>
                  <a:srgbClr val="201E1D"/>
                </a:solidFill>
                <a:latin typeface="Nunito" pitchFamily="34" charset="0"/>
                <a:ea typeface="Nunito" pitchFamily="34" charset="-122"/>
                <a:cs typeface="Nunito" pitchFamily="34" charset="-120"/>
              </a:rPr>
              <a:t>loss chưa hội tụ</a:t>
            </a:r>
            <a:endParaRPr lang="en-US" sz="1150" dirty="0"/>
          </a:p>
        </p:txBody>
      </p:sp>
      <p:sp>
        <p:nvSpPr>
          <p:cNvPr id="21" name="Text 18"/>
          <p:cNvSpPr txBox="1"/>
          <p:nvPr/>
        </p:nvSpPr>
        <p:spPr>
          <a:xfrm>
            <a:off x="3602736" y="4443984"/>
            <a:ext cx="2468880" cy="457200"/>
          </a:xfrm>
          <a:prstGeom prst="rect">
            <a:avLst/>
          </a:prstGeom>
          <a:noFill/>
          <a:ln/>
        </p:spPr>
        <p:txBody>
          <a:bodyPr wrap="square" lIns="0" tIns="0" rIns="0" bIns="0" rtlCol="0" anchor="t"/>
          <a:lstStyle/>
          <a:p>
            <a:pPr algn="l" indent="0" marL="0">
              <a:lnSpc>
                <a:spcPts val="1450"/>
              </a:lnSpc>
              <a:buNone/>
            </a:pPr>
            <a:r>
              <a:rPr lang="en-US" sz="1000" dirty="0">
                <a:solidFill>
                  <a:srgbClr val="645C50"/>
                </a:solidFill>
                <a:latin typeface="Nunito" pitchFamily="34" charset="0"/>
                <a:ea typeface="Nunito" pitchFamily="34" charset="-122"/>
                <a:cs typeface="Nunito" pitchFamily="34" charset="-120"/>
              </a:rPr>
              <a:t>2,19 sau 3 epoch (mBERT 1,30 sau 2)</a:t>
            </a:r>
            <a:endParaRPr lang="en-US" sz="1000" dirty="0"/>
          </a:p>
        </p:txBody>
      </p:sp>
      <p:sp>
        <p:nvSpPr>
          <p:cNvPr id="22" name="Text 19"/>
          <p:cNvSpPr txBox="1"/>
          <p:nvPr/>
        </p:nvSpPr>
        <p:spPr>
          <a:xfrm>
            <a:off x="6227064" y="4187952"/>
            <a:ext cx="2468880" cy="274320"/>
          </a:xfrm>
          <a:prstGeom prst="rect">
            <a:avLst/>
          </a:prstGeom>
          <a:noFill/>
          <a:ln/>
        </p:spPr>
        <p:txBody>
          <a:bodyPr wrap="square" lIns="0" tIns="0" rIns="0" bIns="0" rtlCol="0" anchor="t"/>
          <a:lstStyle/>
          <a:p>
            <a:pPr algn="l" indent="0" marL="0">
              <a:lnSpc>
                <a:spcPts val="1668"/>
              </a:lnSpc>
              <a:buNone/>
            </a:pPr>
            <a:r>
              <a:rPr lang="en-US" sz="1150" b="1" dirty="0">
                <a:solidFill>
                  <a:srgbClr val="201E1D"/>
                </a:solidFill>
                <a:latin typeface="Nunito" pitchFamily="34" charset="0"/>
                <a:ea typeface="Nunito" pitchFamily="34" charset="-122"/>
                <a:cs typeface="Nunito" pitchFamily="34" charset="-120"/>
              </a:rPr>
              <a:t>KHÔNG phải “sức chứa nhỏ hơn 45%”</a:t>
            </a:r>
            <a:endParaRPr lang="en-US" sz="1150" dirty="0"/>
          </a:p>
        </p:txBody>
      </p:sp>
      <p:sp>
        <p:nvSpPr>
          <p:cNvPr id="23" name="Text 20"/>
          <p:cNvSpPr txBox="1"/>
          <p:nvPr/>
        </p:nvSpPr>
        <p:spPr>
          <a:xfrm>
            <a:off x="6227064" y="4443984"/>
            <a:ext cx="2468880" cy="457200"/>
          </a:xfrm>
          <a:prstGeom prst="rect">
            <a:avLst/>
          </a:prstGeom>
          <a:noFill/>
          <a:ln/>
        </p:spPr>
        <p:txBody>
          <a:bodyPr wrap="square" lIns="0" tIns="0" rIns="0" bIns="0" rtlCol="0" anchor="t"/>
          <a:lstStyle/>
          <a:p>
            <a:pPr algn="l" indent="0" marL="0">
              <a:lnSpc>
                <a:spcPts val="1450"/>
              </a:lnSpc>
              <a:buNone/>
            </a:pPr>
            <a:r>
              <a:rPr lang="en-US" sz="1000" dirty="0">
                <a:solidFill>
                  <a:srgbClr val="645C50"/>
                </a:solidFill>
                <a:latin typeface="Nunito" pitchFamily="34" charset="0"/>
                <a:ea typeface="Nunito" pitchFamily="34" charset="-122"/>
                <a:cs typeface="Nunito" pitchFamily="34" charset="-120"/>
              </a:rPr>
              <a:t>cùng thân encoder ~85,1 M — khác ở bảng embedding: 91,8 M (mBERT) so với 11,5 M (ViSoBERT)</a:t>
            </a:r>
            <a:endParaRPr lang="en-US" sz="1000" dirty="0"/>
          </a:p>
        </p:txBody>
      </p:sp>
      <p:sp>
        <p:nvSpPr>
          <p:cNvPr id="24" name="Text 21"/>
          <p:cNvSpPr txBox="1"/>
          <p:nvPr/>
        </p:nvSpPr>
        <p:spPr>
          <a:xfrm>
            <a:off x="8851392" y="4187952"/>
            <a:ext cx="2468880" cy="274320"/>
          </a:xfrm>
          <a:prstGeom prst="rect">
            <a:avLst/>
          </a:prstGeom>
          <a:noFill/>
          <a:ln/>
        </p:spPr>
        <p:txBody>
          <a:bodyPr wrap="square" lIns="0" tIns="0" rIns="0" bIns="0" rtlCol="0" anchor="t"/>
          <a:lstStyle/>
          <a:p>
            <a:pPr algn="l" indent="0" marL="0">
              <a:lnSpc>
                <a:spcPts val="1668"/>
              </a:lnSpc>
              <a:buNone/>
            </a:pPr>
            <a:r>
              <a:rPr lang="en-US" sz="1150" b="1" dirty="0">
                <a:solidFill>
                  <a:srgbClr val="201E1D"/>
                </a:solidFill>
                <a:latin typeface="Nunito" pitchFamily="34" charset="0"/>
                <a:ea typeface="Nunito" pitchFamily="34" charset="-122"/>
                <a:cs typeface="Nunito" pitchFamily="34" charset="-120"/>
              </a:rPr>
              <a:t>mất cân bằng lớp</a:t>
            </a:r>
            <a:endParaRPr lang="en-US" sz="1150" dirty="0"/>
          </a:p>
        </p:txBody>
      </p:sp>
      <p:sp>
        <p:nvSpPr>
          <p:cNvPr id="25" name="Text 22"/>
          <p:cNvSpPr txBox="1"/>
          <p:nvPr/>
        </p:nvSpPr>
        <p:spPr>
          <a:xfrm>
            <a:off x="8851392" y="4443984"/>
            <a:ext cx="2468880" cy="457200"/>
          </a:xfrm>
          <a:prstGeom prst="rect">
            <a:avLst/>
          </a:prstGeom>
          <a:noFill/>
          <a:ln/>
        </p:spPr>
        <p:txBody>
          <a:bodyPr wrap="square" lIns="0" tIns="0" rIns="0" bIns="0" rtlCol="0" anchor="t"/>
          <a:lstStyle/>
          <a:p>
            <a:pPr algn="l" indent="0" marL="0">
              <a:lnSpc>
                <a:spcPts val="1450"/>
              </a:lnSpc>
              <a:buNone/>
            </a:pPr>
            <a:r>
              <a:rPr lang="en-US" sz="1000" dirty="0">
                <a:solidFill>
                  <a:srgbClr val="645C50"/>
                </a:solidFill>
                <a:latin typeface="Nunito" pitchFamily="34" charset="0"/>
                <a:ea typeface="Nunito" pitchFamily="34" charset="-122"/>
                <a:cs typeface="Nunito" pitchFamily="34" charset="-120"/>
              </a:rPr>
              <a:t>32,39% impossible ⇒ hố “luôn trả rỗng”</a:t>
            </a:r>
            <a:endParaRPr lang="en-US" sz="1000" dirty="0"/>
          </a:p>
        </p:txBody>
      </p:sp>
      <p:sp>
        <p:nvSpPr>
          <p:cNvPr id="26" name="Text 23"/>
          <p:cNvSpPr txBox="1"/>
          <p:nvPr/>
        </p:nvSpPr>
        <p:spPr>
          <a:xfrm>
            <a:off x="978408" y="4791456"/>
            <a:ext cx="10241280" cy="256032"/>
          </a:xfrm>
          <a:prstGeom prst="rect">
            <a:avLst/>
          </a:prstGeom>
          <a:noFill/>
          <a:ln/>
        </p:spPr>
        <p:txBody>
          <a:bodyPr wrap="square" lIns="0" tIns="0" rIns="0" bIns="0" rtlCol="0" anchor="t"/>
          <a:lstStyle/>
          <a:p>
            <a:pPr algn="l" indent="0" marL="0">
              <a:lnSpc>
                <a:spcPts val="1523"/>
              </a:lnSpc>
              <a:buNone/>
            </a:pPr>
            <a:r>
              <a:rPr lang="en-US" sz="1050" b="1" dirty="0">
                <a:solidFill>
                  <a:srgbClr val="8C491A"/>
                </a:solidFill>
                <a:latin typeface="Nunito" pitchFamily="34" charset="0"/>
                <a:ea typeface="Nunito" pitchFamily="34" charset="-122"/>
                <a:cs typeface="Nunito" pitchFamily="34" charset="-120"/>
              </a:rPr>
              <a:t>Nói rõ cho công bằng: L_max (độ dài ĐÁP ÁN) ĐÃ được bù, 30 → 64 — trục CHƯA bù là max_length. Hai tham số rất dễ nói lẫn.</a:t>
            </a:r>
            <a:endParaRPr lang="en-US" sz="1050" dirty="0"/>
          </a:p>
        </p:txBody>
      </p:sp>
      <p:sp>
        <p:nvSpPr>
          <p:cNvPr id="27" name="Shape 24"/>
          <p:cNvSpPr/>
          <p:nvPr/>
        </p:nvSpPr>
        <p:spPr>
          <a:xfrm>
            <a:off x="685800" y="5166360"/>
            <a:ext cx="10820095" cy="1051560"/>
          </a:xfrm>
          <a:prstGeom prst="roundRect">
            <a:avLst>
              <a:gd name="adj" fmla="val 13913"/>
            </a:avLst>
          </a:prstGeom>
          <a:solidFill>
            <a:srgbClr val="FFF2EB"/>
          </a:solidFill>
          <a:ln w="12700">
            <a:solidFill>
              <a:srgbClr val="FFF2EB"/>
            </a:solidFill>
            <a:prstDash val="solid"/>
          </a:ln>
        </p:spPr>
      </p:sp>
      <p:sp>
        <p:nvSpPr>
          <p:cNvPr id="28" name="Text 25"/>
          <p:cNvSpPr txBox="1"/>
          <p:nvPr/>
        </p:nvSpPr>
        <p:spPr>
          <a:xfrm>
            <a:off x="1005840" y="5285232"/>
            <a:ext cx="10180015" cy="310896"/>
          </a:xfrm>
          <a:prstGeom prst="rect">
            <a:avLst/>
          </a:prstGeom>
          <a:noFill/>
          <a:ln/>
        </p:spPr>
        <p:txBody>
          <a:bodyPr wrap="square" lIns="0" tIns="0" rIns="0" bIns="0" rtlCol="0" anchor="t"/>
          <a:lstStyle/>
          <a:p>
            <a:pPr algn="l" indent="0" marL="0">
              <a:lnSpc>
                <a:spcPts val="2103"/>
              </a:lnSpc>
              <a:buNone/>
            </a:pPr>
            <a:r>
              <a:rPr lang="en-US" sz="1450" b="1" dirty="0">
                <a:solidFill>
                  <a:srgbClr val="8C491A"/>
                </a:solidFill>
                <a:latin typeface="Nunito" pitchFamily="34" charset="0"/>
                <a:ea typeface="Nunito" pitchFamily="34" charset="-122"/>
                <a:cs typeface="Nunito" pitchFamily="34" charset="-120"/>
              </a:rPr>
              <a:t>Chưa kết luận được rằng tiền huấn luyện tiếng Việt không mang lại lợi ích.</a:t>
            </a:r>
            <a:endParaRPr lang="en-US" sz="1450" dirty="0"/>
          </a:p>
        </p:txBody>
      </p:sp>
      <p:sp>
        <p:nvSpPr>
          <p:cNvPr id="29" name="Text 26"/>
          <p:cNvSpPr txBox="1"/>
          <p:nvPr/>
        </p:nvSpPr>
        <p:spPr>
          <a:xfrm>
            <a:off x="1005840" y="5568696"/>
            <a:ext cx="10180015" cy="594360"/>
          </a:xfrm>
          <a:prstGeom prst="rect">
            <a:avLst/>
          </a:prstGeom>
          <a:noFill/>
          <a:ln/>
        </p:spPr>
        <p:txBody>
          <a:bodyPr wrap="square" lIns="0" tIns="0" rIns="0" bIns="0" rtlCol="0" anchor="t"/>
          <a:lstStyle/>
          <a:p>
            <a:pPr algn="l" indent="0" marL="0">
              <a:lnSpc>
                <a:spcPts val="1668"/>
              </a:lnSpc>
              <a:buNone/>
            </a:pPr>
            <a:r>
              <a:rPr lang="en-US" sz="1150" dirty="0">
                <a:solidFill>
                  <a:srgbClr val="8C491A"/>
                </a:solidFill>
                <a:latin typeface="Nunito" pitchFamily="34" charset="0"/>
                <a:ea typeface="Nunito" pitchFamily="34" charset="-122"/>
                <a:cs typeface="Nunito" pitchFamily="34" charset="-120"/>
              </a:rPr>
              <a:t>Từ vựng nhỏ chia vụn văn bản Wikipedia và ngân sách cửa sổ không được chỉnh theo — lời giải thích PHÙ HỢP với bằng chứng, chưa phải nhân quả đã chứng minh. ViSoBERT chưa huấn luyện lại sau chẩn đoán, nên 31,99 EM phải đọc như MỘT LẦN HUẤN LUYỆN THẤT BẠI, không phải một phép đo năng lực encoder.</a:t>
            </a:r>
            <a:endParaRPr lang="en-US" sz="1150" dirty="0"/>
          </a:p>
        </p:txBody>
      </p:sp>
      <p:sp>
        <p:nvSpPr>
          <p:cNvPr id="30" name="Text 27"/>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5 · Kết quả · Một ca lỗi được chẩn đoán</a:t>
            </a:r>
            <a:endParaRPr lang="en-US" sz="1000" dirty="0"/>
          </a:p>
        </p:txBody>
      </p:sp>
      <p:sp>
        <p:nvSpPr>
          <p:cNvPr id="31" name="Text 28"/>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6 · ỨNG DỤNG, KẾT LUẬN &amp; HƯỚNG PHÁT TRIỂN</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808"/>
              </a:lnSpc>
              <a:buNone/>
            </a:pPr>
            <a:r>
              <a:rPr lang="en-US" sz="3400" b="1" dirty="0">
                <a:solidFill>
                  <a:srgbClr val="201E1D"/>
                </a:solidFill>
                <a:latin typeface="Baloo 2" pitchFamily="34" charset="0"/>
                <a:ea typeface="Baloo 2" pitchFamily="34" charset="-122"/>
                <a:cs typeface="Baloo 2" pitchFamily="34" charset="-120"/>
              </a:rPr>
              <a:t>Ứng dụng: sáu màn hình, và một lệnh để chấm</a:t>
            </a:r>
            <a:endParaRPr lang="en-US" sz="3400" dirty="0"/>
          </a:p>
        </p:txBody>
      </p:sp>
      <p:sp>
        <p:nvSpPr>
          <p:cNvPr id="4" name="Shape 2"/>
          <p:cNvSpPr/>
          <p:nvPr/>
        </p:nvSpPr>
        <p:spPr>
          <a:xfrm>
            <a:off x="685800" y="1645920"/>
            <a:ext cx="3456432" cy="1024128"/>
          </a:xfrm>
          <a:prstGeom prst="roundRect">
            <a:avLst>
              <a:gd name="adj" fmla="val 14286"/>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5" name="Shape 3"/>
          <p:cNvSpPr/>
          <p:nvPr/>
        </p:nvSpPr>
        <p:spPr>
          <a:xfrm>
            <a:off x="960120" y="1901952"/>
            <a:ext cx="146304" cy="146304"/>
          </a:xfrm>
          <a:prstGeom prst="ellipse">
            <a:avLst/>
          </a:prstGeom>
          <a:solidFill>
            <a:srgbClr val="C67139"/>
          </a:solidFill>
          <a:ln w="12700">
            <a:solidFill>
              <a:srgbClr val="C67139"/>
            </a:solidFill>
            <a:prstDash val="solid"/>
          </a:ln>
        </p:spPr>
      </p:sp>
      <p:sp>
        <p:nvSpPr>
          <p:cNvPr id="6" name="Text 4"/>
          <p:cNvSpPr txBox="1"/>
          <p:nvPr/>
        </p:nvSpPr>
        <p:spPr>
          <a:xfrm>
            <a:off x="1216152" y="1792224"/>
            <a:ext cx="1828800" cy="310896"/>
          </a:xfrm>
          <a:prstGeom prst="rect">
            <a:avLst/>
          </a:prstGeom>
          <a:noFill/>
          <a:ln/>
        </p:spPr>
        <p:txBody>
          <a:bodyPr wrap="square" lIns="0" tIns="0" rIns="0" bIns="0" rtlCol="0" anchor="ctr"/>
          <a:lstStyle/>
          <a:p>
            <a:pPr indent="0" marL="0">
              <a:buNone/>
            </a:pPr>
            <a:r>
              <a:rPr lang="en-US" sz="1500" b="1" dirty="0">
                <a:solidFill>
                  <a:srgbClr val="201E1D"/>
                </a:solidFill>
                <a:latin typeface="Baloo 2" pitchFamily="34" charset="0"/>
                <a:ea typeface="Baloo 2" pitchFamily="34" charset="-122"/>
                <a:cs typeface="Baloo 2" pitchFamily="34" charset="-120"/>
              </a:rPr>
              <a:t>Hỏi đáp</a:t>
            </a:r>
            <a:endParaRPr lang="en-US" sz="1500" dirty="0"/>
          </a:p>
        </p:txBody>
      </p:sp>
      <p:sp>
        <p:nvSpPr>
          <p:cNvPr id="7" name="Text 5"/>
          <p:cNvSpPr txBox="1"/>
          <p:nvPr/>
        </p:nvSpPr>
        <p:spPr>
          <a:xfrm>
            <a:off x="2880360" y="1792224"/>
            <a:ext cx="1097280" cy="310896"/>
          </a:xfrm>
          <a:prstGeom prst="rect">
            <a:avLst/>
          </a:prstGeom>
          <a:noFill/>
          <a:ln/>
        </p:spPr>
        <p:txBody>
          <a:bodyPr wrap="square" lIns="0" tIns="0" rIns="0" bIns="0" rtlCol="0" anchor="ctr"/>
          <a:lstStyle/>
          <a:p>
            <a:pPr algn="r" indent="0" marL="0">
              <a:buNone/>
            </a:pPr>
            <a:r>
              <a:rPr lang="en-US" sz="950" dirty="0">
                <a:solidFill>
                  <a:srgbClr val="645C50"/>
                </a:solidFill>
                <a:latin typeface="Courier New" pitchFamily="34" charset="0"/>
                <a:ea typeface="Courier New" pitchFamily="34" charset="-122"/>
                <a:cs typeface="Courier New" pitchFamily="34" charset="-120"/>
              </a:rPr>
              <a:t>/</a:t>
            </a:r>
            <a:endParaRPr lang="en-US" sz="950" dirty="0"/>
          </a:p>
        </p:txBody>
      </p:sp>
      <p:sp>
        <p:nvSpPr>
          <p:cNvPr id="8" name="Text 6"/>
          <p:cNvSpPr txBox="1"/>
          <p:nvPr/>
        </p:nvSpPr>
        <p:spPr>
          <a:xfrm>
            <a:off x="960120" y="2148840"/>
            <a:ext cx="2926080" cy="457200"/>
          </a:xfrm>
          <a:prstGeom prst="rect">
            <a:avLst/>
          </a:prstGeom>
          <a:noFill/>
          <a:ln/>
        </p:spPr>
        <p:txBody>
          <a:bodyPr wrap="square" lIns="0" tIns="0" rIns="0" bIns="0" rtlCol="0" anchor="t"/>
          <a:lstStyle/>
          <a:p>
            <a:pPr algn="l" indent="0" marL="0">
              <a:lnSpc>
                <a:spcPts val="1523"/>
              </a:lnSpc>
              <a:buNone/>
            </a:pPr>
            <a:r>
              <a:rPr lang="en-US" sz="1050" dirty="0">
                <a:solidFill>
                  <a:srgbClr val="645C50"/>
                </a:solidFill>
                <a:latin typeface="Nunito" pitchFamily="34" charset="0"/>
                <a:ea typeface="Nunito" pitchFamily="34" charset="-122"/>
                <a:cs typeface="Nunito" pitchFamily="34" charset="-120"/>
              </a:rPr>
              <a:t>nhập câu hỏi, kéo ngưỡng, xem span + bằng chứng</a:t>
            </a:r>
            <a:endParaRPr lang="en-US" sz="1050" dirty="0"/>
          </a:p>
        </p:txBody>
      </p:sp>
      <p:sp>
        <p:nvSpPr>
          <p:cNvPr id="9" name="Shape 7"/>
          <p:cNvSpPr/>
          <p:nvPr/>
        </p:nvSpPr>
        <p:spPr>
          <a:xfrm>
            <a:off x="4361688" y="1645920"/>
            <a:ext cx="3456432" cy="1024128"/>
          </a:xfrm>
          <a:prstGeom prst="roundRect">
            <a:avLst>
              <a:gd name="adj" fmla="val 14286"/>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10" name="Shape 8"/>
          <p:cNvSpPr/>
          <p:nvPr/>
        </p:nvSpPr>
        <p:spPr>
          <a:xfrm>
            <a:off x="4636008" y="1901952"/>
            <a:ext cx="146304" cy="146304"/>
          </a:xfrm>
          <a:prstGeom prst="ellipse">
            <a:avLst/>
          </a:prstGeom>
          <a:solidFill>
            <a:srgbClr val="7A8A5E"/>
          </a:solidFill>
          <a:ln w="12700">
            <a:solidFill>
              <a:srgbClr val="7A8A5E"/>
            </a:solidFill>
            <a:prstDash val="solid"/>
          </a:ln>
        </p:spPr>
      </p:sp>
      <p:sp>
        <p:nvSpPr>
          <p:cNvPr id="11" name="Text 9"/>
          <p:cNvSpPr txBox="1"/>
          <p:nvPr/>
        </p:nvSpPr>
        <p:spPr>
          <a:xfrm>
            <a:off x="4892040" y="1792224"/>
            <a:ext cx="1828800" cy="310896"/>
          </a:xfrm>
          <a:prstGeom prst="rect">
            <a:avLst/>
          </a:prstGeom>
          <a:noFill/>
          <a:ln/>
        </p:spPr>
        <p:txBody>
          <a:bodyPr wrap="square" lIns="0" tIns="0" rIns="0" bIns="0" rtlCol="0" anchor="ctr"/>
          <a:lstStyle/>
          <a:p>
            <a:pPr indent="0" marL="0">
              <a:buNone/>
            </a:pPr>
            <a:r>
              <a:rPr lang="en-US" sz="1500" b="1" dirty="0">
                <a:solidFill>
                  <a:srgbClr val="201E1D"/>
                </a:solidFill>
                <a:latin typeface="Baloo 2" pitchFamily="34" charset="0"/>
                <a:ea typeface="Baloo 2" pitchFamily="34" charset="-122"/>
                <a:cs typeface="Baloo 2" pitchFamily="34" charset="-120"/>
              </a:rPr>
              <a:t>Kết quả</a:t>
            </a:r>
            <a:endParaRPr lang="en-US" sz="1500" dirty="0"/>
          </a:p>
        </p:txBody>
      </p:sp>
      <p:sp>
        <p:nvSpPr>
          <p:cNvPr id="12" name="Text 10"/>
          <p:cNvSpPr txBox="1"/>
          <p:nvPr/>
        </p:nvSpPr>
        <p:spPr>
          <a:xfrm>
            <a:off x="6556248" y="1792224"/>
            <a:ext cx="1097280" cy="310896"/>
          </a:xfrm>
          <a:prstGeom prst="rect">
            <a:avLst/>
          </a:prstGeom>
          <a:noFill/>
          <a:ln/>
        </p:spPr>
        <p:txBody>
          <a:bodyPr wrap="square" lIns="0" tIns="0" rIns="0" bIns="0" rtlCol="0" anchor="ctr"/>
          <a:lstStyle/>
          <a:p>
            <a:pPr algn="r" indent="0" marL="0">
              <a:buNone/>
            </a:pPr>
            <a:r>
              <a:rPr lang="en-US" sz="950" dirty="0">
                <a:solidFill>
                  <a:srgbClr val="645C50"/>
                </a:solidFill>
                <a:latin typeface="Courier New" pitchFamily="34" charset="0"/>
                <a:ea typeface="Courier New" pitchFamily="34" charset="-122"/>
                <a:cs typeface="Courier New" pitchFamily="34" charset="-120"/>
              </a:rPr>
              <a:t>/ket-qua</a:t>
            </a:r>
            <a:endParaRPr lang="en-US" sz="950" dirty="0"/>
          </a:p>
        </p:txBody>
      </p:sp>
      <p:sp>
        <p:nvSpPr>
          <p:cNvPr id="13" name="Text 11"/>
          <p:cNvSpPr txBox="1"/>
          <p:nvPr/>
        </p:nvSpPr>
        <p:spPr>
          <a:xfrm>
            <a:off x="4636008" y="2148840"/>
            <a:ext cx="2926080" cy="457200"/>
          </a:xfrm>
          <a:prstGeom prst="rect">
            <a:avLst/>
          </a:prstGeom>
          <a:noFill/>
          <a:ln/>
        </p:spPr>
        <p:txBody>
          <a:bodyPr wrap="square" lIns="0" tIns="0" rIns="0" bIns="0" rtlCol="0" anchor="t"/>
          <a:lstStyle/>
          <a:p>
            <a:pPr algn="l" indent="0" marL="0">
              <a:lnSpc>
                <a:spcPts val="1523"/>
              </a:lnSpc>
              <a:buNone/>
            </a:pPr>
            <a:r>
              <a:rPr lang="en-US" sz="1050" dirty="0">
                <a:solidFill>
                  <a:srgbClr val="645C50"/>
                </a:solidFill>
                <a:latin typeface="Nunito" pitchFamily="34" charset="0"/>
                <a:ea typeface="Nunito" pitchFamily="34" charset="-122"/>
                <a:cs typeface="Nunito" pitchFamily="34" charset="-120"/>
              </a:rPr>
              <a:t>bảng EM/F1, breakdown, provenance</a:t>
            </a:r>
            <a:endParaRPr lang="en-US" sz="1050" dirty="0"/>
          </a:p>
        </p:txBody>
      </p:sp>
      <p:sp>
        <p:nvSpPr>
          <p:cNvPr id="14" name="Shape 12"/>
          <p:cNvSpPr/>
          <p:nvPr/>
        </p:nvSpPr>
        <p:spPr>
          <a:xfrm>
            <a:off x="8037576" y="1645920"/>
            <a:ext cx="3456432" cy="1024128"/>
          </a:xfrm>
          <a:prstGeom prst="roundRect">
            <a:avLst>
              <a:gd name="adj" fmla="val 14286"/>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15" name="Shape 13"/>
          <p:cNvSpPr/>
          <p:nvPr/>
        </p:nvSpPr>
        <p:spPr>
          <a:xfrm>
            <a:off x="8311896" y="1901952"/>
            <a:ext cx="146304" cy="146304"/>
          </a:xfrm>
          <a:prstGeom prst="ellipse">
            <a:avLst/>
          </a:prstGeom>
          <a:solidFill>
            <a:srgbClr val="C67139"/>
          </a:solidFill>
          <a:ln w="12700">
            <a:solidFill>
              <a:srgbClr val="C67139"/>
            </a:solidFill>
            <a:prstDash val="solid"/>
          </a:ln>
        </p:spPr>
      </p:sp>
      <p:sp>
        <p:nvSpPr>
          <p:cNvPr id="16" name="Text 14"/>
          <p:cNvSpPr txBox="1"/>
          <p:nvPr/>
        </p:nvSpPr>
        <p:spPr>
          <a:xfrm>
            <a:off x="8567928" y="1792224"/>
            <a:ext cx="1828800" cy="310896"/>
          </a:xfrm>
          <a:prstGeom prst="rect">
            <a:avLst/>
          </a:prstGeom>
          <a:noFill/>
          <a:ln/>
        </p:spPr>
        <p:txBody>
          <a:bodyPr wrap="square" lIns="0" tIns="0" rIns="0" bIns="0" rtlCol="0" anchor="ctr"/>
          <a:lstStyle/>
          <a:p>
            <a:pPr indent="0" marL="0">
              <a:buNone/>
            </a:pPr>
            <a:r>
              <a:rPr lang="en-US" sz="1500" b="1" dirty="0">
                <a:solidFill>
                  <a:srgbClr val="201E1D"/>
                </a:solidFill>
                <a:latin typeface="Baloo 2" pitchFamily="34" charset="0"/>
                <a:ea typeface="Baloo 2" pitchFamily="34" charset="-122"/>
                <a:cs typeface="Baloo 2" pitchFamily="34" charset="-120"/>
              </a:rPr>
              <a:t>Phân tích lỗi</a:t>
            </a:r>
            <a:endParaRPr lang="en-US" sz="1500" dirty="0"/>
          </a:p>
        </p:txBody>
      </p:sp>
      <p:sp>
        <p:nvSpPr>
          <p:cNvPr id="17" name="Text 15"/>
          <p:cNvSpPr txBox="1"/>
          <p:nvPr/>
        </p:nvSpPr>
        <p:spPr>
          <a:xfrm>
            <a:off x="10232136" y="1792224"/>
            <a:ext cx="1097280" cy="310896"/>
          </a:xfrm>
          <a:prstGeom prst="rect">
            <a:avLst/>
          </a:prstGeom>
          <a:noFill/>
          <a:ln/>
        </p:spPr>
        <p:txBody>
          <a:bodyPr wrap="square" lIns="0" tIns="0" rIns="0" bIns="0" rtlCol="0" anchor="ctr"/>
          <a:lstStyle/>
          <a:p>
            <a:pPr algn="r" indent="0" marL="0">
              <a:buNone/>
            </a:pPr>
            <a:r>
              <a:rPr lang="en-US" sz="950" dirty="0">
                <a:solidFill>
                  <a:srgbClr val="645C50"/>
                </a:solidFill>
                <a:latin typeface="Courier New" pitchFamily="34" charset="0"/>
                <a:ea typeface="Courier New" pitchFamily="34" charset="-122"/>
                <a:cs typeface="Courier New" pitchFamily="34" charset="-120"/>
              </a:rPr>
              <a:t>/phan-tich-loi</a:t>
            </a:r>
            <a:endParaRPr lang="en-US" sz="950" dirty="0"/>
          </a:p>
        </p:txBody>
      </p:sp>
      <p:sp>
        <p:nvSpPr>
          <p:cNvPr id="18" name="Text 16"/>
          <p:cNvSpPr txBox="1"/>
          <p:nvPr/>
        </p:nvSpPr>
        <p:spPr>
          <a:xfrm>
            <a:off x="8311896" y="2148840"/>
            <a:ext cx="2926080" cy="457200"/>
          </a:xfrm>
          <a:prstGeom prst="rect">
            <a:avLst/>
          </a:prstGeom>
          <a:noFill/>
          <a:ln/>
        </p:spPr>
        <p:txBody>
          <a:bodyPr wrap="square" lIns="0" tIns="0" rIns="0" bIns="0" rtlCol="0" anchor="t"/>
          <a:lstStyle/>
          <a:p>
            <a:pPr algn="l" indent="0" marL="0">
              <a:lnSpc>
                <a:spcPts val="1523"/>
              </a:lnSpc>
              <a:buNone/>
            </a:pPr>
            <a:r>
              <a:rPr lang="en-US" sz="1050" dirty="0">
                <a:solidFill>
                  <a:srgbClr val="645C50"/>
                </a:solidFill>
                <a:latin typeface="Nunito" pitchFamily="34" charset="0"/>
                <a:ea typeface="Nunito" pitchFamily="34" charset="-122"/>
                <a:cs typeface="Nunito" pitchFamily="34" charset="-120"/>
              </a:rPr>
              <a:t>pred (terracotta) so với gold (sage)</a:t>
            </a:r>
            <a:endParaRPr lang="en-US" sz="1050" dirty="0"/>
          </a:p>
        </p:txBody>
      </p:sp>
      <p:sp>
        <p:nvSpPr>
          <p:cNvPr id="19" name="Shape 17"/>
          <p:cNvSpPr/>
          <p:nvPr/>
        </p:nvSpPr>
        <p:spPr>
          <a:xfrm>
            <a:off x="685800" y="2816352"/>
            <a:ext cx="3456432" cy="1024128"/>
          </a:xfrm>
          <a:prstGeom prst="roundRect">
            <a:avLst>
              <a:gd name="adj" fmla="val 14286"/>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20" name="Shape 18"/>
          <p:cNvSpPr/>
          <p:nvPr/>
        </p:nvSpPr>
        <p:spPr>
          <a:xfrm>
            <a:off x="960120" y="3072384"/>
            <a:ext cx="146304" cy="146304"/>
          </a:xfrm>
          <a:prstGeom prst="ellipse">
            <a:avLst/>
          </a:prstGeom>
          <a:solidFill>
            <a:srgbClr val="7A8A5E"/>
          </a:solidFill>
          <a:ln w="12700">
            <a:solidFill>
              <a:srgbClr val="7A8A5E"/>
            </a:solidFill>
            <a:prstDash val="solid"/>
          </a:ln>
        </p:spPr>
      </p:sp>
      <p:sp>
        <p:nvSpPr>
          <p:cNvPr id="21" name="Text 19"/>
          <p:cNvSpPr txBox="1"/>
          <p:nvPr/>
        </p:nvSpPr>
        <p:spPr>
          <a:xfrm>
            <a:off x="1216152" y="2962656"/>
            <a:ext cx="1828800" cy="310896"/>
          </a:xfrm>
          <a:prstGeom prst="rect">
            <a:avLst/>
          </a:prstGeom>
          <a:noFill/>
          <a:ln/>
        </p:spPr>
        <p:txBody>
          <a:bodyPr wrap="square" lIns="0" tIns="0" rIns="0" bIns="0" rtlCol="0" anchor="ctr"/>
          <a:lstStyle/>
          <a:p>
            <a:pPr indent="0" marL="0">
              <a:buNone/>
            </a:pPr>
            <a:r>
              <a:rPr lang="en-US" sz="1500" b="1" dirty="0">
                <a:solidFill>
                  <a:srgbClr val="201E1D"/>
                </a:solidFill>
                <a:latin typeface="Baloo 2" pitchFamily="34" charset="0"/>
                <a:ea typeface="Baloo 2" pitchFamily="34" charset="-122"/>
                <a:cs typeface="Baloo 2" pitchFamily="34" charset="-120"/>
              </a:rPr>
              <a:t>Dữ liệu</a:t>
            </a:r>
            <a:endParaRPr lang="en-US" sz="1500" dirty="0"/>
          </a:p>
        </p:txBody>
      </p:sp>
      <p:sp>
        <p:nvSpPr>
          <p:cNvPr id="22" name="Text 20"/>
          <p:cNvSpPr txBox="1"/>
          <p:nvPr/>
        </p:nvSpPr>
        <p:spPr>
          <a:xfrm>
            <a:off x="2880360" y="2962656"/>
            <a:ext cx="1097280" cy="310896"/>
          </a:xfrm>
          <a:prstGeom prst="rect">
            <a:avLst/>
          </a:prstGeom>
          <a:noFill/>
          <a:ln/>
        </p:spPr>
        <p:txBody>
          <a:bodyPr wrap="square" lIns="0" tIns="0" rIns="0" bIns="0" rtlCol="0" anchor="ctr"/>
          <a:lstStyle/>
          <a:p>
            <a:pPr algn="r" indent="0" marL="0">
              <a:buNone/>
            </a:pPr>
            <a:r>
              <a:rPr lang="en-US" sz="950" dirty="0">
                <a:solidFill>
                  <a:srgbClr val="645C50"/>
                </a:solidFill>
                <a:latin typeface="Courier New" pitchFamily="34" charset="0"/>
                <a:ea typeface="Courier New" pitchFamily="34" charset="-122"/>
                <a:cs typeface="Courier New" pitchFamily="34" charset="-120"/>
              </a:rPr>
              <a:t>/du-lieu</a:t>
            </a:r>
            <a:endParaRPr lang="en-US" sz="950" dirty="0"/>
          </a:p>
        </p:txBody>
      </p:sp>
      <p:sp>
        <p:nvSpPr>
          <p:cNvPr id="23" name="Text 21"/>
          <p:cNvSpPr txBox="1"/>
          <p:nvPr/>
        </p:nvSpPr>
        <p:spPr>
          <a:xfrm>
            <a:off x="960120" y="3319272"/>
            <a:ext cx="2926080" cy="457200"/>
          </a:xfrm>
          <a:prstGeom prst="rect">
            <a:avLst/>
          </a:prstGeom>
          <a:noFill/>
          <a:ln/>
        </p:spPr>
        <p:txBody>
          <a:bodyPr wrap="square" lIns="0" tIns="0" rIns="0" bIns="0" rtlCol="0" anchor="t"/>
          <a:lstStyle/>
          <a:p>
            <a:pPr algn="l" indent="0" marL="0">
              <a:lnSpc>
                <a:spcPts val="1523"/>
              </a:lnSpc>
              <a:buNone/>
            </a:pPr>
            <a:r>
              <a:rPr lang="en-US" sz="1050" dirty="0">
                <a:solidFill>
                  <a:srgbClr val="645C50"/>
                </a:solidFill>
                <a:latin typeface="Nunito" pitchFamily="34" charset="0"/>
                <a:ea typeface="Nunito" pitchFamily="34" charset="-122"/>
                <a:cs typeface="Nunito" pitchFamily="34" charset="-120"/>
              </a:rPr>
              <a:t>thống kê split, phân phối độ dài</a:t>
            </a:r>
            <a:endParaRPr lang="en-US" sz="1050" dirty="0"/>
          </a:p>
        </p:txBody>
      </p:sp>
      <p:sp>
        <p:nvSpPr>
          <p:cNvPr id="24" name="Shape 22"/>
          <p:cNvSpPr/>
          <p:nvPr/>
        </p:nvSpPr>
        <p:spPr>
          <a:xfrm>
            <a:off x="4361688" y="2816352"/>
            <a:ext cx="3456432" cy="1024128"/>
          </a:xfrm>
          <a:prstGeom prst="roundRect">
            <a:avLst>
              <a:gd name="adj" fmla="val 14286"/>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25" name="Shape 23"/>
          <p:cNvSpPr/>
          <p:nvPr/>
        </p:nvSpPr>
        <p:spPr>
          <a:xfrm>
            <a:off x="4636008" y="3072384"/>
            <a:ext cx="146304" cy="146304"/>
          </a:xfrm>
          <a:prstGeom prst="ellipse">
            <a:avLst/>
          </a:prstGeom>
          <a:solidFill>
            <a:srgbClr val="C67139"/>
          </a:solidFill>
          <a:ln w="12700">
            <a:solidFill>
              <a:srgbClr val="C67139"/>
            </a:solidFill>
            <a:prstDash val="solid"/>
          </a:ln>
        </p:spPr>
      </p:sp>
      <p:sp>
        <p:nvSpPr>
          <p:cNvPr id="26" name="Text 24"/>
          <p:cNvSpPr txBox="1"/>
          <p:nvPr/>
        </p:nvSpPr>
        <p:spPr>
          <a:xfrm>
            <a:off x="4892040" y="2962656"/>
            <a:ext cx="1828800" cy="310896"/>
          </a:xfrm>
          <a:prstGeom prst="rect">
            <a:avLst/>
          </a:prstGeom>
          <a:noFill/>
          <a:ln/>
        </p:spPr>
        <p:txBody>
          <a:bodyPr wrap="square" lIns="0" tIns="0" rIns="0" bIns="0" rtlCol="0" anchor="ctr"/>
          <a:lstStyle/>
          <a:p>
            <a:pPr indent="0" marL="0">
              <a:buNone/>
            </a:pPr>
            <a:r>
              <a:rPr lang="en-US" sz="1500" b="1" dirty="0">
                <a:solidFill>
                  <a:srgbClr val="201E1D"/>
                </a:solidFill>
                <a:latin typeface="Baloo 2" pitchFamily="34" charset="0"/>
                <a:ea typeface="Baloo 2" pitchFamily="34" charset="-122"/>
                <a:cs typeface="Baloo 2" pitchFamily="34" charset="-120"/>
              </a:rPr>
              <a:t>So sánh model</a:t>
            </a:r>
            <a:endParaRPr lang="en-US" sz="1500" dirty="0"/>
          </a:p>
        </p:txBody>
      </p:sp>
      <p:sp>
        <p:nvSpPr>
          <p:cNvPr id="27" name="Text 25"/>
          <p:cNvSpPr txBox="1"/>
          <p:nvPr/>
        </p:nvSpPr>
        <p:spPr>
          <a:xfrm>
            <a:off x="6556248" y="2962656"/>
            <a:ext cx="1097280" cy="310896"/>
          </a:xfrm>
          <a:prstGeom prst="rect">
            <a:avLst/>
          </a:prstGeom>
          <a:noFill/>
          <a:ln/>
        </p:spPr>
        <p:txBody>
          <a:bodyPr wrap="square" lIns="0" tIns="0" rIns="0" bIns="0" rtlCol="0" anchor="ctr"/>
          <a:lstStyle/>
          <a:p>
            <a:pPr algn="r" indent="0" marL="0">
              <a:buNone/>
            </a:pPr>
            <a:r>
              <a:rPr lang="en-US" sz="950" dirty="0">
                <a:solidFill>
                  <a:srgbClr val="645C50"/>
                </a:solidFill>
                <a:latin typeface="Courier New" pitchFamily="34" charset="0"/>
                <a:ea typeface="Courier New" pitchFamily="34" charset="-122"/>
                <a:cs typeface="Courier New" pitchFamily="34" charset="-120"/>
              </a:rPr>
              <a:t>/so-sanh</a:t>
            </a:r>
            <a:endParaRPr lang="en-US" sz="950" dirty="0"/>
          </a:p>
        </p:txBody>
      </p:sp>
      <p:sp>
        <p:nvSpPr>
          <p:cNvPr id="28" name="Text 26"/>
          <p:cNvSpPr txBox="1"/>
          <p:nvPr/>
        </p:nvSpPr>
        <p:spPr>
          <a:xfrm>
            <a:off x="4636008" y="3319272"/>
            <a:ext cx="2926080" cy="457200"/>
          </a:xfrm>
          <a:prstGeom prst="rect">
            <a:avLst/>
          </a:prstGeom>
          <a:noFill/>
          <a:ln/>
        </p:spPr>
        <p:txBody>
          <a:bodyPr wrap="square" lIns="0" tIns="0" rIns="0" bIns="0" rtlCol="0" anchor="t"/>
          <a:lstStyle/>
          <a:p>
            <a:pPr algn="l" indent="0" marL="0">
              <a:lnSpc>
                <a:spcPts val="1523"/>
              </a:lnSpc>
              <a:buNone/>
            </a:pPr>
            <a:r>
              <a:rPr lang="en-US" sz="1050" dirty="0">
                <a:solidFill>
                  <a:srgbClr val="645C50"/>
                </a:solidFill>
                <a:latin typeface="Nunito" pitchFamily="34" charset="0"/>
                <a:ea typeface="Nunito" pitchFamily="34" charset="-122"/>
                <a:cs typeface="Nunito" pitchFamily="34" charset="-120"/>
              </a:rPr>
              <a:t>bốn mô hình cạnh nhau, ô tốt nhất được TÍNH</a:t>
            </a:r>
            <a:endParaRPr lang="en-US" sz="1050" dirty="0"/>
          </a:p>
        </p:txBody>
      </p:sp>
      <p:sp>
        <p:nvSpPr>
          <p:cNvPr id="29" name="Shape 27"/>
          <p:cNvSpPr/>
          <p:nvPr/>
        </p:nvSpPr>
        <p:spPr>
          <a:xfrm>
            <a:off x="8037576" y="2816352"/>
            <a:ext cx="3456432" cy="1024128"/>
          </a:xfrm>
          <a:prstGeom prst="roundRect">
            <a:avLst>
              <a:gd name="adj" fmla="val 14286"/>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30" name="Shape 28"/>
          <p:cNvSpPr/>
          <p:nvPr/>
        </p:nvSpPr>
        <p:spPr>
          <a:xfrm>
            <a:off x="8311896" y="3072384"/>
            <a:ext cx="146304" cy="146304"/>
          </a:xfrm>
          <a:prstGeom prst="ellipse">
            <a:avLst/>
          </a:prstGeom>
          <a:solidFill>
            <a:srgbClr val="7A8A5E"/>
          </a:solidFill>
          <a:ln w="12700">
            <a:solidFill>
              <a:srgbClr val="7A8A5E"/>
            </a:solidFill>
            <a:prstDash val="solid"/>
          </a:ln>
        </p:spPr>
      </p:sp>
      <p:sp>
        <p:nvSpPr>
          <p:cNvPr id="31" name="Text 29"/>
          <p:cNvSpPr txBox="1"/>
          <p:nvPr/>
        </p:nvSpPr>
        <p:spPr>
          <a:xfrm>
            <a:off x="8567928" y="2962656"/>
            <a:ext cx="1828800" cy="310896"/>
          </a:xfrm>
          <a:prstGeom prst="rect">
            <a:avLst/>
          </a:prstGeom>
          <a:noFill/>
          <a:ln/>
        </p:spPr>
        <p:txBody>
          <a:bodyPr wrap="square" lIns="0" tIns="0" rIns="0" bIns="0" rtlCol="0" anchor="ctr"/>
          <a:lstStyle/>
          <a:p>
            <a:pPr indent="0" marL="0">
              <a:buNone/>
            </a:pPr>
            <a:r>
              <a:rPr lang="en-US" sz="1500" b="1" dirty="0">
                <a:solidFill>
                  <a:srgbClr val="201E1D"/>
                </a:solidFill>
                <a:latin typeface="Baloo 2" pitchFamily="34" charset="0"/>
                <a:ea typeface="Baloo 2" pitchFamily="34" charset="-122"/>
                <a:cs typeface="Baloo 2" pitchFamily="34" charset="-120"/>
              </a:rPr>
              <a:t>Huấn luyện</a:t>
            </a:r>
            <a:endParaRPr lang="en-US" sz="1500" dirty="0"/>
          </a:p>
        </p:txBody>
      </p:sp>
      <p:sp>
        <p:nvSpPr>
          <p:cNvPr id="32" name="Text 30"/>
          <p:cNvSpPr txBox="1"/>
          <p:nvPr/>
        </p:nvSpPr>
        <p:spPr>
          <a:xfrm>
            <a:off x="10232136" y="2962656"/>
            <a:ext cx="1097280" cy="310896"/>
          </a:xfrm>
          <a:prstGeom prst="rect">
            <a:avLst/>
          </a:prstGeom>
          <a:noFill/>
          <a:ln/>
        </p:spPr>
        <p:txBody>
          <a:bodyPr wrap="square" lIns="0" tIns="0" rIns="0" bIns="0" rtlCol="0" anchor="ctr"/>
          <a:lstStyle/>
          <a:p>
            <a:pPr algn="r" indent="0" marL="0">
              <a:buNone/>
            </a:pPr>
            <a:r>
              <a:rPr lang="en-US" sz="950" dirty="0">
                <a:solidFill>
                  <a:srgbClr val="645C50"/>
                </a:solidFill>
                <a:latin typeface="Courier New" pitchFamily="34" charset="0"/>
                <a:ea typeface="Courier New" pitchFamily="34" charset="-122"/>
                <a:cs typeface="Courier New" pitchFamily="34" charset="-120"/>
              </a:rPr>
              <a:t>/huan-luyen</a:t>
            </a:r>
            <a:endParaRPr lang="en-US" sz="950" dirty="0"/>
          </a:p>
        </p:txBody>
      </p:sp>
      <p:sp>
        <p:nvSpPr>
          <p:cNvPr id="33" name="Text 31"/>
          <p:cNvSpPr txBox="1"/>
          <p:nvPr/>
        </p:nvSpPr>
        <p:spPr>
          <a:xfrm>
            <a:off x="8311896" y="3319272"/>
            <a:ext cx="2926080" cy="457200"/>
          </a:xfrm>
          <a:prstGeom prst="rect">
            <a:avLst/>
          </a:prstGeom>
          <a:noFill/>
          <a:ln/>
        </p:spPr>
        <p:txBody>
          <a:bodyPr wrap="square" lIns="0" tIns="0" rIns="0" bIns="0" rtlCol="0" anchor="t"/>
          <a:lstStyle/>
          <a:p>
            <a:pPr algn="l" indent="0" marL="0">
              <a:lnSpc>
                <a:spcPts val="1523"/>
              </a:lnSpc>
              <a:buNone/>
            </a:pPr>
            <a:r>
              <a:rPr lang="en-US" sz="1050" dirty="0">
                <a:solidFill>
                  <a:srgbClr val="645C50"/>
                </a:solidFill>
                <a:latin typeface="Nunito" pitchFamily="34" charset="0"/>
                <a:ea typeface="Nunito" pitchFamily="34" charset="-122"/>
                <a:cs typeface="Nunito" pitchFamily="34" charset="-120"/>
              </a:rPr>
              <a:t>đường cong loss, EM, F1</a:t>
            </a:r>
            <a:endParaRPr lang="en-US" sz="1050" dirty="0"/>
          </a:p>
        </p:txBody>
      </p:sp>
      <p:sp>
        <p:nvSpPr>
          <p:cNvPr id="34" name="Shape 32"/>
          <p:cNvSpPr/>
          <p:nvPr/>
        </p:nvSpPr>
        <p:spPr>
          <a:xfrm>
            <a:off x="685800" y="4041648"/>
            <a:ext cx="10820095" cy="1170432"/>
          </a:xfrm>
          <a:prstGeom prst="roundRect">
            <a:avLst>
              <a:gd name="adj" fmla="val 12500"/>
            </a:avLst>
          </a:prstGeom>
          <a:solidFill>
            <a:srgbClr val="EBDDC5"/>
          </a:solidFill>
          <a:ln w="12700">
            <a:solidFill>
              <a:srgbClr val="EBDDC5"/>
            </a:solidFill>
            <a:prstDash val="solid"/>
          </a:ln>
        </p:spPr>
      </p:sp>
      <p:sp>
        <p:nvSpPr>
          <p:cNvPr id="35" name="Text 33"/>
          <p:cNvSpPr txBox="1"/>
          <p:nvPr/>
        </p:nvSpPr>
        <p:spPr>
          <a:xfrm>
            <a:off x="1005840" y="4151376"/>
            <a:ext cx="6400800" cy="219456"/>
          </a:xfrm>
          <a:prstGeom prst="rect">
            <a:avLst/>
          </a:prstGeom>
          <a:noFill/>
          <a:ln/>
        </p:spPr>
        <p:txBody>
          <a:bodyPr wrap="square" lIns="0" tIns="0" rIns="0" bIns="0" rtlCol="0" anchor="ctr"/>
          <a:lstStyle/>
          <a:p>
            <a:pPr indent="0" marL="0">
              <a:buNone/>
            </a:pPr>
            <a:r>
              <a:rPr lang="en-US" sz="950" b="1" spc="160" kern="0" dirty="0">
                <a:solidFill>
                  <a:srgbClr val="8C491A"/>
                </a:solidFill>
                <a:latin typeface="Nunito" pitchFamily="34" charset="0"/>
                <a:ea typeface="Nunito" pitchFamily="34" charset="-122"/>
                <a:cs typeface="Nunito" pitchFamily="34" charset="-120"/>
              </a:rPr>
              <a:t>KỸ THUẬT PHẦN MỀM — NGƯỜI CHẤM CHỈ CẦN DOCKER, MỘT ẢNH CHO CẢ TEST LẪN DEMO</a:t>
            </a:r>
            <a:endParaRPr lang="en-US" sz="950" dirty="0"/>
          </a:p>
        </p:txBody>
      </p:sp>
      <p:sp>
        <p:nvSpPr>
          <p:cNvPr id="36" name="Text 34"/>
          <p:cNvSpPr txBox="1"/>
          <p:nvPr/>
        </p:nvSpPr>
        <p:spPr>
          <a:xfrm>
            <a:off x="1005840" y="4425696"/>
            <a:ext cx="3931920" cy="237744"/>
          </a:xfrm>
          <a:prstGeom prst="rect">
            <a:avLst/>
          </a:prstGeom>
          <a:noFill/>
          <a:ln/>
        </p:spPr>
        <p:txBody>
          <a:bodyPr wrap="square" lIns="0" tIns="0" rIns="0" bIns="0" rtlCol="0" anchor="ctr"/>
          <a:lstStyle/>
          <a:p>
            <a:pPr algn="l" indent="0" marL="0">
              <a:buNone/>
            </a:pPr>
            <a:r>
              <a:rPr lang="en-US" sz="1050" b="1" dirty="0">
                <a:solidFill>
                  <a:srgbClr val="201E1D"/>
                </a:solidFill>
                <a:latin typeface="Courier New" pitchFamily="34" charset="0"/>
                <a:ea typeface="Courier New" pitchFamily="34" charset="-122"/>
                <a:cs typeface="Courier New" pitchFamily="34" charset="-120"/>
              </a:rPr>
              <a:t>docker compose run --rm tests</a:t>
            </a:r>
            <a:endParaRPr lang="en-US" sz="1050" dirty="0"/>
          </a:p>
        </p:txBody>
      </p:sp>
      <p:sp>
        <p:nvSpPr>
          <p:cNvPr id="37" name="Text 35"/>
          <p:cNvSpPr txBox="1"/>
          <p:nvPr/>
        </p:nvSpPr>
        <p:spPr>
          <a:xfrm>
            <a:off x="5074920" y="4425696"/>
            <a:ext cx="3291840" cy="237744"/>
          </a:xfrm>
          <a:prstGeom prst="rect">
            <a:avLst/>
          </a:prstGeom>
          <a:noFill/>
          <a:ln/>
        </p:spPr>
        <p:txBody>
          <a:bodyPr wrap="square" lIns="0" tIns="0" rIns="0" bIns="0" rtlCol="0" anchor="ctr"/>
          <a:lstStyle/>
          <a:p>
            <a:pPr algn="l" indent="0" marL="0">
              <a:lnSpc>
                <a:spcPts val="1523"/>
              </a:lnSpc>
              <a:buNone/>
            </a:pPr>
            <a:r>
              <a:rPr lang="en-US" sz="1050" dirty="0">
                <a:solidFill>
                  <a:srgbClr val="645C50"/>
                </a:solidFill>
                <a:latin typeface="Nunito" pitchFamily="34" charset="0"/>
                <a:ea typeface="Nunito" pitchFamily="34" charset="-122"/>
                <a:cs typeface="Nunito" pitchFamily="34" charset="-120"/>
              </a:rPr>
              <a:t>423 test, ~1 giây, HF_HUB_OFFLINE=1</a:t>
            </a:r>
            <a:endParaRPr lang="en-US" sz="1050" dirty="0"/>
          </a:p>
        </p:txBody>
      </p:sp>
      <p:sp>
        <p:nvSpPr>
          <p:cNvPr id="38" name="Text 36"/>
          <p:cNvSpPr txBox="1"/>
          <p:nvPr/>
        </p:nvSpPr>
        <p:spPr>
          <a:xfrm>
            <a:off x="1005840" y="4681728"/>
            <a:ext cx="3931920" cy="237744"/>
          </a:xfrm>
          <a:prstGeom prst="rect">
            <a:avLst/>
          </a:prstGeom>
          <a:noFill/>
          <a:ln/>
        </p:spPr>
        <p:txBody>
          <a:bodyPr wrap="square" lIns="0" tIns="0" rIns="0" bIns="0" rtlCol="0" anchor="ctr"/>
          <a:lstStyle/>
          <a:p>
            <a:pPr algn="l" indent="0" marL="0">
              <a:buNone/>
            </a:pPr>
            <a:r>
              <a:rPr lang="en-US" sz="1050" b="1" dirty="0">
                <a:solidFill>
                  <a:srgbClr val="201E1D"/>
                </a:solidFill>
                <a:latin typeface="Courier New" pitchFamily="34" charset="0"/>
                <a:ea typeface="Courier New" pitchFamily="34" charset="-122"/>
                <a:cs typeface="Courier New" pitchFamily="34" charset="-120"/>
              </a:rPr>
              <a:t>docker compose up app</a:t>
            </a:r>
            <a:endParaRPr lang="en-US" sz="1050" dirty="0"/>
          </a:p>
        </p:txBody>
      </p:sp>
      <p:sp>
        <p:nvSpPr>
          <p:cNvPr id="39" name="Text 37"/>
          <p:cNvSpPr txBox="1"/>
          <p:nvPr/>
        </p:nvSpPr>
        <p:spPr>
          <a:xfrm>
            <a:off x="5074920" y="4681728"/>
            <a:ext cx="3291840" cy="237744"/>
          </a:xfrm>
          <a:prstGeom prst="rect">
            <a:avLst/>
          </a:prstGeom>
          <a:noFill/>
          <a:ln/>
        </p:spPr>
        <p:txBody>
          <a:bodyPr wrap="square" lIns="0" tIns="0" rIns="0" bIns="0" rtlCol="0" anchor="ctr"/>
          <a:lstStyle/>
          <a:p>
            <a:pPr algn="l" indent="0" marL="0">
              <a:lnSpc>
                <a:spcPts val="1523"/>
              </a:lnSpc>
              <a:buNone/>
            </a:pPr>
            <a:r>
              <a:rPr lang="en-US" sz="1050" dirty="0">
                <a:solidFill>
                  <a:srgbClr val="645C50"/>
                </a:solidFill>
                <a:latin typeface="Nunito" pitchFamily="34" charset="0"/>
                <a:ea typeface="Nunito" pitchFamily="34" charset="-122"/>
                <a:cs typeface="Nunito" pitchFamily="34" charset="-120"/>
              </a:rPr>
              <a:t>demo tại http://localhost:8501</a:t>
            </a:r>
            <a:endParaRPr lang="en-US" sz="1050" dirty="0"/>
          </a:p>
        </p:txBody>
      </p:sp>
      <p:sp>
        <p:nvSpPr>
          <p:cNvPr id="40" name="Text 38"/>
          <p:cNvSpPr txBox="1"/>
          <p:nvPr/>
        </p:nvSpPr>
        <p:spPr>
          <a:xfrm>
            <a:off x="1005840" y="4937760"/>
            <a:ext cx="3931920" cy="237744"/>
          </a:xfrm>
          <a:prstGeom prst="rect">
            <a:avLst/>
          </a:prstGeom>
          <a:noFill/>
          <a:ln/>
        </p:spPr>
        <p:txBody>
          <a:bodyPr wrap="square" lIns="0" tIns="0" rIns="0" bIns="0" rtlCol="0" anchor="ctr"/>
          <a:lstStyle/>
          <a:p>
            <a:pPr algn="l" indent="0" marL="0">
              <a:buNone/>
            </a:pPr>
            <a:r>
              <a:rPr lang="en-US" sz="1050" b="1" dirty="0">
                <a:solidFill>
                  <a:srgbClr val="201E1D"/>
                </a:solidFill>
                <a:latin typeface="Courier New" pitchFamily="34" charset="0"/>
                <a:ea typeface="Courier New" pitchFamily="34" charset="-122"/>
                <a:cs typeface="Courier New" pitchFamily="34" charset="-120"/>
              </a:rPr>
              <a:t>./run.sh</a:t>
            </a:r>
            <a:endParaRPr lang="en-US" sz="1050" dirty="0"/>
          </a:p>
        </p:txBody>
      </p:sp>
      <p:sp>
        <p:nvSpPr>
          <p:cNvPr id="41" name="Text 39"/>
          <p:cNvSpPr txBox="1"/>
          <p:nvPr/>
        </p:nvSpPr>
        <p:spPr>
          <a:xfrm>
            <a:off x="5074920" y="4937760"/>
            <a:ext cx="3291840" cy="237744"/>
          </a:xfrm>
          <a:prstGeom prst="rect">
            <a:avLst/>
          </a:prstGeom>
          <a:noFill/>
          <a:ln/>
        </p:spPr>
        <p:txBody>
          <a:bodyPr wrap="square" lIns="0" tIns="0" rIns="0" bIns="0" rtlCol="0" anchor="ctr"/>
          <a:lstStyle/>
          <a:p>
            <a:pPr algn="l" indent="0" marL="0">
              <a:lnSpc>
                <a:spcPts val="1523"/>
              </a:lnSpc>
              <a:buNone/>
            </a:pPr>
            <a:r>
              <a:rPr lang="en-US" sz="1050" dirty="0">
                <a:solidFill>
                  <a:srgbClr val="645C50"/>
                </a:solidFill>
                <a:latin typeface="Nunito" pitchFamily="34" charset="0"/>
                <a:ea typeface="Nunito" pitchFamily="34" charset="-122"/>
                <a:cs typeface="Nunito" pitchFamily="34" charset="-120"/>
              </a:rPr>
              <a:t>nạp ảnh đã docker save rồi mở demo</a:t>
            </a:r>
            <a:endParaRPr lang="en-US" sz="1050" dirty="0"/>
          </a:p>
        </p:txBody>
      </p:sp>
      <p:sp>
        <p:nvSpPr>
          <p:cNvPr id="42" name="Text 40"/>
          <p:cNvSpPr txBox="1"/>
          <p:nvPr/>
        </p:nvSpPr>
        <p:spPr>
          <a:xfrm>
            <a:off x="7955280" y="4443984"/>
            <a:ext cx="1645920" cy="304800"/>
          </a:xfrm>
          <a:prstGeom prst="rect">
            <a:avLst/>
          </a:prstGeom>
          <a:noFill/>
          <a:ln/>
        </p:spPr>
        <p:txBody>
          <a:bodyPr wrap="square" lIns="0" tIns="0" rIns="0" bIns="0" rtlCol="0" anchor="b"/>
          <a:lstStyle/>
          <a:p>
            <a:pPr indent="0" marL="0">
              <a:buNone/>
            </a:pPr>
            <a:r>
              <a:rPr lang="en-US" sz="2000" b="1" dirty="0">
                <a:solidFill>
                  <a:srgbClr val="7A8A5E"/>
                </a:solidFill>
                <a:latin typeface="Baloo 2" pitchFamily="34" charset="0"/>
                <a:ea typeface="Baloo 2" pitchFamily="34" charset="-122"/>
                <a:cs typeface="Baloo 2" pitchFamily="34" charset="-120"/>
              </a:rPr>
              <a:t>474</a:t>
            </a:r>
            <a:pPr indent="0" marL="0">
              <a:buNone/>
            </a:pPr>
            <a:r>
              <a:rPr lang="en-US" sz="1400" dirty="0">
                <a:solidFill>
                  <a:srgbClr val="645C50"/>
                </a:solidFill>
                <a:latin typeface="Nunito" pitchFamily="34" charset="0"/>
                <a:ea typeface="Nunito" pitchFamily="34" charset="-122"/>
                <a:cs typeface="Nunito" pitchFamily="34" charset="-120"/>
              </a:rPr>
              <a:t> test</a:t>
            </a:r>
            <a:endParaRPr lang="en-US" sz="2000" dirty="0"/>
          </a:p>
        </p:txBody>
      </p:sp>
      <p:sp>
        <p:nvSpPr>
          <p:cNvPr id="43" name="Text 41"/>
          <p:cNvSpPr txBox="1"/>
          <p:nvPr/>
        </p:nvSpPr>
        <p:spPr>
          <a:xfrm>
            <a:off x="7955280" y="4730496"/>
            <a:ext cx="1645920" cy="457200"/>
          </a:xfrm>
          <a:prstGeom prst="rect">
            <a:avLst/>
          </a:prstGeom>
          <a:noFill/>
          <a:ln/>
        </p:spPr>
        <p:txBody>
          <a:bodyPr wrap="square" lIns="0" tIns="0" rIns="0" bIns="0" rtlCol="0" anchor="t"/>
          <a:lstStyle/>
          <a:p>
            <a:pPr indent="0" marL="0">
              <a:lnSpc>
                <a:spcPts val="1500"/>
              </a:lnSpc>
              <a:buNone/>
            </a:pPr>
            <a:r>
              <a:rPr lang="en-US" sz="1150" dirty="0">
                <a:solidFill>
                  <a:srgbClr val="645C50"/>
                </a:solidFill>
                <a:latin typeface="Nunito" pitchFamily="34" charset="0"/>
                <a:ea typeface="Nunito" pitchFamily="34" charset="-122"/>
                <a:cs typeface="Nunito" pitchFamily="34" charset="-120"/>
              </a:rPr>
              <a:t>bộ đầy đủ, 20 tệp (gồm 51 test tải mô hình thật)</a:t>
            </a:r>
            <a:endParaRPr lang="en-US" sz="1150" dirty="0"/>
          </a:p>
        </p:txBody>
      </p:sp>
      <p:sp>
        <p:nvSpPr>
          <p:cNvPr id="44" name="Text 42"/>
          <p:cNvSpPr txBox="1"/>
          <p:nvPr/>
        </p:nvSpPr>
        <p:spPr>
          <a:xfrm>
            <a:off x="9784080" y="4443984"/>
            <a:ext cx="1691640" cy="304800"/>
          </a:xfrm>
          <a:prstGeom prst="rect">
            <a:avLst/>
          </a:prstGeom>
          <a:noFill/>
          <a:ln/>
        </p:spPr>
        <p:txBody>
          <a:bodyPr wrap="square" lIns="0" tIns="0" rIns="0" bIns="0" rtlCol="0" anchor="b"/>
          <a:lstStyle/>
          <a:p>
            <a:pPr indent="0" marL="0">
              <a:buNone/>
            </a:pPr>
            <a:r>
              <a:rPr lang="en-US" sz="2000" b="1" dirty="0">
                <a:solidFill>
                  <a:srgbClr val="C67139"/>
                </a:solidFill>
                <a:latin typeface="Baloo 2" pitchFamily="34" charset="0"/>
                <a:ea typeface="Baloo 2" pitchFamily="34" charset="-122"/>
                <a:cs typeface="Baloo 2" pitchFamily="34" charset="-120"/>
              </a:rPr>
              <a:t>2,49 GB</a:t>
            </a:r>
            <a:pPr indent="0" marL="0">
              <a:buNone/>
            </a:pPr>
            <a:endParaRPr lang="en-US" sz="2000" dirty="0"/>
          </a:p>
        </p:txBody>
      </p:sp>
      <p:sp>
        <p:nvSpPr>
          <p:cNvPr id="45" name="Text 43"/>
          <p:cNvSpPr txBox="1"/>
          <p:nvPr/>
        </p:nvSpPr>
        <p:spPr>
          <a:xfrm>
            <a:off x="9784080" y="4730496"/>
            <a:ext cx="1691640" cy="457200"/>
          </a:xfrm>
          <a:prstGeom prst="rect">
            <a:avLst/>
          </a:prstGeom>
          <a:noFill/>
          <a:ln/>
        </p:spPr>
        <p:txBody>
          <a:bodyPr wrap="square" lIns="0" tIns="0" rIns="0" bIns="0" rtlCol="0" anchor="t"/>
          <a:lstStyle/>
          <a:p>
            <a:pPr indent="0" marL="0">
              <a:lnSpc>
                <a:spcPts val="1500"/>
              </a:lnSpc>
              <a:buNone/>
            </a:pPr>
            <a:r>
              <a:rPr lang="en-US" sz="1150" dirty="0">
                <a:solidFill>
                  <a:srgbClr val="645C50"/>
                </a:solidFill>
                <a:latin typeface="Nunito" pitchFamily="34" charset="0"/>
                <a:ea typeface="Nunito" pitchFamily="34" charset="-122"/>
                <a:cs typeface="Nunito" pitchFamily="34" charset="-120"/>
              </a:rPr>
              <a:t>ảnh Docker (nén 501 MB) — từ 10,2 GB</a:t>
            </a:r>
            <a:endParaRPr lang="en-US" sz="1150" dirty="0"/>
          </a:p>
        </p:txBody>
      </p:sp>
      <p:sp>
        <p:nvSpPr>
          <p:cNvPr id="46" name="Shape 44"/>
          <p:cNvSpPr/>
          <p:nvPr/>
        </p:nvSpPr>
        <p:spPr>
          <a:xfrm>
            <a:off x="685800" y="5349240"/>
            <a:ext cx="10820095" cy="868680"/>
          </a:xfrm>
          <a:prstGeom prst="roundRect">
            <a:avLst>
              <a:gd name="adj" fmla="val 16842"/>
            </a:avLst>
          </a:prstGeom>
          <a:solidFill>
            <a:srgbClr val="F0FAE1"/>
          </a:solidFill>
          <a:ln w="12700">
            <a:solidFill>
              <a:srgbClr val="F0FAE1"/>
            </a:solidFill>
            <a:prstDash val="solid"/>
          </a:ln>
        </p:spPr>
      </p:sp>
      <p:sp>
        <p:nvSpPr>
          <p:cNvPr id="47" name="Text 45"/>
          <p:cNvSpPr txBox="1"/>
          <p:nvPr/>
        </p:nvSpPr>
        <p:spPr>
          <a:xfrm>
            <a:off x="1005840" y="5468112"/>
            <a:ext cx="10180015" cy="310896"/>
          </a:xfrm>
          <a:prstGeom prst="rect">
            <a:avLst/>
          </a:prstGeom>
          <a:noFill/>
          <a:ln/>
        </p:spPr>
        <p:txBody>
          <a:bodyPr wrap="square" lIns="0" tIns="0" rIns="0" bIns="0" rtlCol="0" anchor="t"/>
          <a:lstStyle/>
          <a:p>
            <a:pPr algn="l" indent="0" marL="0">
              <a:lnSpc>
                <a:spcPts val="2103"/>
              </a:lnSpc>
              <a:buNone/>
            </a:pPr>
            <a:r>
              <a:rPr lang="en-US" sz="1450" b="1" dirty="0">
                <a:solidFill>
                  <a:srgbClr val="3D472B"/>
                </a:solidFill>
                <a:latin typeface="Nunito" pitchFamily="34" charset="0"/>
                <a:ea typeface="Nunito" pitchFamily="34" charset="-122"/>
                <a:cs typeface="Nunito" pitchFamily="34" charset="-120"/>
              </a:rPr>
              <a:t>Demo không sinh ra con số nào.</a:t>
            </a:r>
            <a:endParaRPr lang="en-US" sz="1450" dirty="0"/>
          </a:p>
        </p:txBody>
      </p:sp>
      <p:sp>
        <p:nvSpPr>
          <p:cNvPr id="48" name="Text 46"/>
          <p:cNvSpPr txBox="1"/>
          <p:nvPr/>
        </p:nvSpPr>
        <p:spPr>
          <a:xfrm>
            <a:off x="1005840" y="5751576"/>
            <a:ext cx="10180015" cy="411480"/>
          </a:xfrm>
          <a:prstGeom prst="rect">
            <a:avLst/>
          </a:prstGeom>
          <a:noFill/>
          <a:ln/>
        </p:spPr>
        <p:txBody>
          <a:bodyPr wrap="square" lIns="0" tIns="0" rIns="0" bIns="0" rtlCol="0" anchor="t"/>
          <a:lstStyle/>
          <a:p>
            <a:pPr algn="l" indent="0" marL="0">
              <a:lnSpc>
                <a:spcPts val="1668"/>
              </a:lnSpc>
              <a:buNone/>
            </a:pPr>
            <a:r>
              <a:rPr lang="en-US" sz="1150" dirty="0">
                <a:solidFill>
                  <a:srgbClr val="3D472B"/>
                </a:solidFill>
                <a:latin typeface="Nunito" pitchFamily="34" charset="0"/>
                <a:ea typeface="Nunito" pitchFamily="34" charset="-122"/>
                <a:cs typeface="Nunito" pitchFamily="34" charset="-120"/>
              </a:rPr>
              <a:t>Mọi số trên màn hình đọc từ results/*.json hoặc đo trực tiếp từ data/raw/ qua một điểm truy cập duy nhất — kể cả thứ hạng “tốt nhất” và ô in đậm trong bảng so sánh, chúng được TÍNH chứ không gõ tay. Huấn luyện lại là màn hình tự nói đúng.</a:t>
            </a:r>
            <a:endParaRPr lang="en-US" sz="1150" dirty="0"/>
          </a:p>
        </p:txBody>
      </p:sp>
      <p:sp>
        <p:nvSpPr>
          <p:cNvPr id="49" name="Text 47"/>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6 · Ứng dụng · Streamlit sáu màn hình + Docker/TDD</a:t>
            </a:r>
            <a:endParaRPr lang="en-US" sz="1000" dirty="0"/>
          </a:p>
        </p:txBody>
      </p:sp>
      <p:sp>
        <p:nvSpPr>
          <p:cNvPr id="50" name="Text 48"/>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6 · ỨNG DỤNG, KẾT LUẬN &amp; HƯỚNG PHÁT TRIỂN</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808"/>
              </a:lnSpc>
              <a:buNone/>
            </a:pPr>
            <a:r>
              <a:rPr lang="en-US" sz="3400" b="1" dirty="0">
                <a:solidFill>
                  <a:srgbClr val="201E1D"/>
                </a:solidFill>
                <a:latin typeface="Baloo 2" pitchFamily="34" charset="0"/>
                <a:ea typeface="Baloo 2" pitchFamily="34" charset="-122"/>
                <a:cs typeface="Baloo 2" pitchFamily="34" charset="-120"/>
              </a:rPr>
              <a:t>Hạn chế — nói thẳng, và chỗ nào thì đi tiếp</a:t>
            </a:r>
            <a:endParaRPr lang="en-US" sz="3400" dirty="0"/>
          </a:p>
        </p:txBody>
      </p:sp>
      <p:sp>
        <p:nvSpPr>
          <p:cNvPr id="4" name="Shape 2"/>
          <p:cNvSpPr/>
          <p:nvPr/>
        </p:nvSpPr>
        <p:spPr>
          <a:xfrm>
            <a:off x="685800" y="1645920"/>
            <a:ext cx="10820095" cy="676656"/>
          </a:xfrm>
          <a:prstGeom prst="roundRect">
            <a:avLst>
              <a:gd name="adj" fmla="val 21622"/>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5" name="Text 3"/>
          <p:cNvSpPr txBox="1"/>
          <p:nvPr/>
        </p:nvSpPr>
        <p:spPr>
          <a:xfrm>
            <a:off x="960120" y="1810512"/>
            <a:ext cx="274320" cy="347472"/>
          </a:xfrm>
          <a:prstGeom prst="rect">
            <a:avLst/>
          </a:prstGeom>
          <a:noFill/>
          <a:ln/>
        </p:spPr>
        <p:txBody>
          <a:bodyPr wrap="square" lIns="0" tIns="0" rIns="0" bIns="0" rtlCol="0" anchor="ctr"/>
          <a:lstStyle/>
          <a:p>
            <a:pPr indent="0" marL="0">
              <a:buNone/>
            </a:pPr>
            <a:r>
              <a:rPr lang="en-US" sz="1600" b="1" dirty="0">
                <a:solidFill>
                  <a:srgbClr val="C67139"/>
                </a:solidFill>
                <a:latin typeface="Baloo 2" pitchFamily="34" charset="0"/>
                <a:ea typeface="Baloo 2" pitchFamily="34" charset="-122"/>
                <a:cs typeface="Baloo 2" pitchFamily="34" charset="-120"/>
              </a:rPr>
              <a:t>—</a:t>
            </a:r>
            <a:endParaRPr lang="en-US" sz="1600" dirty="0"/>
          </a:p>
        </p:txBody>
      </p:sp>
      <p:sp>
        <p:nvSpPr>
          <p:cNvPr id="6" name="Text 4"/>
          <p:cNvSpPr txBox="1"/>
          <p:nvPr/>
        </p:nvSpPr>
        <p:spPr>
          <a:xfrm>
            <a:off x="1307592" y="1819656"/>
            <a:ext cx="3931920" cy="347472"/>
          </a:xfrm>
          <a:prstGeom prst="rect">
            <a:avLst/>
          </a:prstGeom>
          <a:noFill/>
          <a:ln/>
        </p:spPr>
        <p:txBody>
          <a:bodyPr wrap="square" lIns="0" tIns="0" rIns="0" bIns="0" rtlCol="0" anchor="ctr"/>
          <a:lstStyle/>
          <a:p>
            <a:pPr algn="l" indent="0" marL="0">
              <a:lnSpc>
                <a:spcPts val="1813"/>
              </a:lnSpc>
              <a:buNone/>
            </a:pPr>
            <a:r>
              <a:rPr lang="en-US" sz="1250" b="1" dirty="0">
                <a:solidFill>
                  <a:srgbClr val="201E1D"/>
                </a:solidFill>
                <a:latin typeface="Nunito" pitchFamily="34" charset="0"/>
                <a:ea typeface="Nunito" pitchFamily="34" charset="-122"/>
                <a:cs typeface="Nunito" pitchFamily="34" charset="-120"/>
              </a:rPr>
              <a:t>PhoBERT chưa từng được chạy</a:t>
            </a:r>
            <a:endParaRPr lang="en-US" sz="1250" dirty="0"/>
          </a:p>
        </p:txBody>
      </p:sp>
      <p:sp>
        <p:nvSpPr>
          <p:cNvPr id="7" name="Text 5"/>
          <p:cNvSpPr txBox="1"/>
          <p:nvPr/>
        </p:nvSpPr>
        <p:spPr>
          <a:xfrm>
            <a:off x="5440680" y="1764792"/>
            <a:ext cx="5806440" cy="457200"/>
          </a:xfrm>
          <a:prstGeom prst="rect">
            <a:avLst/>
          </a:prstGeom>
          <a:noFill/>
          <a:ln/>
        </p:spPr>
        <p:txBody>
          <a:bodyPr wrap="square" lIns="0" tIns="0" rIns="0" bIns="0" rtlCol="0" anchor="t"/>
          <a:lstStyle/>
          <a:p>
            <a:pPr algn="l" indent="0" marL="0">
              <a:lnSpc>
                <a:spcPts val="1523"/>
              </a:lnSpc>
              <a:buNone/>
            </a:pPr>
            <a:r>
              <a:rPr lang="en-US" sz="1050" dirty="0">
                <a:solidFill>
                  <a:srgbClr val="645C50"/>
                </a:solidFill>
                <a:latin typeface="Nunito" pitchFamily="34" charset="0"/>
                <a:ea typeface="Nunito" pitchFamily="34" charset="-122"/>
                <a:cs typeface="Nunito" pitchFamily="34" charset="-120"/>
              </a:rPr>
              <a:t>Giả thuyết trung tâm “encoder tiếng Việt vượt mBERT” CHƯA KIỂM ĐƯỢC — ViSoBERT là mô hình thay thế, không phải phép kiểm</a:t>
            </a:r>
            <a:endParaRPr lang="en-US" sz="1050" dirty="0"/>
          </a:p>
        </p:txBody>
      </p:sp>
      <p:sp>
        <p:nvSpPr>
          <p:cNvPr id="8" name="Shape 6"/>
          <p:cNvSpPr/>
          <p:nvPr/>
        </p:nvSpPr>
        <p:spPr>
          <a:xfrm>
            <a:off x="685800" y="2395728"/>
            <a:ext cx="10820095" cy="676656"/>
          </a:xfrm>
          <a:prstGeom prst="roundRect">
            <a:avLst>
              <a:gd name="adj" fmla="val 21622"/>
            </a:avLst>
          </a:prstGeom>
          <a:solidFill>
            <a:srgbClr val="EBDDC5"/>
          </a:solidFill>
          <a:ln w="12700">
            <a:solidFill>
              <a:srgbClr val="EBDDC5"/>
            </a:solidFill>
            <a:prstDash val="solid"/>
          </a:ln>
        </p:spPr>
      </p:sp>
      <p:sp>
        <p:nvSpPr>
          <p:cNvPr id="9" name="Text 7"/>
          <p:cNvSpPr txBox="1"/>
          <p:nvPr/>
        </p:nvSpPr>
        <p:spPr>
          <a:xfrm>
            <a:off x="960120" y="2560320"/>
            <a:ext cx="274320" cy="347472"/>
          </a:xfrm>
          <a:prstGeom prst="rect">
            <a:avLst/>
          </a:prstGeom>
          <a:noFill/>
          <a:ln/>
        </p:spPr>
        <p:txBody>
          <a:bodyPr wrap="square" lIns="0" tIns="0" rIns="0" bIns="0" rtlCol="0" anchor="ctr"/>
          <a:lstStyle/>
          <a:p>
            <a:pPr indent="0" marL="0">
              <a:buNone/>
            </a:pPr>
            <a:r>
              <a:rPr lang="en-US" sz="1600" b="1" dirty="0">
                <a:solidFill>
                  <a:srgbClr val="C67139"/>
                </a:solidFill>
                <a:latin typeface="Baloo 2" pitchFamily="34" charset="0"/>
                <a:ea typeface="Baloo 2" pitchFamily="34" charset="-122"/>
                <a:cs typeface="Baloo 2" pitchFamily="34" charset="-120"/>
              </a:rPr>
              <a:t>—</a:t>
            </a:r>
            <a:endParaRPr lang="en-US" sz="1600" dirty="0"/>
          </a:p>
        </p:txBody>
      </p:sp>
      <p:sp>
        <p:nvSpPr>
          <p:cNvPr id="10" name="Text 8"/>
          <p:cNvSpPr txBox="1"/>
          <p:nvPr/>
        </p:nvSpPr>
        <p:spPr>
          <a:xfrm>
            <a:off x="1307592" y="2569464"/>
            <a:ext cx="3931920" cy="347472"/>
          </a:xfrm>
          <a:prstGeom prst="rect">
            <a:avLst/>
          </a:prstGeom>
          <a:noFill/>
          <a:ln/>
        </p:spPr>
        <p:txBody>
          <a:bodyPr wrap="square" lIns="0" tIns="0" rIns="0" bIns="0" rtlCol="0" anchor="ctr"/>
          <a:lstStyle/>
          <a:p>
            <a:pPr algn="l" indent="0" marL="0">
              <a:lnSpc>
                <a:spcPts val="1813"/>
              </a:lnSpc>
              <a:buNone/>
            </a:pPr>
            <a:r>
              <a:rPr lang="en-US" sz="1250" b="1" dirty="0">
                <a:solidFill>
                  <a:srgbClr val="201E1D"/>
                </a:solidFill>
                <a:latin typeface="Nunito" pitchFamily="34" charset="0"/>
                <a:ea typeface="Nunito" pitchFamily="34" charset="-122"/>
                <a:cs typeface="Nunito" pitchFamily="34" charset="-120"/>
              </a:rPr>
              <a:t>ViSoBERT chưa huấn luyện lại sau chẩn đoán</a:t>
            </a:r>
            <a:endParaRPr lang="en-US" sz="1250" dirty="0"/>
          </a:p>
        </p:txBody>
      </p:sp>
      <p:sp>
        <p:nvSpPr>
          <p:cNvPr id="11" name="Text 9"/>
          <p:cNvSpPr txBox="1"/>
          <p:nvPr/>
        </p:nvSpPr>
        <p:spPr>
          <a:xfrm>
            <a:off x="5440680" y="2514600"/>
            <a:ext cx="5806440" cy="457200"/>
          </a:xfrm>
          <a:prstGeom prst="rect">
            <a:avLst/>
          </a:prstGeom>
          <a:noFill/>
          <a:ln/>
        </p:spPr>
        <p:txBody>
          <a:bodyPr wrap="square" lIns="0" tIns="0" rIns="0" bIns="0" rtlCol="0" anchor="t"/>
          <a:lstStyle/>
          <a:p>
            <a:pPr algn="l" indent="0" marL="0">
              <a:lnSpc>
                <a:spcPts val="1523"/>
              </a:lnSpc>
              <a:buNone/>
            </a:pPr>
            <a:r>
              <a:rPr lang="en-US" sz="1050" dirty="0">
                <a:solidFill>
                  <a:srgbClr val="645C50"/>
                </a:solidFill>
                <a:latin typeface="Nunito" pitchFamily="34" charset="0"/>
                <a:ea typeface="Nunito" pitchFamily="34" charset="-122"/>
                <a:cs typeface="Nunito" pitchFamily="34" charset="-120"/>
              </a:rPr>
              <a:t>Lời giải thích max_length vẫn là giả thuyết phù hợp bằng chứng, chưa phải nhân quả</a:t>
            </a:r>
            <a:endParaRPr lang="en-US" sz="1050" dirty="0"/>
          </a:p>
        </p:txBody>
      </p:sp>
      <p:sp>
        <p:nvSpPr>
          <p:cNvPr id="12" name="Shape 10"/>
          <p:cNvSpPr/>
          <p:nvPr/>
        </p:nvSpPr>
        <p:spPr>
          <a:xfrm>
            <a:off x="685800" y="3145536"/>
            <a:ext cx="10820095" cy="676656"/>
          </a:xfrm>
          <a:prstGeom prst="roundRect">
            <a:avLst>
              <a:gd name="adj" fmla="val 21622"/>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13" name="Text 11"/>
          <p:cNvSpPr txBox="1"/>
          <p:nvPr/>
        </p:nvSpPr>
        <p:spPr>
          <a:xfrm>
            <a:off x="960120" y="3310128"/>
            <a:ext cx="274320" cy="347472"/>
          </a:xfrm>
          <a:prstGeom prst="rect">
            <a:avLst/>
          </a:prstGeom>
          <a:noFill/>
          <a:ln/>
        </p:spPr>
        <p:txBody>
          <a:bodyPr wrap="square" lIns="0" tIns="0" rIns="0" bIns="0" rtlCol="0" anchor="ctr"/>
          <a:lstStyle/>
          <a:p>
            <a:pPr indent="0" marL="0">
              <a:buNone/>
            </a:pPr>
            <a:r>
              <a:rPr lang="en-US" sz="1600" b="1" dirty="0">
                <a:solidFill>
                  <a:srgbClr val="C67139"/>
                </a:solidFill>
                <a:latin typeface="Baloo 2" pitchFamily="34" charset="0"/>
                <a:ea typeface="Baloo 2" pitchFamily="34" charset="-122"/>
                <a:cs typeface="Baloo 2" pitchFamily="34" charset="-120"/>
              </a:rPr>
              <a:t>—</a:t>
            </a:r>
            <a:endParaRPr lang="en-US" sz="1600" dirty="0"/>
          </a:p>
        </p:txBody>
      </p:sp>
      <p:sp>
        <p:nvSpPr>
          <p:cNvPr id="14" name="Text 12"/>
          <p:cNvSpPr txBox="1"/>
          <p:nvPr/>
        </p:nvSpPr>
        <p:spPr>
          <a:xfrm>
            <a:off x="1307592" y="3319272"/>
            <a:ext cx="3931920" cy="347472"/>
          </a:xfrm>
          <a:prstGeom prst="rect">
            <a:avLst/>
          </a:prstGeom>
          <a:noFill/>
          <a:ln/>
        </p:spPr>
        <p:txBody>
          <a:bodyPr wrap="square" lIns="0" tIns="0" rIns="0" bIns="0" rtlCol="0" anchor="ctr"/>
          <a:lstStyle/>
          <a:p>
            <a:pPr algn="l" indent="0" marL="0">
              <a:lnSpc>
                <a:spcPts val="1813"/>
              </a:lnSpc>
              <a:buNone/>
            </a:pPr>
            <a:r>
              <a:rPr lang="en-US" sz="1250" b="1" dirty="0">
                <a:solidFill>
                  <a:srgbClr val="201E1D"/>
                </a:solidFill>
                <a:latin typeface="Nunito" pitchFamily="34" charset="0"/>
                <a:ea typeface="Nunito" pitchFamily="34" charset="-122"/>
                <a:cs typeface="Nunito" pitchFamily="34" charset="-120"/>
              </a:rPr>
              <a:t>Đánh giá trên validation, không phải test</a:t>
            </a:r>
            <a:endParaRPr lang="en-US" sz="1250" dirty="0"/>
          </a:p>
        </p:txBody>
      </p:sp>
      <p:sp>
        <p:nvSpPr>
          <p:cNvPr id="15" name="Text 13"/>
          <p:cNvSpPr txBox="1"/>
          <p:nvPr/>
        </p:nvSpPr>
        <p:spPr>
          <a:xfrm>
            <a:off x="5440680" y="3264408"/>
            <a:ext cx="5806440" cy="457200"/>
          </a:xfrm>
          <a:prstGeom prst="rect">
            <a:avLst/>
          </a:prstGeom>
          <a:noFill/>
          <a:ln/>
        </p:spPr>
        <p:txBody>
          <a:bodyPr wrap="square" lIns="0" tIns="0" rIns="0" bIns="0" rtlCol="0" anchor="t"/>
          <a:lstStyle/>
          <a:p>
            <a:pPr algn="l" indent="0" marL="0">
              <a:lnSpc>
                <a:spcPts val="1523"/>
              </a:lnSpc>
              <a:buNone/>
            </a:pPr>
            <a:r>
              <a:rPr lang="en-US" sz="1050" dirty="0">
                <a:solidFill>
                  <a:srgbClr val="645C50"/>
                </a:solidFill>
                <a:latin typeface="Nunito" pitchFamily="34" charset="0"/>
                <a:ea typeface="Nunito" pitchFamily="34" charset="-122"/>
                <a:cs typeface="Nunito" pitchFamily="34" charset="-120"/>
              </a:rPr>
              <a:t>Test là blind split — giới hạn của dữ liệu công khai, không phải của thiết kế. Validation cũng dùng để chọn epoch</a:t>
            </a:r>
            <a:endParaRPr lang="en-US" sz="1050" dirty="0"/>
          </a:p>
        </p:txBody>
      </p:sp>
      <p:sp>
        <p:nvSpPr>
          <p:cNvPr id="16" name="Shape 14"/>
          <p:cNvSpPr/>
          <p:nvPr/>
        </p:nvSpPr>
        <p:spPr>
          <a:xfrm>
            <a:off x="685800" y="3895344"/>
            <a:ext cx="10820095" cy="676656"/>
          </a:xfrm>
          <a:prstGeom prst="roundRect">
            <a:avLst>
              <a:gd name="adj" fmla="val 21622"/>
            </a:avLst>
          </a:prstGeom>
          <a:solidFill>
            <a:srgbClr val="EBDDC5"/>
          </a:solidFill>
          <a:ln w="12700">
            <a:solidFill>
              <a:srgbClr val="EBDDC5"/>
            </a:solidFill>
            <a:prstDash val="solid"/>
          </a:ln>
        </p:spPr>
      </p:sp>
      <p:sp>
        <p:nvSpPr>
          <p:cNvPr id="17" name="Text 15"/>
          <p:cNvSpPr txBox="1"/>
          <p:nvPr/>
        </p:nvSpPr>
        <p:spPr>
          <a:xfrm>
            <a:off x="960120" y="4059936"/>
            <a:ext cx="274320" cy="347472"/>
          </a:xfrm>
          <a:prstGeom prst="rect">
            <a:avLst/>
          </a:prstGeom>
          <a:noFill/>
          <a:ln/>
        </p:spPr>
        <p:txBody>
          <a:bodyPr wrap="square" lIns="0" tIns="0" rIns="0" bIns="0" rtlCol="0" anchor="ctr"/>
          <a:lstStyle/>
          <a:p>
            <a:pPr indent="0" marL="0">
              <a:buNone/>
            </a:pPr>
            <a:r>
              <a:rPr lang="en-US" sz="1600" b="1" dirty="0">
                <a:solidFill>
                  <a:srgbClr val="C67139"/>
                </a:solidFill>
                <a:latin typeface="Baloo 2" pitchFamily="34" charset="0"/>
                <a:ea typeface="Baloo 2" pitchFamily="34" charset="-122"/>
                <a:cs typeface="Baloo 2" pitchFamily="34" charset="-120"/>
              </a:rPr>
              <a:t>—</a:t>
            </a:r>
            <a:endParaRPr lang="en-US" sz="1600" dirty="0"/>
          </a:p>
        </p:txBody>
      </p:sp>
      <p:sp>
        <p:nvSpPr>
          <p:cNvPr id="18" name="Text 16"/>
          <p:cNvSpPr txBox="1"/>
          <p:nvPr/>
        </p:nvSpPr>
        <p:spPr>
          <a:xfrm>
            <a:off x="1307592" y="4069080"/>
            <a:ext cx="3931920" cy="347472"/>
          </a:xfrm>
          <a:prstGeom prst="rect">
            <a:avLst/>
          </a:prstGeom>
          <a:noFill/>
          <a:ln/>
        </p:spPr>
        <p:txBody>
          <a:bodyPr wrap="square" lIns="0" tIns="0" rIns="0" bIns="0" rtlCol="0" anchor="ctr"/>
          <a:lstStyle/>
          <a:p>
            <a:pPr algn="l" indent="0" marL="0">
              <a:lnSpc>
                <a:spcPts val="1813"/>
              </a:lnSpc>
              <a:buNone/>
            </a:pPr>
            <a:r>
              <a:rPr lang="en-US" sz="1250" b="1" dirty="0">
                <a:solidFill>
                  <a:srgbClr val="201E1D"/>
                </a:solidFill>
                <a:latin typeface="Nunito" pitchFamily="34" charset="0"/>
                <a:ea typeface="Nunito" pitchFamily="34" charset="-122"/>
                <a:cs typeface="Nunito" pitchFamily="34" charset="-120"/>
              </a:rPr>
              <a:t>n = 3814, một seed duy nhất</a:t>
            </a:r>
            <a:endParaRPr lang="en-US" sz="1250" dirty="0"/>
          </a:p>
        </p:txBody>
      </p:sp>
      <p:sp>
        <p:nvSpPr>
          <p:cNvPr id="19" name="Text 17"/>
          <p:cNvSpPr txBox="1"/>
          <p:nvPr/>
        </p:nvSpPr>
        <p:spPr>
          <a:xfrm>
            <a:off x="5440680" y="4014216"/>
            <a:ext cx="5806440" cy="457200"/>
          </a:xfrm>
          <a:prstGeom prst="rect">
            <a:avLst/>
          </a:prstGeom>
          <a:noFill/>
          <a:ln/>
        </p:spPr>
        <p:txBody>
          <a:bodyPr wrap="square" lIns="0" tIns="0" rIns="0" bIns="0" rtlCol="0" anchor="t"/>
          <a:lstStyle/>
          <a:p>
            <a:pPr algn="l" indent="0" marL="0">
              <a:lnSpc>
                <a:spcPts val="1523"/>
              </a:lnSpc>
              <a:buNone/>
            </a:pPr>
            <a:r>
              <a:rPr lang="en-US" sz="1050" dirty="0">
                <a:solidFill>
                  <a:srgbClr val="645C50"/>
                </a:solidFill>
                <a:latin typeface="Nunito" pitchFamily="34" charset="0"/>
                <a:ea typeface="Nunito" pitchFamily="34" charset="-122"/>
                <a:cs typeface="Nunito" pitchFamily="34" charset="-120"/>
              </a:rPr>
              <a:t>CI 95% khoảng ±4,4 điểm — chênh lệch F1 answerable giữa mBERT và XLM-R KHÔNG có ý nghĩa</a:t>
            </a:r>
            <a:endParaRPr lang="en-US" sz="1050" dirty="0"/>
          </a:p>
        </p:txBody>
      </p:sp>
      <p:sp>
        <p:nvSpPr>
          <p:cNvPr id="20" name="Shape 18"/>
          <p:cNvSpPr/>
          <p:nvPr/>
        </p:nvSpPr>
        <p:spPr>
          <a:xfrm>
            <a:off x="685800" y="4645152"/>
            <a:ext cx="10820095" cy="676656"/>
          </a:xfrm>
          <a:prstGeom prst="roundRect">
            <a:avLst>
              <a:gd name="adj" fmla="val 21622"/>
            </a:avLst>
          </a:prstGeom>
          <a:solidFill>
            <a:srgbClr val="F9F4ED"/>
          </a:solidFill>
          <a:ln w="12700">
            <a:solidFill>
              <a:srgbClr val="F9F4ED"/>
            </a:solidFill>
            <a:prstDash val="solid"/>
          </a:ln>
          <a:effectLst>
            <a:outerShdw sx="100000" sy="100000" kx="0" ky="0" algn="bl" rotWithShape="0" blurRad="101600" dist="25400" dir="5400000">
              <a:srgbClr val="2E2B25">
                <a:alpha val="12000"/>
              </a:srgbClr>
            </a:outerShdw>
          </a:effectLst>
        </p:spPr>
      </p:sp>
      <p:sp>
        <p:nvSpPr>
          <p:cNvPr id="21" name="Text 19"/>
          <p:cNvSpPr txBox="1"/>
          <p:nvPr/>
        </p:nvSpPr>
        <p:spPr>
          <a:xfrm>
            <a:off x="960120" y="4809744"/>
            <a:ext cx="274320" cy="347472"/>
          </a:xfrm>
          <a:prstGeom prst="rect">
            <a:avLst/>
          </a:prstGeom>
          <a:noFill/>
          <a:ln/>
        </p:spPr>
        <p:txBody>
          <a:bodyPr wrap="square" lIns="0" tIns="0" rIns="0" bIns="0" rtlCol="0" anchor="ctr"/>
          <a:lstStyle/>
          <a:p>
            <a:pPr indent="0" marL="0">
              <a:buNone/>
            </a:pPr>
            <a:r>
              <a:rPr lang="en-US" sz="1600" b="1" dirty="0">
                <a:solidFill>
                  <a:srgbClr val="C67139"/>
                </a:solidFill>
                <a:latin typeface="Baloo 2" pitchFamily="34" charset="0"/>
                <a:ea typeface="Baloo 2" pitchFamily="34" charset="-122"/>
                <a:cs typeface="Baloo 2" pitchFamily="34" charset="-120"/>
              </a:rPr>
              <a:t>—</a:t>
            </a:r>
            <a:endParaRPr lang="en-US" sz="1600" dirty="0"/>
          </a:p>
        </p:txBody>
      </p:sp>
      <p:sp>
        <p:nvSpPr>
          <p:cNvPr id="22" name="Text 20"/>
          <p:cNvSpPr txBox="1"/>
          <p:nvPr/>
        </p:nvSpPr>
        <p:spPr>
          <a:xfrm>
            <a:off x="1307592" y="4818888"/>
            <a:ext cx="3931920" cy="347472"/>
          </a:xfrm>
          <a:prstGeom prst="rect">
            <a:avLst/>
          </a:prstGeom>
          <a:noFill/>
          <a:ln/>
        </p:spPr>
        <p:txBody>
          <a:bodyPr wrap="square" lIns="0" tIns="0" rIns="0" bIns="0" rtlCol="0" anchor="ctr"/>
          <a:lstStyle/>
          <a:p>
            <a:pPr algn="l" indent="0" marL="0">
              <a:lnSpc>
                <a:spcPts val="1813"/>
              </a:lnSpc>
              <a:buNone/>
            </a:pPr>
            <a:r>
              <a:rPr lang="en-US" sz="1250" b="1" dirty="0">
                <a:solidFill>
                  <a:srgbClr val="201E1D"/>
                </a:solidFill>
                <a:latin typeface="Nunito" pitchFamily="34" charset="0"/>
                <a:ea typeface="Nunito" pitchFamily="34" charset="-122"/>
                <a:cs typeface="Nunito" pitchFamily="34" charset="-120"/>
              </a:rPr>
              <a:t>Độ dài context và question_type</a:t>
            </a:r>
            <a:endParaRPr lang="en-US" sz="1250" dirty="0"/>
          </a:p>
        </p:txBody>
      </p:sp>
      <p:sp>
        <p:nvSpPr>
          <p:cNvPr id="23" name="Text 21"/>
          <p:cNvSpPr txBox="1"/>
          <p:nvPr/>
        </p:nvSpPr>
        <p:spPr>
          <a:xfrm>
            <a:off x="5440680" y="4764024"/>
            <a:ext cx="5806440" cy="457200"/>
          </a:xfrm>
          <a:prstGeom prst="rect">
            <a:avLst/>
          </a:prstGeom>
          <a:noFill/>
          <a:ln/>
        </p:spPr>
        <p:txBody>
          <a:bodyPr wrap="square" lIns="0" tIns="0" rIns="0" bIns="0" rtlCol="0" anchor="t"/>
          <a:lstStyle/>
          <a:p>
            <a:pPr algn="l" indent="0" marL="0">
              <a:lnSpc>
                <a:spcPts val="1523"/>
              </a:lnSpc>
              <a:buNone/>
            </a:pPr>
            <a:r>
              <a:rPr lang="en-US" sz="1050" dirty="0">
                <a:solidFill>
                  <a:srgbClr val="645C50"/>
                </a:solidFill>
                <a:latin typeface="Nunito" pitchFamily="34" charset="0"/>
                <a:ea typeface="Nunito" pitchFamily="34" charset="-122"/>
                <a:cs typeface="Nunito" pitchFamily="34" charset="-120"/>
              </a:rPr>
              <a:t>Mẫu chỉ có 129 câu ở nhóm 300+ nên chưa trả lời được; question_type là heuristic tự gán, ngưỡng 0,6 chọn theo quan sát</a:t>
            </a:r>
            <a:endParaRPr lang="en-US" sz="1050" dirty="0"/>
          </a:p>
        </p:txBody>
      </p:sp>
      <p:sp>
        <p:nvSpPr>
          <p:cNvPr id="24" name="Shape 22"/>
          <p:cNvSpPr/>
          <p:nvPr/>
        </p:nvSpPr>
        <p:spPr>
          <a:xfrm>
            <a:off x="685800" y="5468112"/>
            <a:ext cx="10820095" cy="749808"/>
          </a:xfrm>
          <a:prstGeom prst="roundRect">
            <a:avLst>
              <a:gd name="adj" fmla="val 19512"/>
            </a:avLst>
          </a:prstGeom>
          <a:solidFill>
            <a:srgbClr val="F0FAE1"/>
          </a:solidFill>
          <a:ln w="12700">
            <a:solidFill>
              <a:srgbClr val="F0FAE1"/>
            </a:solidFill>
            <a:prstDash val="solid"/>
          </a:ln>
        </p:spPr>
      </p:sp>
      <p:sp>
        <p:nvSpPr>
          <p:cNvPr id="25" name="Text 23"/>
          <p:cNvSpPr txBox="1"/>
          <p:nvPr/>
        </p:nvSpPr>
        <p:spPr>
          <a:xfrm>
            <a:off x="1005840" y="5596128"/>
            <a:ext cx="2286000" cy="219456"/>
          </a:xfrm>
          <a:prstGeom prst="rect">
            <a:avLst/>
          </a:prstGeom>
          <a:noFill/>
          <a:ln/>
        </p:spPr>
        <p:txBody>
          <a:bodyPr wrap="square" lIns="0" tIns="0" rIns="0" bIns="0" rtlCol="0" anchor="ctr"/>
          <a:lstStyle/>
          <a:p>
            <a:pPr indent="0" marL="0">
              <a:buNone/>
            </a:pPr>
            <a:r>
              <a:rPr lang="en-US" sz="950" b="1" spc="160" kern="0" dirty="0">
                <a:solidFill>
                  <a:srgbClr val="3D472B"/>
                </a:solidFill>
                <a:latin typeface="Nunito" pitchFamily="34" charset="0"/>
                <a:ea typeface="Nunito" pitchFamily="34" charset="-122"/>
                <a:cs typeface="Nunito" pitchFamily="34" charset="-120"/>
              </a:rPr>
              <a:t>HƯỚNG PHÁT TRIỂN</a:t>
            </a:r>
            <a:endParaRPr lang="en-US" sz="950" dirty="0"/>
          </a:p>
        </p:txBody>
      </p:sp>
      <p:sp>
        <p:nvSpPr>
          <p:cNvPr id="26" name="Text 24"/>
          <p:cNvSpPr txBox="1"/>
          <p:nvPr/>
        </p:nvSpPr>
        <p:spPr>
          <a:xfrm>
            <a:off x="3063240" y="5614416"/>
            <a:ext cx="8229600" cy="502920"/>
          </a:xfrm>
          <a:prstGeom prst="rect">
            <a:avLst/>
          </a:prstGeom>
          <a:noFill/>
          <a:ln/>
        </p:spPr>
        <p:txBody>
          <a:bodyPr wrap="square" lIns="0" tIns="0" rIns="0" bIns="0" rtlCol="0" anchor="t"/>
          <a:lstStyle/>
          <a:p>
            <a:pPr algn="l" indent="0" marL="0">
              <a:lnSpc>
                <a:spcPts val="1595"/>
              </a:lnSpc>
              <a:buNone/>
            </a:pPr>
            <a:r>
              <a:rPr lang="en-US" sz="1100" dirty="0">
                <a:solidFill>
                  <a:srgbClr val="3D472B"/>
                </a:solidFill>
                <a:latin typeface="Nunito" pitchFamily="34" charset="0"/>
                <a:ea typeface="Nunito" pitchFamily="34" charset="-122"/>
                <a:cs typeface="Nunito" pitchFamily="34" charset="-120"/>
              </a:rPr>
              <a:t>Huấn luyện lại ViSoBERT với max_length 512 (giới hạn positional embedding; hoặc giảm cửa sổ null / tăng doc_stride) và lr thấp hơn — phép kiểm trực tiếp  ·  chạy --full trên 3.814 câu  ·  thêm epoch cho mBERT (loss vẫn đang giảm)  ·  tích hợp PhoBERT khi có đường lấy offset  ·  mở rộng dữ liệu ra ngoài miền Wikipedia</a:t>
            </a:r>
            <a:endParaRPr lang="en-US" sz="1100" dirty="0"/>
          </a:p>
        </p:txBody>
      </p:sp>
      <p:sp>
        <p:nvSpPr>
          <p:cNvPr id="27" name="Text 25"/>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6 · Hạn chế &amp; hướng phát triển</a:t>
            </a:r>
            <a:endParaRPr lang="en-US" sz="1000" dirty="0"/>
          </a:p>
        </p:txBody>
      </p:sp>
      <p:sp>
        <p:nvSpPr>
          <p:cNvPr id="28" name="Text 26"/>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E2B25"/>
        </a:solidFill>
      </p:bgPr>
    </p:bg>
    <p:spTree>
      <p:nvGrpSpPr>
        <p:cNvPr id="1" name=""/>
        <p:cNvGrpSpPr/>
        <p:nvPr/>
      </p:nvGrpSpPr>
      <p:grpSpPr>
        <a:xfrm>
          <a:off x="0" y="0"/>
          <a:ext cx="0" cy="0"/>
          <a:chOff x="0" y="0"/>
          <a:chExt cx="0" cy="0"/>
        </a:xfrm>
      </p:grpSpPr>
      <p:sp>
        <p:nvSpPr>
          <p:cNvPr id="2" name="Text 0"/>
          <p:cNvSpPr txBox="1"/>
          <p:nvPr/>
        </p:nvSpPr>
        <p:spPr>
          <a:xfrm>
            <a:off x="685800" y="1051560"/>
            <a:ext cx="10820095" cy="274320"/>
          </a:xfrm>
          <a:prstGeom prst="rect">
            <a:avLst/>
          </a:prstGeom>
          <a:noFill/>
          <a:ln/>
        </p:spPr>
        <p:txBody>
          <a:bodyPr wrap="square" lIns="0" tIns="0" rIns="0" bIns="0" rtlCol="0" anchor="ctr"/>
          <a:lstStyle/>
          <a:p>
            <a:pPr indent="0" marL="0">
              <a:buNone/>
            </a:pPr>
            <a:r>
              <a:rPr lang="en-US" sz="1200" b="1" spc="240" kern="0" dirty="0">
                <a:solidFill>
                  <a:srgbClr val="C67139"/>
                </a:solidFill>
                <a:latin typeface="Nunito" pitchFamily="34" charset="0"/>
                <a:ea typeface="Nunito" pitchFamily="34" charset="-122"/>
                <a:cs typeface="Nunito" pitchFamily="34" charset="-120"/>
              </a:rPr>
              <a:t>KẾT LUẬN</a:t>
            </a:r>
            <a:endParaRPr lang="en-US" sz="1200" dirty="0"/>
          </a:p>
        </p:txBody>
      </p:sp>
      <p:sp>
        <p:nvSpPr>
          <p:cNvPr id="3" name="Text 1"/>
          <p:cNvSpPr txBox="1"/>
          <p:nvPr/>
        </p:nvSpPr>
        <p:spPr>
          <a:xfrm>
            <a:off x="685800" y="1508760"/>
            <a:ext cx="10515600" cy="1554480"/>
          </a:xfrm>
          <a:prstGeom prst="rect">
            <a:avLst/>
          </a:prstGeom>
          <a:noFill/>
          <a:ln/>
        </p:spPr>
        <p:txBody>
          <a:bodyPr wrap="square" lIns="0" tIns="0" rIns="0" bIns="0" rtlCol="0" anchor="ctr"/>
          <a:lstStyle/>
          <a:p>
            <a:pPr indent="0" marL="0">
              <a:lnSpc>
                <a:spcPts val="4600"/>
              </a:lnSpc>
              <a:buNone/>
            </a:pPr>
            <a:r>
              <a:rPr lang="en-US" sz="3600" b="1" dirty="0">
                <a:solidFill>
                  <a:srgbClr val="F5EAD8"/>
                </a:solidFill>
                <a:latin typeface="Baloo 2" pitchFamily="34" charset="0"/>
                <a:ea typeface="Baloo 2" pitchFamily="34" charset="-122"/>
                <a:cs typeface="Baloo 2" pitchFamily="34" charset="-120"/>
              </a:rPr>
              <a:t>Điểm tổng trộn hai kỹ năng:</a:t>
            </a:r>
            <a:endParaRPr lang="en-US" sz="3600" dirty="0"/>
          </a:p>
          <a:p>
            <a:pPr indent="0" marL="0">
              <a:lnSpc>
                <a:spcPts val="4600"/>
              </a:lnSpc>
              <a:buNone/>
            </a:pPr>
            <a:r>
              <a:rPr lang="en-US" sz="3600" b="1" dirty="0">
                <a:solidFill>
                  <a:srgbClr val="F5EAD8"/>
                </a:solidFill>
                <a:latin typeface="Baloo 2" pitchFamily="34" charset="0"/>
                <a:ea typeface="Baloo 2" pitchFamily="34" charset="-122"/>
                <a:cs typeface="Baloo 2" pitchFamily="34" charset="-120"/>
              </a:rPr>
              <a:t>tìm span, và biết khi nào im lặng.</a:t>
            </a:r>
            <a:endParaRPr lang="en-US" sz="3600" dirty="0"/>
          </a:p>
        </p:txBody>
      </p:sp>
      <p:sp>
        <p:nvSpPr>
          <p:cNvPr id="4" name="Text 2"/>
          <p:cNvSpPr txBox="1"/>
          <p:nvPr/>
        </p:nvSpPr>
        <p:spPr>
          <a:xfrm>
            <a:off x="685800" y="3108960"/>
            <a:ext cx="10058400" cy="548640"/>
          </a:xfrm>
          <a:prstGeom prst="rect">
            <a:avLst/>
          </a:prstGeom>
          <a:noFill/>
          <a:ln/>
        </p:spPr>
        <p:txBody>
          <a:bodyPr wrap="square" lIns="0" tIns="0" rIns="0" bIns="0" rtlCol="0" anchor="ctr"/>
          <a:lstStyle/>
          <a:p>
            <a:pPr indent="0" marL="0">
              <a:buNone/>
            </a:pPr>
            <a:r>
              <a:rPr lang="en-US" sz="1400" i="1" dirty="0">
                <a:solidFill>
                  <a:srgbClr val="A19786"/>
                </a:solidFill>
                <a:latin typeface="Nunito" pitchFamily="34" charset="0"/>
                <a:ea typeface="Nunito" pitchFamily="34" charset="-122"/>
                <a:cs typeface="Nunito" pitchFamily="34" charset="-120"/>
              </a:rPr>
              <a:t>Còn câu hỏi “tiếng Việt chuyên biệt có giúp không?” thì vẫn để ngỏ — PhoBERT chưa chạy, lần huấn luyện ViSoBERT đã suy sụp vì một nguyên nhân cấu hình chưa được bù trừ. Nói rõ điều đó cũng là một kết quả.</a:t>
            </a:r>
            <a:endParaRPr lang="en-US" sz="1400" dirty="0"/>
          </a:p>
        </p:txBody>
      </p:sp>
      <p:sp>
        <p:nvSpPr>
          <p:cNvPr id="5" name="Shape 3"/>
          <p:cNvSpPr/>
          <p:nvPr/>
        </p:nvSpPr>
        <p:spPr>
          <a:xfrm>
            <a:off x="685800" y="3931920"/>
            <a:ext cx="2560320" cy="1508760"/>
          </a:xfrm>
          <a:prstGeom prst="roundRect">
            <a:avLst>
              <a:gd name="adj" fmla="val 9697"/>
            </a:avLst>
          </a:prstGeom>
          <a:solidFill>
            <a:srgbClr val="3B362E"/>
          </a:solidFill>
          <a:ln w="12700">
            <a:solidFill>
              <a:srgbClr val="3B362E"/>
            </a:solidFill>
            <a:prstDash val="solid"/>
          </a:ln>
        </p:spPr>
      </p:sp>
      <p:sp>
        <p:nvSpPr>
          <p:cNvPr id="6" name="Text 4"/>
          <p:cNvSpPr txBox="1"/>
          <p:nvPr/>
        </p:nvSpPr>
        <p:spPr>
          <a:xfrm>
            <a:off x="914400" y="4114800"/>
            <a:ext cx="2103120" cy="548640"/>
          </a:xfrm>
          <a:prstGeom prst="rect">
            <a:avLst/>
          </a:prstGeom>
          <a:noFill/>
          <a:ln/>
        </p:spPr>
        <p:txBody>
          <a:bodyPr wrap="square" lIns="0" tIns="0" rIns="0" bIns="0" rtlCol="0" anchor="ctr"/>
          <a:lstStyle/>
          <a:p>
            <a:pPr indent="0" marL="0">
              <a:buNone/>
            </a:pPr>
            <a:r>
              <a:rPr lang="en-US" sz="3000" b="1" dirty="0">
                <a:solidFill>
                  <a:srgbClr val="C67139"/>
                </a:solidFill>
                <a:latin typeface="Baloo 2" pitchFamily="34" charset="0"/>
                <a:ea typeface="Baloo 2" pitchFamily="34" charset="-122"/>
                <a:cs typeface="Baloo 2" pitchFamily="34" charset="-120"/>
              </a:rPr>
              <a:t>48,95</a:t>
            </a:r>
            <a:endParaRPr lang="en-US" sz="3000" dirty="0"/>
          </a:p>
        </p:txBody>
      </p:sp>
      <p:sp>
        <p:nvSpPr>
          <p:cNvPr id="7" name="Text 5"/>
          <p:cNvSpPr txBox="1"/>
          <p:nvPr/>
        </p:nvSpPr>
        <p:spPr>
          <a:xfrm>
            <a:off x="914400" y="4718304"/>
            <a:ext cx="2148840" cy="640080"/>
          </a:xfrm>
          <a:prstGeom prst="rect">
            <a:avLst/>
          </a:prstGeom>
          <a:noFill/>
          <a:ln/>
        </p:spPr>
        <p:txBody>
          <a:bodyPr wrap="square" lIns="0" tIns="0" rIns="0" bIns="0" rtlCol="0" anchor="ctr"/>
          <a:lstStyle/>
          <a:p>
            <a:pPr indent="0" marL="0">
              <a:lnSpc>
                <a:spcPts val="1500"/>
              </a:lnSpc>
              <a:buNone/>
            </a:pPr>
            <a:r>
              <a:rPr lang="en-US" sz="1150" dirty="0">
                <a:solidFill>
                  <a:srgbClr val="A19786"/>
                </a:solidFill>
                <a:latin typeface="Nunito" pitchFamily="34" charset="0"/>
                <a:ea typeface="Nunito" pitchFamily="34" charset="-122"/>
                <a:cs typeface="Nunito" pitchFamily="34" charset="-120"/>
              </a:rPr>
              <a:t>EM · mBERT fine-tuned</a:t>
            </a:r>
            <a:endParaRPr lang="en-US" sz="1150" dirty="0"/>
          </a:p>
        </p:txBody>
      </p:sp>
      <p:sp>
        <p:nvSpPr>
          <p:cNvPr id="8" name="Shape 6"/>
          <p:cNvSpPr/>
          <p:nvPr/>
        </p:nvSpPr>
        <p:spPr>
          <a:xfrm>
            <a:off x="3429000" y="3931920"/>
            <a:ext cx="2560320" cy="1508760"/>
          </a:xfrm>
          <a:prstGeom prst="roundRect">
            <a:avLst>
              <a:gd name="adj" fmla="val 9697"/>
            </a:avLst>
          </a:prstGeom>
          <a:solidFill>
            <a:srgbClr val="3B362E"/>
          </a:solidFill>
          <a:ln w="12700">
            <a:solidFill>
              <a:srgbClr val="3B362E"/>
            </a:solidFill>
            <a:prstDash val="solid"/>
          </a:ln>
        </p:spPr>
      </p:sp>
      <p:sp>
        <p:nvSpPr>
          <p:cNvPr id="9" name="Text 7"/>
          <p:cNvSpPr txBox="1"/>
          <p:nvPr/>
        </p:nvSpPr>
        <p:spPr>
          <a:xfrm>
            <a:off x="3657600" y="4114800"/>
            <a:ext cx="2103120" cy="548640"/>
          </a:xfrm>
          <a:prstGeom prst="rect">
            <a:avLst/>
          </a:prstGeom>
          <a:noFill/>
          <a:ln/>
        </p:spPr>
        <p:txBody>
          <a:bodyPr wrap="square" lIns="0" tIns="0" rIns="0" bIns="0" rtlCol="0" anchor="ctr"/>
          <a:lstStyle/>
          <a:p>
            <a:pPr indent="0" marL="0">
              <a:buNone/>
            </a:pPr>
            <a:r>
              <a:rPr lang="en-US" sz="3000" b="1" dirty="0">
                <a:solidFill>
                  <a:srgbClr val="A19786"/>
                </a:solidFill>
                <a:latin typeface="Baloo 2" pitchFamily="34" charset="0"/>
                <a:ea typeface="Baloo 2" pitchFamily="34" charset="-122"/>
                <a:cs typeface="Baloo 2" pitchFamily="34" charset="-120"/>
              </a:rPr>
              <a:t>4</a:t>
            </a:r>
            <a:endParaRPr lang="en-US" sz="3000" dirty="0"/>
          </a:p>
        </p:txBody>
      </p:sp>
      <p:sp>
        <p:nvSpPr>
          <p:cNvPr id="10" name="Text 8"/>
          <p:cNvSpPr txBox="1"/>
          <p:nvPr/>
        </p:nvSpPr>
        <p:spPr>
          <a:xfrm>
            <a:off x="3657600" y="4718304"/>
            <a:ext cx="2148840" cy="640080"/>
          </a:xfrm>
          <a:prstGeom prst="rect">
            <a:avLst/>
          </a:prstGeom>
          <a:noFill/>
          <a:ln/>
        </p:spPr>
        <p:txBody>
          <a:bodyPr wrap="square" lIns="0" tIns="0" rIns="0" bIns="0" rtlCol="0" anchor="ctr"/>
          <a:lstStyle/>
          <a:p>
            <a:pPr indent="0" marL="0">
              <a:lnSpc>
                <a:spcPts val="1500"/>
              </a:lnSpc>
              <a:buNone/>
            </a:pPr>
            <a:r>
              <a:rPr lang="en-US" sz="1150" dirty="0">
                <a:solidFill>
                  <a:srgbClr val="A19786"/>
                </a:solidFill>
                <a:latin typeface="Nunito" pitchFamily="34" charset="0"/>
                <a:ea typeface="Nunito" pitchFamily="34" charset="-122"/>
                <a:cs typeface="Nunito" pitchFamily="34" charset="-120"/>
              </a:rPr>
              <a:t>mô hình, một interface</a:t>
            </a:r>
            <a:endParaRPr lang="en-US" sz="1150" dirty="0"/>
          </a:p>
        </p:txBody>
      </p:sp>
      <p:sp>
        <p:nvSpPr>
          <p:cNvPr id="11" name="Shape 9"/>
          <p:cNvSpPr/>
          <p:nvPr/>
        </p:nvSpPr>
        <p:spPr>
          <a:xfrm>
            <a:off x="6172200" y="3931920"/>
            <a:ext cx="2560320" cy="1508760"/>
          </a:xfrm>
          <a:prstGeom prst="roundRect">
            <a:avLst>
              <a:gd name="adj" fmla="val 9697"/>
            </a:avLst>
          </a:prstGeom>
          <a:solidFill>
            <a:srgbClr val="3B362E"/>
          </a:solidFill>
          <a:ln w="12700">
            <a:solidFill>
              <a:srgbClr val="3B362E"/>
            </a:solidFill>
            <a:prstDash val="solid"/>
          </a:ln>
        </p:spPr>
      </p:sp>
      <p:sp>
        <p:nvSpPr>
          <p:cNvPr id="12" name="Text 10"/>
          <p:cNvSpPr txBox="1"/>
          <p:nvPr/>
        </p:nvSpPr>
        <p:spPr>
          <a:xfrm>
            <a:off x="6400800" y="4114800"/>
            <a:ext cx="2103120" cy="548640"/>
          </a:xfrm>
          <a:prstGeom prst="rect">
            <a:avLst/>
          </a:prstGeom>
          <a:noFill/>
          <a:ln/>
        </p:spPr>
        <p:txBody>
          <a:bodyPr wrap="square" lIns="0" tIns="0" rIns="0" bIns="0" rtlCol="0" anchor="ctr"/>
          <a:lstStyle/>
          <a:p>
            <a:pPr indent="0" marL="0">
              <a:buNone/>
            </a:pPr>
            <a:r>
              <a:rPr lang="en-US" sz="3000" b="1" dirty="0">
                <a:solidFill>
                  <a:srgbClr val="A19786"/>
                </a:solidFill>
                <a:latin typeface="Baloo 2" pitchFamily="34" charset="0"/>
                <a:ea typeface="Baloo 2" pitchFamily="34" charset="-122"/>
                <a:cs typeface="Baloo 2" pitchFamily="34" charset="-120"/>
              </a:rPr>
              <a:t>423</a:t>
            </a:r>
            <a:endParaRPr lang="en-US" sz="3000" dirty="0"/>
          </a:p>
        </p:txBody>
      </p:sp>
      <p:sp>
        <p:nvSpPr>
          <p:cNvPr id="13" name="Text 11"/>
          <p:cNvSpPr txBox="1"/>
          <p:nvPr/>
        </p:nvSpPr>
        <p:spPr>
          <a:xfrm>
            <a:off x="6400800" y="4718304"/>
            <a:ext cx="2148840" cy="640080"/>
          </a:xfrm>
          <a:prstGeom prst="rect">
            <a:avLst/>
          </a:prstGeom>
          <a:noFill/>
          <a:ln/>
        </p:spPr>
        <p:txBody>
          <a:bodyPr wrap="square" lIns="0" tIns="0" rIns="0" bIns="0" rtlCol="0" anchor="ctr"/>
          <a:lstStyle/>
          <a:p>
            <a:pPr indent="0" marL="0">
              <a:lnSpc>
                <a:spcPts val="1500"/>
              </a:lnSpc>
              <a:buNone/>
            </a:pPr>
            <a:r>
              <a:rPr lang="en-US" sz="1150" dirty="0">
                <a:solidFill>
                  <a:srgbClr val="A19786"/>
                </a:solidFill>
                <a:latin typeface="Nunito" pitchFamily="34" charset="0"/>
                <a:ea typeface="Nunito" pitchFamily="34" charset="-122"/>
                <a:cs typeface="Nunito" pitchFamily="34" charset="-120"/>
              </a:rPr>
              <a:t>test trong ~1 giây</a:t>
            </a:r>
            <a:endParaRPr lang="en-US" sz="1150" dirty="0"/>
          </a:p>
        </p:txBody>
      </p:sp>
      <p:sp>
        <p:nvSpPr>
          <p:cNvPr id="14" name="Shape 12"/>
          <p:cNvSpPr/>
          <p:nvPr/>
        </p:nvSpPr>
        <p:spPr>
          <a:xfrm>
            <a:off x="8915400" y="3931920"/>
            <a:ext cx="2560320" cy="1508760"/>
          </a:xfrm>
          <a:prstGeom prst="roundRect">
            <a:avLst>
              <a:gd name="adj" fmla="val 9697"/>
            </a:avLst>
          </a:prstGeom>
          <a:solidFill>
            <a:srgbClr val="3B362E"/>
          </a:solidFill>
          <a:ln w="12700">
            <a:solidFill>
              <a:srgbClr val="3B362E"/>
            </a:solidFill>
            <a:prstDash val="solid"/>
          </a:ln>
        </p:spPr>
      </p:sp>
      <p:sp>
        <p:nvSpPr>
          <p:cNvPr id="15" name="Text 13"/>
          <p:cNvSpPr txBox="1"/>
          <p:nvPr/>
        </p:nvSpPr>
        <p:spPr>
          <a:xfrm>
            <a:off x="9144000" y="4114800"/>
            <a:ext cx="2103120" cy="548640"/>
          </a:xfrm>
          <a:prstGeom prst="rect">
            <a:avLst/>
          </a:prstGeom>
          <a:noFill/>
          <a:ln/>
        </p:spPr>
        <p:txBody>
          <a:bodyPr wrap="square" lIns="0" tIns="0" rIns="0" bIns="0" rtlCol="0" anchor="ctr"/>
          <a:lstStyle/>
          <a:p>
            <a:pPr indent="0" marL="0">
              <a:buNone/>
            </a:pPr>
            <a:r>
              <a:rPr lang="en-US" sz="3000" b="1" dirty="0">
                <a:solidFill>
                  <a:srgbClr val="C67139"/>
                </a:solidFill>
                <a:latin typeface="Baloo 2" pitchFamily="34" charset="0"/>
                <a:ea typeface="Baloo 2" pitchFamily="34" charset="-122"/>
                <a:cs typeface="Baloo 2" pitchFamily="34" charset="-120"/>
              </a:rPr>
              <a:t>0</a:t>
            </a:r>
            <a:endParaRPr lang="en-US" sz="3000" dirty="0"/>
          </a:p>
        </p:txBody>
      </p:sp>
      <p:sp>
        <p:nvSpPr>
          <p:cNvPr id="16" name="Text 14"/>
          <p:cNvSpPr txBox="1"/>
          <p:nvPr/>
        </p:nvSpPr>
        <p:spPr>
          <a:xfrm>
            <a:off x="9144000" y="4718304"/>
            <a:ext cx="2148840" cy="640080"/>
          </a:xfrm>
          <a:prstGeom prst="rect">
            <a:avLst/>
          </a:prstGeom>
          <a:noFill/>
          <a:ln/>
        </p:spPr>
        <p:txBody>
          <a:bodyPr wrap="square" lIns="0" tIns="0" rIns="0" bIns="0" rtlCol="0" anchor="ctr"/>
          <a:lstStyle/>
          <a:p>
            <a:pPr indent="0" marL="0">
              <a:lnSpc>
                <a:spcPts val="1500"/>
              </a:lnSpc>
              <a:buNone/>
            </a:pPr>
            <a:r>
              <a:rPr lang="en-US" sz="1150" dirty="0">
                <a:solidFill>
                  <a:srgbClr val="A19786"/>
                </a:solidFill>
                <a:latin typeface="Nunito" pitchFamily="34" charset="0"/>
                <a:ea typeface="Nunito" pitchFamily="34" charset="-122"/>
                <a:cs typeface="Nunito" pitchFamily="34" charset="-120"/>
              </a:rPr>
              <a:t>số đo được gõ tay — deck đọc results/</a:t>
            </a:r>
            <a:endParaRPr lang="en-US" sz="1150" dirty="0"/>
          </a:p>
        </p:txBody>
      </p:sp>
      <p:sp>
        <p:nvSpPr>
          <p:cNvPr id="17" name="Text 15"/>
          <p:cNvSpPr txBox="1"/>
          <p:nvPr/>
        </p:nvSpPr>
        <p:spPr>
          <a:xfrm>
            <a:off x="685800" y="5715000"/>
            <a:ext cx="5486400" cy="365760"/>
          </a:xfrm>
          <a:prstGeom prst="rect">
            <a:avLst/>
          </a:prstGeom>
          <a:noFill/>
          <a:ln/>
        </p:spPr>
        <p:txBody>
          <a:bodyPr wrap="square" lIns="0" tIns="0" rIns="0" bIns="0" rtlCol="0" anchor="ctr"/>
          <a:lstStyle/>
          <a:p>
            <a:pPr indent="0" marL="0">
              <a:buNone/>
            </a:pPr>
            <a:r>
              <a:rPr lang="en-US" sz="1700" b="1" dirty="0">
                <a:solidFill>
                  <a:srgbClr val="F5EAD8"/>
                </a:solidFill>
                <a:latin typeface="Baloo 2" pitchFamily="34" charset="0"/>
                <a:ea typeface="Baloo 2" pitchFamily="34" charset="-122"/>
                <a:cs typeface="Baloo 2" pitchFamily="34" charset="-120"/>
              </a:rPr>
              <a:t>Cảm ơn thầy và các bạn đã lắng nghe.</a:t>
            </a:r>
            <a:endParaRPr lang="en-US" sz="1700" dirty="0"/>
          </a:p>
        </p:txBody>
      </p:sp>
      <p:sp>
        <p:nvSpPr>
          <p:cNvPr id="18" name="Text 16"/>
          <p:cNvSpPr txBox="1"/>
          <p:nvPr/>
        </p:nvSpPr>
        <p:spPr>
          <a:xfrm>
            <a:off x="6309360" y="5760720"/>
            <a:ext cx="5212080" cy="292608"/>
          </a:xfrm>
          <a:prstGeom prst="rect">
            <a:avLst/>
          </a:prstGeom>
          <a:noFill/>
          <a:ln/>
        </p:spPr>
        <p:txBody>
          <a:bodyPr wrap="square" lIns="0" tIns="0" rIns="0" bIns="0" rtlCol="0" anchor="ctr"/>
          <a:lstStyle/>
          <a:p>
            <a:pPr algn="r" indent="0" marL="0">
              <a:buNone/>
            </a:pPr>
            <a:r>
              <a:rPr lang="en-US" sz="1050" dirty="0">
                <a:solidFill>
                  <a:srgbClr val="A19786"/>
                </a:solidFill>
                <a:latin typeface="Courier New" pitchFamily="34" charset="0"/>
                <a:ea typeface="Courier New" pitchFamily="34" charset="-122"/>
                <a:cs typeface="Courier New" pitchFamily="34" charset="-120"/>
              </a:rPr>
              <a:t>docs/ARCHITECTURE.md  ·  docs/SYSTEM_DESIGN.md</a:t>
            </a:r>
            <a:endParaRPr lang="en-US" sz="1050" dirty="0"/>
          </a:p>
        </p:txBody>
      </p:sp>
      <p:sp>
        <p:nvSpPr>
          <p:cNvPr id="19" name="Text 17"/>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A19786"/>
                </a:solidFill>
                <a:latin typeface="Nunito" pitchFamily="34" charset="0"/>
                <a:ea typeface="Nunito" pitchFamily="34" charset="-122"/>
                <a:cs typeface="Nunito" pitchFamily="34" charset="-120"/>
              </a:rPr>
              <a:t>CS116 · Đề tài T11 · Nhóm 7</a:t>
            </a:r>
            <a:endParaRPr lang="en-US" sz="1000" dirty="0"/>
          </a:p>
        </p:txBody>
      </p:sp>
      <p:sp>
        <p:nvSpPr>
          <p:cNvPr id="20" name="Text 18"/>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A19786"/>
                </a:solidFill>
                <a:latin typeface="Nunito" pitchFamily="34" charset="0"/>
                <a:ea typeface="Nunito" pitchFamily="34" charset="-122"/>
                <a:cs typeface="Nunito"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EAD8"/>
        </a:solidFill>
      </p:bgPr>
    </p:bg>
    <p:spTree>
      <p:nvGrpSpPr>
        <p:cNvPr id="1" name=""/>
        <p:cNvGrpSpPr/>
        <p:nvPr/>
      </p:nvGrpSpPr>
      <p:grpSpPr>
        <a:xfrm>
          <a:off x="0" y="0"/>
          <a:ext cx="0" cy="0"/>
          <a:chOff x="0" y="0"/>
          <a:chExt cx="0" cy="0"/>
        </a:xfrm>
      </p:grpSpPr>
      <p:sp>
        <p:nvSpPr>
          <p:cNvPr id="2" name="Text 0"/>
          <p:cNvSpPr txBox="1"/>
          <p:nvPr/>
        </p:nvSpPr>
        <p:spPr>
          <a:xfrm>
            <a:off x="685800" y="420624"/>
            <a:ext cx="10820095" cy="256032"/>
          </a:xfrm>
          <a:prstGeom prst="rect">
            <a:avLst/>
          </a:prstGeom>
          <a:noFill/>
          <a:ln/>
        </p:spPr>
        <p:txBody>
          <a:bodyPr wrap="square" lIns="0" tIns="0" rIns="0" bIns="0" rtlCol="0" anchor="ctr"/>
          <a:lstStyle/>
          <a:p>
            <a:pPr indent="0" marL="0">
              <a:buNone/>
            </a:pPr>
            <a:r>
              <a:rPr lang="en-US" sz="1100" b="1" spc="220" kern="0" dirty="0">
                <a:solidFill>
                  <a:srgbClr val="C67139"/>
                </a:solidFill>
                <a:latin typeface="Nunito" pitchFamily="34" charset="0"/>
                <a:ea typeface="Nunito" pitchFamily="34" charset="-122"/>
                <a:cs typeface="Nunito" pitchFamily="34" charset="-120"/>
              </a:rPr>
              <a:t>PHỤ LỤC · THỐNG KÊ TRÊN TOÀN BỘ VALIDATION</a:t>
            </a:r>
            <a:endParaRPr lang="en-US" sz="1100" dirty="0"/>
          </a:p>
        </p:txBody>
      </p:sp>
      <p:sp>
        <p:nvSpPr>
          <p:cNvPr id="3" name="Text 1"/>
          <p:cNvSpPr txBox="1"/>
          <p:nvPr/>
        </p:nvSpPr>
        <p:spPr>
          <a:xfrm>
            <a:off x="685800" y="694944"/>
            <a:ext cx="10820095" cy="713232"/>
          </a:xfrm>
          <a:prstGeom prst="rect">
            <a:avLst/>
          </a:prstGeom>
          <a:noFill/>
          <a:ln/>
        </p:spPr>
        <p:txBody>
          <a:bodyPr wrap="square" lIns="0" tIns="0" rIns="0" bIns="0" rtlCol="0" anchor="t"/>
          <a:lstStyle/>
          <a:p>
            <a:pPr indent="0" marL="0">
              <a:lnSpc>
                <a:spcPts val="3808"/>
              </a:lnSpc>
              <a:buNone/>
            </a:pPr>
            <a:r>
              <a:rPr lang="en-US" sz="3400" b="1" dirty="0">
                <a:solidFill>
                  <a:srgbClr val="201E1D"/>
                </a:solidFill>
                <a:latin typeface="Baloo 2" pitchFamily="34" charset="0"/>
                <a:ea typeface="Baloo 2" pitchFamily="34" charset="-122"/>
                <a:cs typeface="Baloo 2" pitchFamily="34" charset="-120"/>
              </a:rPr>
              <a:t>Khoảng tin cậy Wilson &amp; kiểm định McNemar (n = 3814)</a:t>
            </a:r>
            <a:endParaRPr lang="en-US" sz="3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5760720" cy="914400"/>
        </p:xfrm>
        <a:graphic>
          <a:graphicData uri="http://schemas.openxmlformats.org/drawingml/2006/table">
            <a:tbl>
              <a:tblPr/>
              <a:tblGrid>
                <a:gridCol w="1828800"/>
                <a:gridCol w="1097280"/>
                <a:gridCol w="1920240"/>
                <a:gridCol w="914400"/>
              </a:tblGrid>
              <a:tr h="329184">
                <a:tc>
                  <a:txBody>
                    <a:bodyPr/>
                    <a:lstStyle/>
                    <a:p>
                      <a:pPr algn="l" indent="0" marL="0">
                        <a:buNone/>
                      </a:pPr>
                      <a:r>
                        <a:rPr lang="en-US" sz="1000" b="1" spc="120" kern="0" dirty="0">
                          <a:solidFill>
                            <a:srgbClr val="645C50"/>
                          </a:solidFill>
                          <a:latin typeface="Nunito" pitchFamily="34" charset="0"/>
                          <a:ea typeface="Nunito" pitchFamily="34" charset="-122"/>
                          <a:cs typeface="Nunito" pitchFamily="34" charset="-120"/>
                        </a:rPr>
                        <a:t>MODEL</a:t>
                      </a:r>
                      <a:endParaRPr lang="en-US" sz="100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1000" b="1" spc="120" kern="0" dirty="0">
                          <a:solidFill>
                            <a:srgbClr val="645C50"/>
                          </a:solidFill>
                          <a:latin typeface="Nunito" pitchFamily="34" charset="0"/>
                          <a:ea typeface="Nunito" pitchFamily="34" charset="-122"/>
                          <a:cs typeface="Nunito" pitchFamily="34" charset="-120"/>
                        </a:rPr>
                        <a:t>EM</a:t>
                      </a:r>
                      <a:endParaRPr lang="en-US" sz="100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1000" b="1" spc="120" kern="0" dirty="0">
                          <a:solidFill>
                            <a:srgbClr val="645C50"/>
                          </a:solidFill>
                          <a:latin typeface="Nunito" pitchFamily="34" charset="0"/>
                          <a:ea typeface="Nunito" pitchFamily="34" charset="-122"/>
                          <a:cs typeface="Nunito" pitchFamily="34" charset="-120"/>
                        </a:rPr>
                        <a:t>WILSON 95% CI</a:t>
                      </a:r>
                      <a:endParaRPr lang="en-US" sz="100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c>
                  <a:txBody>
                    <a:bodyPr/>
                    <a:lstStyle/>
                    <a:p>
                      <a:pPr algn="r" indent="0" marL="0">
                        <a:buNone/>
                      </a:pPr>
                      <a:r>
                        <a:rPr lang="en-US" sz="1000" b="1" spc="120" kern="0" dirty="0">
                          <a:solidFill>
                            <a:srgbClr val="645C50"/>
                          </a:solidFill>
                          <a:latin typeface="Nunito" pitchFamily="34" charset="0"/>
                          <a:ea typeface="Nunito" pitchFamily="34" charset="-122"/>
                          <a:cs typeface="Nunito" pitchFamily="34" charset="-120"/>
                        </a:rPr>
                        <a:t>F1</a:t>
                      </a:r>
                      <a:endParaRPr lang="en-US" sz="1000" dirty="0">
                        <a:latin typeface="Nunito" charset="0"/>
                        <a:ea typeface="Nunito" charset="0"/>
                        <a:cs typeface="Nunito" charset="0"/>
                      </a:endParaRPr>
                    </a:p>
                  </a:txBody>
                  <a:tcPr marL="0" marR="76200" marT="38100" marB="38100" anchor="b">
                    <a:lnL w="0" cap="flat" cmpd="sng" algn="ctr">
                      <a:noFill/>
                    </a:lnL>
                    <a:lnR w="0" cap="flat" cmpd="sng" algn="ctr">
                      <a:noFill/>
                    </a:lnR>
                    <a:lnT w="0" cap="flat" cmpd="sng" algn="ctr">
                      <a:noFill/>
                    </a:lnT>
                    <a:lnB w="12700" cap="flat" cmpd="sng" algn="ctr">
                      <a:solidFill>
                        <a:srgbClr val="C67139"/>
                      </a:solidFill>
                      <a:prstDash val="solid"/>
                      <a:round/>
                      <a:headEnd type="none" w="med" len="med"/>
                      <a:tailEnd type="none" w="med" len="med"/>
                    </a:lnB>
                  </a:tcPr>
                </a:tc>
              </a:tr>
              <a:tr h="329184">
                <a:tc>
                  <a:txBody>
                    <a:bodyPr/>
                    <a:lstStyle/>
                    <a:p>
                      <a:pPr algn="l" indent="0" marL="0">
                        <a:buNone/>
                      </a:pPr>
                      <a:r>
                        <a:rPr lang="en-US" sz="1250" dirty="0">
                          <a:solidFill>
                            <a:srgbClr val="201E1D"/>
                          </a:solidFill>
                          <a:latin typeface="Nunito" pitchFamily="34" charset="0"/>
                          <a:ea typeface="Nunito" pitchFamily="34" charset="-122"/>
                          <a:cs typeface="Nunito" pitchFamily="34" charset="-120"/>
                        </a:rPr>
                        <a:t>baseline</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1,05</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0,77–1,42</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22,11</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329184">
                <a:tc>
                  <a:txBody>
                    <a:bodyPr/>
                    <a:lstStyle/>
                    <a:p>
                      <a:pPr algn="l" indent="0" marL="0">
                        <a:buNone/>
                      </a:pPr>
                      <a:r>
                        <a:rPr lang="en-US" sz="1250" dirty="0">
                          <a:solidFill>
                            <a:srgbClr val="201E1D"/>
                          </a:solidFill>
                          <a:latin typeface="Nunito" pitchFamily="34" charset="0"/>
                          <a:ea typeface="Nunito" pitchFamily="34" charset="-122"/>
                          <a:cs typeface="Nunito" pitchFamily="34" charset="-120"/>
                        </a:rPr>
                        <a:t>xlmr</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39,22</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37,69–40,78</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54,24</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329184">
                <a:tc>
                  <a:txBody>
                    <a:bodyPr/>
                    <a:lstStyle/>
                    <a:p>
                      <a:pPr algn="l" indent="0" marL="0">
                        <a:buNone/>
                      </a:pPr>
                      <a:r>
                        <a:rPr lang="en-US" sz="1250" dirty="0">
                          <a:solidFill>
                            <a:srgbClr val="201E1D"/>
                          </a:solidFill>
                          <a:latin typeface="Nunito" pitchFamily="34" charset="0"/>
                          <a:ea typeface="Nunito" pitchFamily="34" charset="-122"/>
                          <a:cs typeface="Nunito" pitchFamily="34" charset="-120"/>
                        </a:rPr>
                        <a:t>visobert</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31,99</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30,53–33,49</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34,66</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r h="329184">
                <a:tc>
                  <a:txBody>
                    <a:bodyPr/>
                    <a:lstStyle/>
                    <a:p>
                      <a:pPr algn="l" indent="0" marL="0">
                        <a:buNone/>
                      </a:pPr>
                      <a:r>
                        <a:rPr lang="en-US" sz="1250" dirty="0">
                          <a:solidFill>
                            <a:srgbClr val="201E1D"/>
                          </a:solidFill>
                          <a:latin typeface="Nunito" pitchFamily="34" charset="0"/>
                          <a:ea typeface="Nunito" pitchFamily="34" charset="-122"/>
                          <a:cs typeface="Nunito" pitchFamily="34" charset="-120"/>
                        </a:rPr>
                        <a:t>mbert</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48,95</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47,37–50,54</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c>
                  <a:txBody>
                    <a:bodyPr/>
                    <a:lstStyle/>
                    <a:p>
                      <a:pPr algn="r" indent="0" marL="0">
                        <a:buNone/>
                      </a:pPr>
                      <a:r>
                        <a:rPr lang="en-US" sz="1250" dirty="0">
                          <a:solidFill>
                            <a:srgbClr val="201E1D"/>
                          </a:solidFill>
                          <a:latin typeface="Nunito" pitchFamily="34" charset="0"/>
                          <a:ea typeface="Nunito" pitchFamily="34" charset="-122"/>
                          <a:cs typeface="Nunito" pitchFamily="34" charset="-120"/>
                        </a:rPr>
                        <a:t>57,98</a:t>
                      </a:r>
                      <a:endParaRPr lang="en-US" sz="1250" dirty="0">
                        <a:latin typeface="Nunito" charset="0"/>
                        <a:ea typeface="Nunito" charset="0"/>
                        <a:cs typeface="Nunito" charset="0"/>
                      </a:endParaRPr>
                    </a:p>
                  </a:txBody>
                  <a:tcPr marL="0" marR="76200" marT="38100" marB="38100" anchor="ctr">
                    <a:lnL w="0" cap="flat" cmpd="sng" algn="ctr">
                      <a:noFill/>
                    </a:lnL>
                    <a:lnR w="0" cap="flat" cmpd="sng" algn="ctr">
                      <a:noFill/>
                    </a:lnR>
                    <a:lnT w="0" cap="flat" cmpd="sng" algn="ctr">
                      <a:noFill/>
                    </a:lnT>
                    <a:lnB w="6350" cap="flat" cmpd="sng" algn="ctr">
                      <a:solidFill>
                        <a:srgbClr val="D3C9BA"/>
                      </a:solidFill>
                      <a:prstDash val="solid"/>
                      <a:round/>
                      <a:headEnd type="none" w="med" len="med"/>
                      <a:tailEnd type="none" w="med" len="med"/>
                    </a:lnB>
                  </a:tcPr>
                </a:tc>
              </a:tr>
            </a:tbl>
          </a:graphicData>
        </a:graphic>
      </p:graphicFrame>
      <p:sp>
        <p:nvSpPr>
          <p:cNvPr id="5" name="Text 2"/>
          <p:cNvSpPr txBox="1"/>
          <p:nvPr/>
        </p:nvSpPr>
        <p:spPr>
          <a:xfrm>
            <a:off x="6858000" y="1737360"/>
            <a:ext cx="4572000" cy="1280160"/>
          </a:xfrm>
          <a:prstGeom prst="rect">
            <a:avLst/>
          </a:prstGeom>
          <a:noFill/>
          <a:ln/>
        </p:spPr>
        <p:txBody>
          <a:bodyPr wrap="square" lIns="0" tIns="0" rIns="0" bIns="0" rtlCol="0" anchor="t"/>
          <a:lstStyle/>
          <a:p>
            <a:pPr algn="l" indent="0" marL="0">
              <a:lnSpc>
                <a:spcPts val="1740"/>
              </a:lnSpc>
              <a:buNone/>
            </a:pPr>
            <a:r>
              <a:rPr lang="en-US" sz="1200" dirty="0">
                <a:solidFill>
                  <a:srgbClr val="645C50"/>
                </a:solidFill>
                <a:latin typeface="Nunito" pitchFamily="34" charset="0"/>
                <a:ea typeface="Nunito" pitchFamily="34" charset="-122"/>
                <a:cs typeface="Nunito" pitchFamily="34" charset="-120"/>
              </a:rPr>
              <a:t>mBERT vs XLM-R: ΔEM = 9,73 (bootstrap cụm đoạn văn 95% CI [8,09, 11,46]); McNemar p = 0.0000</a:t>
            </a:r>
            <a:endParaRPr lang="en-US" sz="1200" dirty="0"/>
          </a:p>
        </p:txBody>
      </p:sp>
      <p:sp>
        <p:nvSpPr>
          <p:cNvPr id="6" name="Text 3"/>
          <p:cNvSpPr txBox="1"/>
          <p:nvPr/>
        </p:nvSpPr>
        <p:spPr>
          <a:xfrm>
            <a:off x="685800" y="6327648"/>
            <a:ext cx="10271455" cy="274320"/>
          </a:xfrm>
          <a:prstGeom prst="rect">
            <a:avLst/>
          </a:prstGeom>
          <a:noFill/>
          <a:ln/>
        </p:spPr>
        <p:txBody>
          <a:bodyPr wrap="square" lIns="0" tIns="0" rIns="0" bIns="0" rtlCol="0" anchor="ctr"/>
          <a:lstStyle/>
          <a:p>
            <a:pPr indent="0" marL="0">
              <a:buNone/>
            </a:pPr>
            <a:r>
              <a:rPr lang="en-US" sz="1000" dirty="0">
                <a:solidFill>
                  <a:srgbClr val="645C50"/>
                </a:solidFill>
                <a:latin typeface="Nunito" pitchFamily="34" charset="0"/>
                <a:ea typeface="Nunito" pitchFamily="34" charset="-122"/>
                <a:cs typeface="Nunito" pitchFamily="34" charset="-120"/>
              </a:rPr>
              <a:t>Phụ lục · P2 · Wilson &amp; McNemar</a:t>
            </a:r>
            <a:endParaRPr lang="en-US" sz="1000" dirty="0"/>
          </a:p>
        </p:txBody>
      </p:sp>
      <p:sp>
        <p:nvSpPr>
          <p:cNvPr id="7" name="Text 4"/>
          <p:cNvSpPr txBox="1"/>
          <p:nvPr/>
        </p:nvSpPr>
        <p:spPr>
          <a:xfrm>
            <a:off x="10957255" y="6327648"/>
            <a:ext cx="548640" cy="274320"/>
          </a:xfrm>
          <a:prstGeom prst="rect">
            <a:avLst/>
          </a:prstGeom>
          <a:noFill/>
          <a:ln/>
        </p:spPr>
        <p:txBody>
          <a:bodyPr wrap="square" lIns="0" tIns="0" rIns="0" bIns="0" rtlCol="0" anchor="ctr"/>
          <a:lstStyle/>
          <a:p>
            <a:pPr algn="r" indent="0" marL="0">
              <a:buNone/>
            </a:pPr>
            <a:r>
              <a:rPr lang="en-US" sz="1000" dirty="0">
                <a:solidFill>
                  <a:srgbClr val="645C50"/>
                </a:solidFill>
                <a:latin typeface="Nunito" pitchFamily="34" charset="0"/>
                <a:ea typeface="Nunito" pitchFamily="34" charset="-122"/>
                <a:cs typeface="Nunito" pitchFamily="34" charset="-120"/>
              </a:rPr>
              <a:t>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thống đọc hiểu và trả lời câu hỏi tiếng Việt</dc:title>
  <dc:subject>PptxGenJS Presentation</dc:subject>
  <dc:creator>Nhóm 7 — CS116</dc:creator>
  <cp:lastModifiedBy>Nhóm 7 — CS116</cp:lastModifiedBy>
  <cp:revision>1</cp:revision>
  <dcterms:created xsi:type="dcterms:W3CDTF">2026-09-27T16:04:22Z</dcterms:created>
  <dcterms:modified xsi:type="dcterms:W3CDTF">2026-09-27T16:04:22Z</dcterms:modified>
</cp:coreProperties>
</file>